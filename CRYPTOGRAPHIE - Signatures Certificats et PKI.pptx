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6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5"/>
  </p:notesMasterIdLst>
  <p:sldIdLst>
    <p:sldId id="256" r:id="rId2"/>
    <p:sldId id="364" r:id="rId3"/>
    <p:sldId id="362" r:id="rId4"/>
    <p:sldId id="372" r:id="rId5"/>
    <p:sldId id="373" r:id="rId6"/>
    <p:sldId id="374" r:id="rId7"/>
    <p:sldId id="380" r:id="rId8"/>
    <p:sldId id="381" r:id="rId9"/>
    <p:sldId id="382" r:id="rId10"/>
    <p:sldId id="383" r:id="rId11"/>
    <p:sldId id="375" r:id="rId12"/>
    <p:sldId id="257" r:id="rId13"/>
    <p:sldId id="302" r:id="rId14"/>
    <p:sldId id="276" r:id="rId15"/>
    <p:sldId id="384" r:id="rId16"/>
    <p:sldId id="385" r:id="rId17"/>
    <p:sldId id="386" r:id="rId18"/>
    <p:sldId id="404" r:id="rId19"/>
    <p:sldId id="387" r:id="rId20"/>
    <p:sldId id="376" r:id="rId21"/>
    <p:sldId id="377" r:id="rId22"/>
    <p:sldId id="388" r:id="rId23"/>
    <p:sldId id="389" r:id="rId24"/>
    <p:sldId id="390" r:id="rId25"/>
    <p:sldId id="405" r:id="rId26"/>
    <p:sldId id="406" r:id="rId27"/>
    <p:sldId id="407" r:id="rId28"/>
    <p:sldId id="408" r:id="rId29"/>
    <p:sldId id="427" r:id="rId30"/>
    <p:sldId id="412" r:id="rId31"/>
    <p:sldId id="434" r:id="rId32"/>
    <p:sldId id="439" r:id="rId33"/>
    <p:sldId id="440" r:id="rId34"/>
    <p:sldId id="435" r:id="rId35"/>
    <p:sldId id="437" r:id="rId36"/>
    <p:sldId id="436" r:id="rId37"/>
    <p:sldId id="438" r:id="rId38"/>
    <p:sldId id="378" r:id="rId39"/>
    <p:sldId id="379" r:id="rId40"/>
    <p:sldId id="433" r:id="rId41"/>
    <p:sldId id="391" r:id="rId42"/>
    <p:sldId id="392" r:id="rId43"/>
    <p:sldId id="393" r:id="rId44"/>
    <p:sldId id="424" r:id="rId45"/>
    <p:sldId id="394" r:id="rId46"/>
    <p:sldId id="396" r:id="rId47"/>
    <p:sldId id="409" r:id="rId48"/>
    <p:sldId id="395" r:id="rId49"/>
    <p:sldId id="398" r:id="rId50"/>
    <p:sldId id="425" r:id="rId51"/>
    <p:sldId id="401" r:id="rId52"/>
    <p:sldId id="402" r:id="rId53"/>
    <p:sldId id="403" r:id="rId54"/>
    <p:sldId id="426" r:id="rId55"/>
    <p:sldId id="410" r:id="rId56"/>
    <p:sldId id="419" r:id="rId57"/>
    <p:sldId id="418" r:id="rId58"/>
    <p:sldId id="416" r:id="rId59"/>
    <p:sldId id="417" r:id="rId60"/>
    <p:sldId id="420" r:id="rId61"/>
    <p:sldId id="411" r:id="rId62"/>
    <p:sldId id="421" r:id="rId63"/>
    <p:sldId id="422" r:id="rId64"/>
    <p:sldId id="428" r:id="rId65"/>
    <p:sldId id="423" r:id="rId66"/>
    <p:sldId id="429" r:id="rId67"/>
    <p:sldId id="414" r:id="rId68"/>
    <p:sldId id="432" r:id="rId69"/>
    <p:sldId id="430" r:id="rId70"/>
    <p:sldId id="431" r:id="rId71"/>
    <p:sldId id="266" r:id="rId72"/>
    <p:sldId id="443" r:id="rId73"/>
    <p:sldId id="442" r:id="rId7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764CCEC-868E-4AD0-89DC-65B5EE13DA6F}">
          <p14:sldIdLst>
            <p14:sldId id="256"/>
            <p14:sldId id="364"/>
            <p14:sldId id="362"/>
            <p14:sldId id="372"/>
            <p14:sldId id="373"/>
            <p14:sldId id="374"/>
            <p14:sldId id="380"/>
            <p14:sldId id="381"/>
            <p14:sldId id="382"/>
            <p14:sldId id="383"/>
            <p14:sldId id="375"/>
          </p14:sldIdLst>
        </p14:section>
        <p14:section name="Sommaire" id="{372291CE-63BE-4995-A4A8-E44A7B9A5574}">
          <p14:sldIdLst>
            <p14:sldId id="257"/>
          </p14:sldIdLst>
        </p14:section>
        <p14:section name="Signature électronique" id="{5E77521B-4E1B-4223-BB0C-C68577398CF1}">
          <p14:sldIdLst>
            <p14:sldId id="302"/>
            <p14:sldId id="276"/>
            <p14:sldId id="384"/>
            <p14:sldId id="385"/>
            <p14:sldId id="386"/>
            <p14:sldId id="404"/>
            <p14:sldId id="387"/>
          </p14:sldIdLst>
        </p14:section>
        <p14:section name="Certificats" id="{79CCE37B-FCE4-44BE-8505-AFE5ECD830E0}">
          <p14:sldIdLst>
            <p14:sldId id="376"/>
            <p14:sldId id="377"/>
            <p14:sldId id="388"/>
            <p14:sldId id="389"/>
            <p14:sldId id="390"/>
            <p14:sldId id="405"/>
            <p14:sldId id="406"/>
            <p14:sldId id="407"/>
            <p14:sldId id="408"/>
            <p14:sldId id="427"/>
            <p14:sldId id="412"/>
            <p14:sldId id="434"/>
            <p14:sldId id="439"/>
            <p14:sldId id="440"/>
            <p14:sldId id="435"/>
            <p14:sldId id="437"/>
            <p14:sldId id="436"/>
            <p14:sldId id="438"/>
          </p14:sldIdLst>
        </p14:section>
        <p14:section name="PKI" id="{46DD8586-91FC-415A-816C-A8905F9D100C}">
          <p14:sldIdLst>
            <p14:sldId id="378"/>
            <p14:sldId id="379"/>
            <p14:sldId id="433"/>
            <p14:sldId id="391"/>
            <p14:sldId id="392"/>
            <p14:sldId id="393"/>
            <p14:sldId id="424"/>
            <p14:sldId id="394"/>
            <p14:sldId id="396"/>
            <p14:sldId id="409"/>
            <p14:sldId id="395"/>
            <p14:sldId id="398"/>
            <p14:sldId id="425"/>
            <p14:sldId id="401"/>
            <p14:sldId id="402"/>
            <p14:sldId id="403"/>
            <p14:sldId id="426"/>
            <p14:sldId id="410"/>
            <p14:sldId id="419"/>
            <p14:sldId id="418"/>
            <p14:sldId id="416"/>
            <p14:sldId id="417"/>
            <p14:sldId id="420"/>
            <p14:sldId id="411"/>
            <p14:sldId id="421"/>
            <p14:sldId id="422"/>
            <p14:sldId id="428"/>
            <p14:sldId id="423"/>
            <p14:sldId id="429"/>
            <p14:sldId id="414"/>
            <p14:sldId id="432"/>
            <p14:sldId id="430"/>
            <p14:sldId id="431"/>
          </p14:sldIdLst>
        </p14:section>
        <p14:section name="Fin" id="{B70FAAD4-B273-4FB6-A285-DA1DB8D92477}">
          <p14:sldIdLst>
            <p14:sldId id="266"/>
          </p14:sldIdLst>
        </p14:section>
        <p14:section name="Vidéos" id="{A0B0444F-84AA-4453-8EA9-4D0F16C9A42A}">
          <p14:sldIdLst>
            <p14:sldId id="443"/>
            <p14:sldId id="44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98989"/>
    <a:srgbClr val="42C5A5"/>
    <a:srgbClr val="09253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00" autoAdjust="0"/>
    <p:restoredTop sz="93127" autoAdjust="0"/>
  </p:normalViewPr>
  <p:slideViewPr>
    <p:cSldViewPr snapToGrid="0">
      <p:cViewPr varScale="1">
        <p:scale>
          <a:sx n="111" d="100"/>
          <a:sy n="111" d="100"/>
        </p:scale>
        <p:origin x="974" y="302"/>
      </p:cViewPr>
      <p:guideLst/>
    </p:cSldViewPr>
  </p:slideViewPr>
  <p:notesTextViewPr>
    <p:cViewPr>
      <p:scale>
        <a:sx n="3" d="2"/>
        <a:sy n="3" d="2"/>
      </p:scale>
      <p:origin x="0" y="0"/>
    </p:cViewPr>
  </p:notesTextViewPr>
  <p:sorterViewPr>
    <p:cViewPr>
      <p:scale>
        <a:sx n="100" d="100"/>
        <a:sy n="100" d="100"/>
      </p:scale>
      <p:origin x="0" y="-1936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is AFENDOU" userId="d209b369-21fb-47d6-bd3f-e34ed1e23ff1" providerId="ADAL" clId="{9311DAAA-7662-4145-9766-8A051073096A}"/>
    <pc:docChg chg="custSel modSld">
      <pc:chgData name="Yanis AFENDOU" userId="d209b369-21fb-47d6-bd3f-e34ed1e23ff1" providerId="ADAL" clId="{9311DAAA-7662-4145-9766-8A051073096A}" dt="2026-03-03T10:49:33.527" v="12" actId="20577"/>
      <pc:docMkLst>
        <pc:docMk/>
      </pc:docMkLst>
      <pc:sldChg chg="modSp mod">
        <pc:chgData name="Yanis AFENDOU" userId="d209b369-21fb-47d6-bd3f-e34ed1e23ff1" providerId="ADAL" clId="{9311DAAA-7662-4145-9766-8A051073096A}" dt="2026-03-03T10:12:46.125" v="0" actId="6549"/>
        <pc:sldMkLst>
          <pc:docMk/>
          <pc:sldMk cId="1353262932" sldId="412"/>
        </pc:sldMkLst>
        <pc:spChg chg="mod">
          <ac:chgData name="Yanis AFENDOU" userId="d209b369-21fb-47d6-bd3f-e34ed1e23ff1" providerId="ADAL" clId="{9311DAAA-7662-4145-9766-8A051073096A}" dt="2026-03-03T10:12:46.125" v="0" actId="6549"/>
          <ac:spMkLst>
            <pc:docMk/>
            <pc:sldMk cId="1353262932" sldId="412"/>
            <ac:spMk id="7" creationId="{0A57F272-A401-923A-B171-E7E1F7667E5B}"/>
          </ac:spMkLst>
        </pc:spChg>
      </pc:sldChg>
      <pc:sldChg chg="modSp mod">
        <pc:chgData name="Yanis AFENDOU" userId="d209b369-21fb-47d6-bd3f-e34ed1e23ff1" providerId="ADAL" clId="{9311DAAA-7662-4145-9766-8A051073096A}" dt="2026-03-03T10:49:33.527" v="12" actId="20577"/>
        <pc:sldMkLst>
          <pc:docMk/>
          <pc:sldMk cId="1462098511" sldId="421"/>
        </pc:sldMkLst>
        <pc:spChg chg="mod">
          <ac:chgData name="Yanis AFENDOU" userId="d209b369-21fb-47d6-bd3f-e34ed1e23ff1" providerId="ADAL" clId="{9311DAAA-7662-4145-9766-8A051073096A}" dt="2026-03-03T10:49:24.956" v="10" actId="20577"/>
          <ac:spMkLst>
            <pc:docMk/>
            <pc:sldMk cId="1462098511" sldId="421"/>
            <ac:spMk id="7" creationId="{0B83E875-2FFC-FCE8-089F-A13E3DB7169B}"/>
          </ac:spMkLst>
        </pc:spChg>
        <pc:graphicFrameChg chg="modGraphic">
          <ac:chgData name="Yanis AFENDOU" userId="d209b369-21fb-47d6-bd3f-e34ed1e23ff1" providerId="ADAL" clId="{9311DAAA-7662-4145-9766-8A051073096A}" dt="2026-03-03T10:49:33.527" v="12" actId="20577"/>
          <ac:graphicFrameMkLst>
            <pc:docMk/>
            <pc:sldMk cId="1462098511" sldId="421"/>
            <ac:graphicFrameMk id="2" creationId="{7FFE0E31-7E81-7DF1-BCB9-895F339D38BF}"/>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A280DC5-6CD8-4A29-BAF9-2C82847F749B}"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fr-FR"/>
        </a:p>
      </dgm:t>
    </dgm:pt>
    <dgm:pt modelId="{E0D85FDA-9736-45B7-8CFD-F792127A3F5F}">
      <dgm:prSet custT="1"/>
      <dgm:spPr>
        <a:solidFill>
          <a:srgbClr val="09253D"/>
        </a:solidFill>
      </dgm:spPr>
      <dgm:t>
        <a:bodyPr/>
        <a:lstStyle/>
        <a:p>
          <a:r>
            <a:rPr lang="fr-FR" sz="2000" dirty="0">
              <a:solidFill>
                <a:srgbClr val="42C5A5"/>
              </a:solidFill>
            </a:rPr>
            <a:t>1. Cryptographie asymétrique</a:t>
          </a:r>
        </a:p>
      </dgm:t>
    </dgm:pt>
    <dgm:pt modelId="{3DF71EE7-F229-4873-84F7-CF4ABA8A516F}" type="parTrans" cxnId="{C59CE0D0-3669-4019-8EBD-154D55DA1162}">
      <dgm:prSet/>
      <dgm:spPr/>
      <dgm:t>
        <a:bodyPr/>
        <a:lstStyle/>
        <a:p>
          <a:endParaRPr lang="fr-FR"/>
        </a:p>
      </dgm:t>
    </dgm:pt>
    <dgm:pt modelId="{707778B6-63D4-4128-AD2E-56E8033A5D50}" type="sibTrans" cxnId="{C59CE0D0-3669-4019-8EBD-154D55DA1162}">
      <dgm:prSet/>
      <dgm:spPr/>
      <dgm:t>
        <a:bodyPr/>
        <a:lstStyle/>
        <a:p>
          <a:endParaRPr lang="fr-FR"/>
        </a:p>
      </dgm:t>
    </dgm:pt>
    <dgm:pt modelId="{BEF52FF5-6479-45A3-B8C2-433DB2781649}">
      <dgm:prSet/>
      <dgm:spPr>
        <a:solidFill>
          <a:srgbClr val="09253D"/>
        </a:solidFill>
      </dgm:spPr>
      <dgm:t>
        <a:bodyPr/>
        <a:lstStyle/>
        <a:p>
          <a:r>
            <a:rPr lang="fr-FR" sz="1400" dirty="0"/>
            <a:t>Le signataire utilise sa clé privée pour signer une donnée</a:t>
          </a:r>
        </a:p>
      </dgm:t>
    </dgm:pt>
    <dgm:pt modelId="{983D8064-6B28-4CC3-8BBF-FB8CD2938AF9}" type="parTrans" cxnId="{2AAB2262-5FF5-4500-81B7-1F06CFAF23C7}">
      <dgm:prSet/>
      <dgm:spPr/>
      <dgm:t>
        <a:bodyPr/>
        <a:lstStyle/>
        <a:p>
          <a:endParaRPr lang="fr-FR"/>
        </a:p>
      </dgm:t>
    </dgm:pt>
    <dgm:pt modelId="{E41BB4AB-487E-491A-B5D4-6AEE4EE0C575}" type="sibTrans" cxnId="{2AAB2262-5FF5-4500-81B7-1F06CFAF23C7}">
      <dgm:prSet/>
      <dgm:spPr/>
      <dgm:t>
        <a:bodyPr/>
        <a:lstStyle/>
        <a:p>
          <a:endParaRPr lang="fr-FR"/>
        </a:p>
      </dgm:t>
    </dgm:pt>
    <dgm:pt modelId="{7E557D34-F773-442B-814D-C411A121A026}">
      <dgm:prSet/>
      <dgm:spPr>
        <a:solidFill>
          <a:srgbClr val="09253D"/>
        </a:solidFill>
      </dgm:spPr>
      <dgm:t>
        <a:bodyPr/>
        <a:lstStyle/>
        <a:p>
          <a:r>
            <a:rPr lang="fr-FR" sz="1400" dirty="0"/>
            <a:t>Toute personne peut vérifier la signature avec la clé publique correspondante</a:t>
          </a:r>
        </a:p>
      </dgm:t>
    </dgm:pt>
    <dgm:pt modelId="{4CC779CB-B3F4-4201-B428-ADB7CCA5C9D2}" type="parTrans" cxnId="{F0DD76A8-2966-4127-9887-9CCF87679834}">
      <dgm:prSet/>
      <dgm:spPr/>
      <dgm:t>
        <a:bodyPr/>
        <a:lstStyle/>
        <a:p>
          <a:endParaRPr lang="fr-FR"/>
        </a:p>
      </dgm:t>
    </dgm:pt>
    <dgm:pt modelId="{D4DFCAC0-DF2B-462F-84E5-4639F236BC52}" type="sibTrans" cxnId="{F0DD76A8-2966-4127-9887-9CCF87679834}">
      <dgm:prSet/>
      <dgm:spPr/>
      <dgm:t>
        <a:bodyPr/>
        <a:lstStyle/>
        <a:p>
          <a:endParaRPr lang="fr-FR"/>
        </a:p>
      </dgm:t>
    </dgm:pt>
    <dgm:pt modelId="{A0E4B00A-7D8A-43F3-B8CD-202C73193595}">
      <dgm:prSet custT="1"/>
      <dgm:spPr>
        <a:solidFill>
          <a:srgbClr val="09253D"/>
        </a:solidFill>
      </dgm:spPr>
      <dgm:t>
        <a:bodyPr/>
        <a:lstStyle/>
        <a:p>
          <a:r>
            <a:rPr lang="fr-FR" sz="2000" dirty="0">
              <a:solidFill>
                <a:srgbClr val="42C5A5"/>
              </a:solidFill>
            </a:rPr>
            <a:t>2. Hachage du message</a:t>
          </a:r>
        </a:p>
      </dgm:t>
    </dgm:pt>
    <dgm:pt modelId="{0DC00EBF-52E3-49A6-8B6B-CE1E102F64A3}" type="parTrans" cxnId="{07A8296E-13DF-43E1-9C85-ABD1550CF8CF}">
      <dgm:prSet/>
      <dgm:spPr/>
      <dgm:t>
        <a:bodyPr/>
        <a:lstStyle/>
        <a:p>
          <a:endParaRPr lang="fr-FR"/>
        </a:p>
      </dgm:t>
    </dgm:pt>
    <dgm:pt modelId="{F7C725EC-DA06-4232-B5A7-F9D50789F418}" type="sibTrans" cxnId="{07A8296E-13DF-43E1-9C85-ABD1550CF8CF}">
      <dgm:prSet/>
      <dgm:spPr/>
      <dgm:t>
        <a:bodyPr/>
        <a:lstStyle/>
        <a:p>
          <a:endParaRPr lang="fr-FR"/>
        </a:p>
      </dgm:t>
    </dgm:pt>
    <dgm:pt modelId="{B38B8884-0512-4071-BC6E-7F41CC3BE152}">
      <dgm:prSet/>
      <dgm:spPr>
        <a:solidFill>
          <a:srgbClr val="09253D"/>
        </a:solidFill>
      </dgm:spPr>
      <dgm:t>
        <a:bodyPr/>
        <a:lstStyle/>
        <a:p>
          <a:r>
            <a:rPr lang="fr-FR" sz="1400" dirty="0"/>
            <a:t>On ne signe pas la donnée brute, mais son empreinte (hachage)</a:t>
          </a:r>
        </a:p>
      </dgm:t>
    </dgm:pt>
    <dgm:pt modelId="{4942AA32-388C-4C96-9491-6AC4BC679EE1}" type="parTrans" cxnId="{E225A72F-A4FC-4D5A-A70C-5A6182E5663D}">
      <dgm:prSet/>
      <dgm:spPr/>
      <dgm:t>
        <a:bodyPr/>
        <a:lstStyle/>
        <a:p>
          <a:endParaRPr lang="fr-FR"/>
        </a:p>
      </dgm:t>
    </dgm:pt>
    <dgm:pt modelId="{A75C0CDC-60E6-4AEC-B01E-0A86B4282F78}" type="sibTrans" cxnId="{E225A72F-A4FC-4D5A-A70C-5A6182E5663D}">
      <dgm:prSet/>
      <dgm:spPr/>
      <dgm:t>
        <a:bodyPr/>
        <a:lstStyle/>
        <a:p>
          <a:endParaRPr lang="fr-FR"/>
        </a:p>
      </dgm:t>
    </dgm:pt>
    <dgm:pt modelId="{4F6DCFBD-FB34-489B-ABC4-9F2EBFD483A4}">
      <dgm:prSet/>
      <dgm:spPr>
        <a:solidFill>
          <a:srgbClr val="09253D"/>
        </a:solidFill>
      </dgm:spPr>
      <dgm:t>
        <a:bodyPr/>
        <a:lstStyle/>
        <a:p>
          <a:r>
            <a:rPr lang="fr-FR" sz="1400"/>
            <a:t>Cela garantit l’intégrité : toute modification du contenu rend la signature invalide</a:t>
          </a:r>
        </a:p>
      </dgm:t>
    </dgm:pt>
    <dgm:pt modelId="{A582BC64-6D4D-4EA4-8EE2-B892812EF253}" type="parTrans" cxnId="{B9E95FCC-13B7-4274-A0D5-D397B375E905}">
      <dgm:prSet/>
      <dgm:spPr/>
      <dgm:t>
        <a:bodyPr/>
        <a:lstStyle/>
        <a:p>
          <a:endParaRPr lang="fr-FR"/>
        </a:p>
      </dgm:t>
    </dgm:pt>
    <dgm:pt modelId="{AA3BD580-C3DC-49B2-BC66-CF620D135B93}" type="sibTrans" cxnId="{B9E95FCC-13B7-4274-A0D5-D397B375E905}">
      <dgm:prSet/>
      <dgm:spPr/>
      <dgm:t>
        <a:bodyPr/>
        <a:lstStyle/>
        <a:p>
          <a:endParaRPr lang="fr-FR"/>
        </a:p>
      </dgm:t>
    </dgm:pt>
    <dgm:pt modelId="{AD2DE3B4-1B97-49E5-AD22-B874E1AF8803}">
      <dgm:prSet custT="1"/>
      <dgm:spPr>
        <a:solidFill>
          <a:srgbClr val="09253D"/>
        </a:solidFill>
      </dgm:spPr>
      <dgm:t>
        <a:bodyPr/>
        <a:lstStyle/>
        <a:p>
          <a:r>
            <a:rPr lang="fr-FR" sz="2000" dirty="0">
              <a:solidFill>
                <a:srgbClr val="42C5A5"/>
              </a:solidFill>
            </a:rPr>
            <a:t>3.Non-répudiation</a:t>
          </a:r>
        </a:p>
      </dgm:t>
    </dgm:pt>
    <dgm:pt modelId="{BEFE7734-A92B-4E23-97B1-168E91202A59}" type="parTrans" cxnId="{9B2B13C0-FB01-452D-860C-B4D66DA74113}">
      <dgm:prSet/>
      <dgm:spPr/>
      <dgm:t>
        <a:bodyPr/>
        <a:lstStyle/>
        <a:p>
          <a:endParaRPr lang="fr-FR"/>
        </a:p>
      </dgm:t>
    </dgm:pt>
    <dgm:pt modelId="{5C95A29D-F392-4EC6-8F95-461370584A6D}" type="sibTrans" cxnId="{9B2B13C0-FB01-452D-860C-B4D66DA74113}">
      <dgm:prSet/>
      <dgm:spPr/>
      <dgm:t>
        <a:bodyPr/>
        <a:lstStyle/>
        <a:p>
          <a:endParaRPr lang="fr-FR"/>
        </a:p>
      </dgm:t>
    </dgm:pt>
    <dgm:pt modelId="{7A351831-D321-432F-A18F-C4CCA4F13DC8}">
      <dgm:prSet/>
      <dgm:spPr>
        <a:solidFill>
          <a:srgbClr val="09253D"/>
        </a:solidFill>
      </dgm:spPr>
      <dgm:t>
        <a:bodyPr/>
        <a:lstStyle/>
        <a:p>
          <a:r>
            <a:rPr lang="fr-FR" sz="1400" dirty="0"/>
            <a:t>Seul le détenteur de la clé privée peut produire une signature valide</a:t>
          </a:r>
        </a:p>
      </dgm:t>
    </dgm:pt>
    <dgm:pt modelId="{17321B2C-34B2-43B3-B228-62EFD8ABE832}" type="parTrans" cxnId="{E408B4C9-4753-43FB-94B1-62FF7F2CA6E6}">
      <dgm:prSet/>
      <dgm:spPr/>
      <dgm:t>
        <a:bodyPr/>
        <a:lstStyle/>
        <a:p>
          <a:endParaRPr lang="fr-FR"/>
        </a:p>
      </dgm:t>
    </dgm:pt>
    <dgm:pt modelId="{1DDEC012-64FF-4BCB-8A89-6EA9961ABB6D}" type="sibTrans" cxnId="{E408B4C9-4753-43FB-94B1-62FF7F2CA6E6}">
      <dgm:prSet/>
      <dgm:spPr/>
      <dgm:t>
        <a:bodyPr/>
        <a:lstStyle/>
        <a:p>
          <a:endParaRPr lang="fr-FR"/>
        </a:p>
      </dgm:t>
    </dgm:pt>
    <dgm:pt modelId="{3D1A88D4-542D-4816-B4FB-FF6336E90BE5}">
      <dgm:prSet/>
      <dgm:spPr>
        <a:solidFill>
          <a:srgbClr val="09253D"/>
        </a:solidFill>
      </dgm:spPr>
      <dgm:t>
        <a:bodyPr/>
        <a:lstStyle/>
        <a:p>
          <a:r>
            <a:rPr lang="fr-FR" sz="1400"/>
            <a:t>Cela engage le signataire : il ne peut pas nier être à l’origine de la signature</a:t>
          </a:r>
        </a:p>
      </dgm:t>
    </dgm:pt>
    <dgm:pt modelId="{E96D0AB1-E61A-4C04-8992-7A9BF09D3AFB}" type="parTrans" cxnId="{B91BE697-539D-4E9C-B4A7-699A68F1B423}">
      <dgm:prSet/>
      <dgm:spPr/>
      <dgm:t>
        <a:bodyPr/>
        <a:lstStyle/>
        <a:p>
          <a:endParaRPr lang="fr-FR"/>
        </a:p>
      </dgm:t>
    </dgm:pt>
    <dgm:pt modelId="{C5E6768E-AC60-4A0A-A0A8-192120E41DB2}" type="sibTrans" cxnId="{B91BE697-539D-4E9C-B4A7-699A68F1B423}">
      <dgm:prSet/>
      <dgm:spPr/>
      <dgm:t>
        <a:bodyPr/>
        <a:lstStyle/>
        <a:p>
          <a:endParaRPr lang="fr-FR"/>
        </a:p>
      </dgm:t>
    </dgm:pt>
    <dgm:pt modelId="{010BDCF3-F320-4161-A670-5F93216F9E47}" type="pres">
      <dgm:prSet presAssocID="{0A280DC5-6CD8-4A29-BAF9-2C82847F749B}" presName="CompostProcess" presStyleCnt="0">
        <dgm:presLayoutVars>
          <dgm:dir/>
          <dgm:resizeHandles val="exact"/>
        </dgm:presLayoutVars>
      </dgm:prSet>
      <dgm:spPr/>
    </dgm:pt>
    <dgm:pt modelId="{DE5A16FF-4912-45C7-9E29-62627EAA27AC}" type="pres">
      <dgm:prSet presAssocID="{0A280DC5-6CD8-4A29-BAF9-2C82847F749B}" presName="arrow" presStyleLbl="bgShp" presStyleIdx="0" presStyleCnt="1"/>
      <dgm:spPr>
        <a:solidFill>
          <a:srgbClr val="42C5A5"/>
        </a:solidFill>
      </dgm:spPr>
    </dgm:pt>
    <dgm:pt modelId="{9B3A359C-F852-443C-ADE3-050BFFD25841}" type="pres">
      <dgm:prSet presAssocID="{0A280DC5-6CD8-4A29-BAF9-2C82847F749B}" presName="linearProcess" presStyleCnt="0"/>
      <dgm:spPr/>
    </dgm:pt>
    <dgm:pt modelId="{B223714E-B095-436B-BBC0-E18DD2AED1E6}" type="pres">
      <dgm:prSet presAssocID="{E0D85FDA-9736-45B7-8CFD-F792127A3F5F}" presName="textNode" presStyleLbl="node1" presStyleIdx="0" presStyleCnt="3">
        <dgm:presLayoutVars>
          <dgm:bulletEnabled val="1"/>
        </dgm:presLayoutVars>
      </dgm:prSet>
      <dgm:spPr/>
    </dgm:pt>
    <dgm:pt modelId="{3CFEF71C-0B8E-472E-A9B8-C719A349C068}" type="pres">
      <dgm:prSet presAssocID="{707778B6-63D4-4128-AD2E-56E8033A5D50}" presName="sibTrans" presStyleCnt="0"/>
      <dgm:spPr/>
    </dgm:pt>
    <dgm:pt modelId="{F15F5E2A-A752-4E2E-9B43-E51463CC1C9F}" type="pres">
      <dgm:prSet presAssocID="{A0E4B00A-7D8A-43F3-B8CD-202C73193595}" presName="textNode" presStyleLbl="node1" presStyleIdx="1" presStyleCnt="3">
        <dgm:presLayoutVars>
          <dgm:bulletEnabled val="1"/>
        </dgm:presLayoutVars>
      </dgm:prSet>
      <dgm:spPr/>
    </dgm:pt>
    <dgm:pt modelId="{38385CC0-A267-4650-BCF1-9CBC821CD408}" type="pres">
      <dgm:prSet presAssocID="{F7C725EC-DA06-4232-B5A7-F9D50789F418}" presName="sibTrans" presStyleCnt="0"/>
      <dgm:spPr/>
    </dgm:pt>
    <dgm:pt modelId="{4AE67413-D695-48FD-BFC8-39BA7A0F6845}" type="pres">
      <dgm:prSet presAssocID="{AD2DE3B4-1B97-49E5-AD22-B874E1AF8803}" presName="textNode" presStyleLbl="node1" presStyleIdx="2" presStyleCnt="3">
        <dgm:presLayoutVars>
          <dgm:bulletEnabled val="1"/>
        </dgm:presLayoutVars>
      </dgm:prSet>
      <dgm:spPr/>
    </dgm:pt>
  </dgm:ptLst>
  <dgm:cxnLst>
    <dgm:cxn modelId="{E225A72F-A4FC-4D5A-A70C-5A6182E5663D}" srcId="{A0E4B00A-7D8A-43F3-B8CD-202C73193595}" destId="{B38B8884-0512-4071-BC6E-7F41CC3BE152}" srcOrd="0" destOrd="0" parTransId="{4942AA32-388C-4C96-9491-6AC4BC679EE1}" sibTransId="{A75C0CDC-60E6-4AEC-B01E-0A86B4282F78}"/>
    <dgm:cxn modelId="{2AAB2262-5FF5-4500-81B7-1F06CFAF23C7}" srcId="{E0D85FDA-9736-45B7-8CFD-F792127A3F5F}" destId="{BEF52FF5-6479-45A3-B8C2-433DB2781649}" srcOrd="0" destOrd="0" parTransId="{983D8064-6B28-4CC3-8BBF-FB8CD2938AF9}" sibTransId="{E41BB4AB-487E-491A-B5D4-6AEE4EE0C575}"/>
    <dgm:cxn modelId="{EE75FF46-2BFD-4CA8-88FC-4BC51CEC2518}" type="presOf" srcId="{4F6DCFBD-FB34-489B-ABC4-9F2EBFD483A4}" destId="{F15F5E2A-A752-4E2E-9B43-E51463CC1C9F}" srcOrd="0" destOrd="2" presId="urn:microsoft.com/office/officeart/2005/8/layout/hProcess9"/>
    <dgm:cxn modelId="{7B3D806A-F15F-4880-B1B1-88A450AF5DF2}" type="presOf" srcId="{AD2DE3B4-1B97-49E5-AD22-B874E1AF8803}" destId="{4AE67413-D695-48FD-BFC8-39BA7A0F6845}" srcOrd="0" destOrd="0" presId="urn:microsoft.com/office/officeart/2005/8/layout/hProcess9"/>
    <dgm:cxn modelId="{07A8296E-13DF-43E1-9C85-ABD1550CF8CF}" srcId="{0A280DC5-6CD8-4A29-BAF9-2C82847F749B}" destId="{A0E4B00A-7D8A-43F3-B8CD-202C73193595}" srcOrd="1" destOrd="0" parTransId="{0DC00EBF-52E3-49A6-8B6B-CE1E102F64A3}" sibTransId="{F7C725EC-DA06-4232-B5A7-F9D50789F418}"/>
    <dgm:cxn modelId="{5B4D1077-3174-4FB4-8966-6E5A128A2E1D}" type="presOf" srcId="{A0E4B00A-7D8A-43F3-B8CD-202C73193595}" destId="{F15F5E2A-A752-4E2E-9B43-E51463CC1C9F}" srcOrd="0" destOrd="0" presId="urn:microsoft.com/office/officeart/2005/8/layout/hProcess9"/>
    <dgm:cxn modelId="{48334485-F800-4AFB-B6F7-93EEEDCFB44F}" type="presOf" srcId="{7E557D34-F773-442B-814D-C411A121A026}" destId="{B223714E-B095-436B-BBC0-E18DD2AED1E6}" srcOrd="0" destOrd="2" presId="urn:microsoft.com/office/officeart/2005/8/layout/hProcess9"/>
    <dgm:cxn modelId="{2325AC89-BBA3-42E5-A1E5-78C25501FA0E}" type="presOf" srcId="{7A351831-D321-432F-A18F-C4CCA4F13DC8}" destId="{4AE67413-D695-48FD-BFC8-39BA7A0F6845}" srcOrd="0" destOrd="1" presId="urn:microsoft.com/office/officeart/2005/8/layout/hProcess9"/>
    <dgm:cxn modelId="{B91BE697-539D-4E9C-B4A7-699A68F1B423}" srcId="{AD2DE3B4-1B97-49E5-AD22-B874E1AF8803}" destId="{3D1A88D4-542D-4816-B4FB-FF6336E90BE5}" srcOrd="1" destOrd="0" parTransId="{E96D0AB1-E61A-4C04-8992-7A9BF09D3AFB}" sibTransId="{C5E6768E-AC60-4A0A-A0A8-192120E41DB2}"/>
    <dgm:cxn modelId="{3F6DC69B-9AF2-4032-89C5-1FD3EEAE0BFD}" type="presOf" srcId="{E0D85FDA-9736-45B7-8CFD-F792127A3F5F}" destId="{B223714E-B095-436B-BBC0-E18DD2AED1E6}" srcOrd="0" destOrd="0" presId="urn:microsoft.com/office/officeart/2005/8/layout/hProcess9"/>
    <dgm:cxn modelId="{F0DD76A8-2966-4127-9887-9CCF87679834}" srcId="{E0D85FDA-9736-45B7-8CFD-F792127A3F5F}" destId="{7E557D34-F773-442B-814D-C411A121A026}" srcOrd="1" destOrd="0" parTransId="{4CC779CB-B3F4-4201-B428-ADB7CCA5C9D2}" sibTransId="{D4DFCAC0-DF2B-462F-84E5-4639F236BC52}"/>
    <dgm:cxn modelId="{2896BAAE-5E3C-433F-B417-93740FD39A0D}" type="presOf" srcId="{0A280DC5-6CD8-4A29-BAF9-2C82847F749B}" destId="{010BDCF3-F320-4161-A670-5F93216F9E47}" srcOrd="0" destOrd="0" presId="urn:microsoft.com/office/officeart/2005/8/layout/hProcess9"/>
    <dgm:cxn modelId="{9B2B13C0-FB01-452D-860C-B4D66DA74113}" srcId="{0A280DC5-6CD8-4A29-BAF9-2C82847F749B}" destId="{AD2DE3B4-1B97-49E5-AD22-B874E1AF8803}" srcOrd="2" destOrd="0" parTransId="{BEFE7734-A92B-4E23-97B1-168E91202A59}" sibTransId="{5C95A29D-F392-4EC6-8F95-461370584A6D}"/>
    <dgm:cxn modelId="{E408B4C9-4753-43FB-94B1-62FF7F2CA6E6}" srcId="{AD2DE3B4-1B97-49E5-AD22-B874E1AF8803}" destId="{7A351831-D321-432F-A18F-C4CCA4F13DC8}" srcOrd="0" destOrd="0" parTransId="{17321B2C-34B2-43B3-B228-62EFD8ABE832}" sibTransId="{1DDEC012-64FF-4BCB-8A89-6EA9961ABB6D}"/>
    <dgm:cxn modelId="{B9E95FCC-13B7-4274-A0D5-D397B375E905}" srcId="{A0E4B00A-7D8A-43F3-B8CD-202C73193595}" destId="{4F6DCFBD-FB34-489B-ABC4-9F2EBFD483A4}" srcOrd="1" destOrd="0" parTransId="{A582BC64-6D4D-4EA4-8EE2-B892812EF253}" sibTransId="{AA3BD580-C3DC-49B2-BC66-CF620D135B93}"/>
    <dgm:cxn modelId="{C59CE0D0-3669-4019-8EBD-154D55DA1162}" srcId="{0A280DC5-6CD8-4A29-BAF9-2C82847F749B}" destId="{E0D85FDA-9736-45B7-8CFD-F792127A3F5F}" srcOrd="0" destOrd="0" parTransId="{3DF71EE7-F229-4873-84F7-CF4ABA8A516F}" sibTransId="{707778B6-63D4-4128-AD2E-56E8033A5D50}"/>
    <dgm:cxn modelId="{B2AB7DD7-ABD4-4128-9E7E-201AC5C3447C}" type="presOf" srcId="{3D1A88D4-542D-4816-B4FB-FF6336E90BE5}" destId="{4AE67413-D695-48FD-BFC8-39BA7A0F6845}" srcOrd="0" destOrd="2" presId="urn:microsoft.com/office/officeart/2005/8/layout/hProcess9"/>
    <dgm:cxn modelId="{AEC807E5-2A0B-4767-AE4C-BC98D5490A9E}" type="presOf" srcId="{BEF52FF5-6479-45A3-B8C2-433DB2781649}" destId="{B223714E-B095-436B-BBC0-E18DD2AED1E6}" srcOrd="0" destOrd="1" presId="urn:microsoft.com/office/officeart/2005/8/layout/hProcess9"/>
    <dgm:cxn modelId="{7D9A54E5-5B24-4428-ACA0-998DA3556FCC}" type="presOf" srcId="{B38B8884-0512-4071-BC6E-7F41CC3BE152}" destId="{F15F5E2A-A752-4E2E-9B43-E51463CC1C9F}" srcOrd="0" destOrd="1" presId="urn:microsoft.com/office/officeart/2005/8/layout/hProcess9"/>
    <dgm:cxn modelId="{7E000DE6-166F-40EB-A98A-BC19330E168A}" type="presParOf" srcId="{010BDCF3-F320-4161-A670-5F93216F9E47}" destId="{DE5A16FF-4912-45C7-9E29-62627EAA27AC}" srcOrd="0" destOrd="0" presId="urn:microsoft.com/office/officeart/2005/8/layout/hProcess9"/>
    <dgm:cxn modelId="{8EEC4789-FE12-435B-8779-E14DBC1A8AA2}" type="presParOf" srcId="{010BDCF3-F320-4161-A670-5F93216F9E47}" destId="{9B3A359C-F852-443C-ADE3-050BFFD25841}" srcOrd="1" destOrd="0" presId="urn:microsoft.com/office/officeart/2005/8/layout/hProcess9"/>
    <dgm:cxn modelId="{7BB38EFD-A197-4E0A-9097-9DB7FC993DDA}" type="presParOf" srcId="{9B3A359C-F852-443C-ADE3-050BFFD25841}" destId="{B223714E-B095-436B-BBC0-E18DD2AED1E6}" srcOrd="0" destOrd="0" presId="urn:microsoft.com/office/officeart/2005/8/layout/hProcess9"/>
    <dgm:cxn modelId="{5A7B1368-D7A5-4630-9F86-B3026E6F87DC}" type="presParOf" srcId="{9B3A359C-F852-443C-ADE3-050BFFD25841}" destId="{3CFEF71C-0B8E-472E-A9B8-C719A349C068}" srcOrd="1" destOrd="0" presId="urn:microsoft.com/office/officeart/2005/8/layout/hProcess9"/>
    <dgm:cxn modelId="{3D484690-6552-4B0B-9999-BC50D24B8A42}" type="presParOf" srcId="{9B3A359C-F852-443C-ADE3-050BFFD25841}" destId="{F15F5E2A-A752-4E2E-9B43-E51463CC1C9F}" srcOrd="2" destOrd="0" presId="urn:microsoft.com/office/officeart/2005/8/layout/hProcess9"/>
    <dgm:cxn modelId="{59615ABB-6D6E-4AC4-A799-14F2DA238410}" type="presParOf" srcId="{9B3A359C-F852-443C-ADE3-050BFFD25841}" destId="{38385CC0-A267-4650-BCF1-9CBC821CD408}" srcOrd="3" destOrd="0" presId="urn:microsoft.com/office/officeart/2005/8/layout/hProcess9"/>
    <dgm:cxn modelId="{C1BD9F44-C0B5-4FC6-A761-66C929676720}" type="presParOf" srcId="{9B3A359C-F852-443C-ADE3-050BFFD25841}" destId="{4AE67413-D695-48FD-BFC8-39BA7A0F6845}"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70087EC-42CD-411C-8A4D-D56858228986}"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fr-FR"/>
        </a:p>
      </dgm:t>
    </dgm:pt>
    <dgm:pt modelId="{586D6CFF-91BF-4F9F-AFA6-B22973C6093C}">
      <dgm:prSet phldrT="[Texte]"/>
      <dgm:spPr>
        <a:solidFill>
          <a:srgbClr val="09253D"/>
        </a:solidFill>
      </dgm:spPr>
      <dgm:t>
        <a:bodyPr/>
        <a:lstStyle/>
        <a:p>
          <a:r>
            <a:rPr lang="fr-FR" dirty="0">
              <a:solidFill>
                <a:srgbClr val="42C5A5"/>
              </a:solidFill>
            </a:rPr>
            <a:t>1</a:t>
          </a:r>
        </a:p>
        <a:p>
          <a:r>
            <a:rPr lang="fr-FR" dirty="0"/>
            <a:t>Connexion</a:t>
          </a:r>
        </a:p>
      </dgm:t>
    </dgm:pt>
    <dgm:pt modelId="{96730F2F-2A47-41A0-8AA1-207CCE5CF6AC}" type="parTrans" cxnId="{FBC89CE4-2673-4AA6-9D6D-27B3BDAE3643}">
      <dgm:prSet/>
      <dgm:spPr/>
      <dgm:t>
        <a:bodyPr/>
        <a:lstStyle/>
        <a:p>
          <a:endParaRPr lang="fr-FR"/>
        </a:p>
      </dgm:t>
    </dgm:pt>
    <dgm:pt modelId="{16E00DD1-546A-418E-A96F-24A5D3DEFE08}" type="sibTrans" cxnId="{FBC89CE4-2673-4AA6-9D6D-27B3BDAE3643}">
      <dgm:prSet/>
      <dgm:spPr>
        <a:solidFill>
          <a:srgbClr val="42C5A5"/>
        </a:solidFill>
      </dgm:spPr>
      <dgm:t>
        <a:bodyPr/>
        <a:lstStyle/>
        <a:p>
          <a:endParaRPr lang="fr-FR"/>
        </a:p>
      </dgm:t>
    </dgm:pt>
    <dgm:pt modelId="{BCB8F491-235E-4005-BD38-DA7E7898EBB3}">
      <dgm:prSet phldrT="[Texte]"/>
      <dgm:spPr>
        <a:solidFill>
          <a:srgbClr val="09253D"/>
        </a:solidFill>
      </dgm:spPr>
      <dgm:t>
        <a:bodyPr/>
        <a:lstStyle/>
        <a:p>
          <a:r>
            <a:rPr lang="fr-FR" dirty="0">
              <a:solidFill>
                <a:srgbClr val="42C5A5"/>
              </a:solidFill>
            </a:rPr>
            <a:t>2</a:t>
          </a:r>
        </a:p>
        <a:p>
          <a:r>
            <a:rPr lang="fr-FR" dirty="0"/>
            <a:t>Certificat</a:t>
          </a:r>
        </a:p>
      </dgm:t>
    </dgm:pt>
    <dgm:pt modelId="{F148CA92-58D1-499B-BE55-693BBEABF725}" type="parTrans" cxnId="{2768BCAB-B803-4FA3-A516-50A506BDEFB6}">
      <dgm:prSet/>
      <dgm:spPr/>
      <dgm:t>
        <a:bodyPr/>
        <a:lstStyle/>
        <a:p>
          <a:endParaRPr lang="fr-FR"/>
        </a:p>
      </dgm:t>
    </dgm:pt>
    <dgm:pt modelId="{F7389F4E-2176-447C-AD54-D1FC4FC4E8BB}" type="sibTrans" cxnId="{2768BCAB-B803-4FA3-A516-50A506BDEFB6}">
      <dgm:prSet/>
      <dgm:spPr>
        <a:solidFill>
          <a:srgbClr val="42C5A5"/>
        </a:solidFill>
      </dgm:spPr>
      <dgm:t>
        <a:bodyPr/>
        <a:lstStyle/>
        <a:p>
          <a:endParaRPr lang="fr-FR"/>
        </a:p>
      </dgm:t>
    </dgm:pt>
    <dgm:pt modelId="{405BEE8B-8BE0-4046-A454-F1F41CE41513}">
      <dgm:prSet phldrT="[Texte]"/>
      <dgm:spPr>
        <a:solidFill>
          <a:srgbClr val="09253D"/>
        </a:solidFill>
      </dgm:spPr>
      <dgm:t>
        <a:bodyPr/>
        <a:lstStyle/>
        <a:p>
          <a:r>
            <a:rPr lang="fr-FR" dirty="0">
              <a:solidFill>
                <a:srgbClr val="42C5A5"/>
              </a:solidFill>
            </a:rPr>
            <a:t>3</a:t>
          </a:r>
        </a:p>
        <a:p>
          <a:r>
            <a:rPr lang="fr-FR" dirty="0"/>
            <a:t>CRL</a:t>
          </a:r>
        </a:p>
      </dgm:t>
    </dgm:pt>
    <dgm:pt modelId="{E8E7EF92-932D-4C11-AED5-BF0CB2FF97DE}" type="parTrans" cxnId="{2168920C-1EFC-4490-BAD8-2EB89180EC00}">
      <dgm:prSet/>
      <dgm:spPr/>
      <dgm:t>
        <a:bodyPr/>
        <a:lstStyle/>
        <a:p>
          <a:endParaRPr lang="fr-FR"/>
        </a:p>
      </dgm:t>
    </dgm:pt>
    <dgm:pt modelId="{8F67538B-6956-42FF-8B38-09DA225EE067}" type="sibTrans" cxnId="{2168920C-1EFC-4490-BAD8-2EB89180EC00}">
      <dgm:prSet/>
      <dgm:spPr/>
      <dgm:t>
        <a:bodyPr/>
        <a:lstStyle/>
        <a:p>
          <a:endParaRPr lang="fr-FR"/>
        </a:p>
      </dgm:t>
    </dgm:pt>
    <dgm:pt modelId="{7E3424C8-CCBD-45F9-847D-9A9D97F069A1}" type="pres">
      <dgm:prSet presAssocID="{870087EC-42CD-411C-8A4D-D56858228986}" presName="linearFlow" presStyleCnt="0">
        <dgm:presLayoutVars>
          <dgm:resizeHandles val="exact"/>
        </dgm:presLayoutVars>
      </dgm:prSet>
      <dgm:spPr/>
    </dgm:pt>
    <dgm:pt modelId="{B4523219-5C83-4033-A764-5C39BE7DCCCA}" type="pres">
      <dgm:prSet presAssocID="{586D6CFF-91BF-4F9F-AFA6-B22973C6093C}" presName="node" presStyleLbl="node1" presStyleIdx="0" presStyleCnt="3">
        <dgm:presLayoutVars>
          <dgm:bulletEnabled val="1"/>
        </dgm:presLayoutVars>
      </dgm:prSet>
      <dgm:spPr/>
    </dgm:pt>
    <dgm:pt modelId="{D0336B42-F283-40AC-A406-25A3269E06A4}" type="pres">
      <dgm:prSet presAssocID="{16E00DD1-546A-418E-A96F-24A5D3DEFE08}" presName="sibTrans" presStyleLbl="sibTrans2D1" presStyleIdx="0" presStyleCnt="2"/>
      <dgm:spPr/>
    </dgm:pt>
    <dgm:pt modelId="{31A5ADA7-5BF6-49DA-8EBF-C83E744B0FBD}" type="pres">
      <dgm:prSet presAssocID="{16E00DD1-546A-418E-A96F-24A5D3DEFE08}" presName="connectorText" presStyleLbl="sibTrans2D1" presStyleIdx="0" presStyleCnt="2"/>
      <dgm:spPr/>
    </dgm:pt>
    <dgm:pt modelId="{3FA68E4A-1CF8-4F99-9EA6-7FF1B102E8C8}" type="pres">
      <dgm:prSet presAssocID="{BCB8F491-235E-4005-BD38-DA7E7898EBB3}" presName="node" presStyleLbl="node1" presStyleIdx="1" presStyleCnt="3">
        <dgm:presLayoutVars>
          <dgm:bulletEnabled val="1"/>
        </dgm:presLayoutVars>
      </dgm:prSet>
      <dgm:spPr/>
    </dgm:pt>
    <dgm:pt modelId="{BB28A321-8F8B-4642-B5BC-E312876D9F63}" type="pres">
      <dgm:prSet presAssocID="{F7389F4E-2176-447C-AD54-D1FC4FC4E8BB}" presName="sibTrans" presStyleLbl="sibTrans2D1" presStyleIdx="1" presStyleCnt="2"/>
      <dgm:spPr/>
    </dgm:pt>
    <dgm:pt modelId="{2776E168-5AED-4475-8C0E-1C80D61A08B1}" type="pres">
      <dgm:prSet presAssocID="{F7389F4E-2176-447C-AD54-D1FC4FC4E8BB}" presName="connectorText" presStyleLbl="sibTrans2D1" presStyleIdx="1" presStyleCnt="2"/>
      <dgm:spPr/>
    </dgm:pt>
    <dgm:pt modelId="{71FA92A8-7A07-4C21-8320-AF0D7CC80050}" type="pres">
      <dgm:prSet presAssocID="{405BEE8B-8BE0-4046-A454-F1F41CE41513}" presName="node" presStyleLbl="node1" presStyleIdx="2" presStyleCnt="3">
        <dgm:presLayoutVars>
          <dgm:bulletEnabled val="1"/>
        </dgm:presLayoutVars>
      </dgm:prSet>
      <dgm:spPr/>
    </dgm:pt>
  </dgm:ptLst>
  <dgm:cxnLst>
    <dgm:cxn modelId="{2168920C-1EFC-4490-BAD8-2EB89180EC00}" srcId="{870087EC-42CD-411C-8A4D-D56858228986}" destId="{405BEE8B-8BE0-4046-A454-F1F41CE41513}" srcOrd="2" destOrd="0" parTransId="{E8E7EF92-932D-4C11-AED5-BF0CB2FF97DE}" sibTransId="{8F67538B-6956-42FF-8B38-09DA225EE067}"/>
    <dgm:cxn modelId="{36E9AE3F-DD2D-4D66-A547-FE0C0D966444}" type="presOf" srcId="{F7389F4E-2176-447C-AD54-D1FC4FC4E8BB}" destId="{BB28A321-8F8B-4642-B5BC-E312876D9F63}" srcOrd="0" destOrd="0" presId="urn:microsoft.com/office/officeart/2005/8/layout/process2"/>
    <dgm:cxn modelId="{95F0EA7F-7EF2-4E19-B5BC-D929F663ED36}" type="presOf" srcId="{F7389F4E-2176-447C-AD54-D1FC4FC4E8BB}" destId="{2776E168-5AED-4475-8C0E-1C80D61A08B1}" srcOrd="1" destOrd="0" presId="urn:microsoft.com/office/officeart/2005/8/layout/process2"/>
    <dgm:cxn modelId="{E5E54487-200B-464C-B94B-52ACC78E0A6D}" type="presOf" srcId="{586D6CFF-91BF-4F9F-AFA6-B22973C6093C}" destId="{B4523219-5C83-4033-A764-5C39BE7DCCCA}" srcOrd="0" destOrd="0" presId="urn:microsoft.com/office/officeart/2005/8/layout/process2"/>
    <dgm:cxn modelId="{F0C1558F-CF31-4FD3-ACEE-1DBFBA2B93EE}" type="presOf" srcId="{870087EC-42CD-411C-8A4D-D56858228986}" destId="{7E3424C8-CCBD-45F9-847D-9A9D97F069A1}" srcOrd="0" destOrd="0" presId="urn:microsoft.com/office/officeart/2005/8/layout/process2"/>
    <dgm:cxn modelId="{AB3D949E-6F41-472B-9D64-48E8126A1C42}" type="presOf" srcId="{BCB8F491-235E-4005-BD38-DA7E7898EBB3}" destId="{3FA68E4A-1CF8-4F99-9EA6-7FF1B102E8C8}" srcOrd="0" destOrd="0" presId="urn:microsoft.com/office/officeart/2005/8/layout/process2"/>
    <dgm:cxn modelId="{06B1CAA2-1CD6-439E-B5F2-674330333AF6}" type="presOf" srcId="{16E00DD1-546A-418E-A96F-24A5D3DEFE08}" destId="{31A5ADA7-5BF6-49DA-8EBF-C83E744B0FBD}" srcOrd="1" destOrd="0" presId="urn:microsoft.com/office/officeart/2005/8/layout/process2"/>
    <dgm:cxn modelId="{2768BCAB-B803-4FA3-A516-50A506BDEFB6}" srcId="{870087EC-42CD-411C-8A4D-D56858228986}" destId="{BCB8F491-235E-4005-BD38-DA7E7898EBB3}" srcOrd="1" destOrd="0" parTransId="{F148CA92-58D1-499B-BE55-693BBEABF725}" sibTransId="{F7389F4E-2176-447C-AD54-D1FC4FC4E8BB}"/>
    <dgm:cxn modelId="{8EAA39D7-7241-4D7B-B50D-D86CA50F19F2}" type="presOf" srcId="{405BEE8B-8BE0-4046-A454-F1F41CE41513}" destId="{71FA92A8-7A07-4C21-8320-AF0D7CC80050}" srcOrd="0" destOrd="0" presId="urn:microsoft.com/office/officeart/2005/8/layout/process2"/>
    <dgm:cxn modelId="{FBC89CE4-2673-4AA6-9D6D-27B3BDAE3643}" srcId="{870087EC-42CD-411C-8A4D-D56858228986}" destId="{586D6CFF-91BF-4F9F-AFA6-B22973C6093C}" srcOrd="0" destOrd="0" parTransId="{96730F2F-2A47-41A0-8AA1-207CCE5CF6AC}" sibTransId="{16E00DD1-546A-418E-A96F-24A5D3DEFE08}"/>
    <dgm:cxn modelId="{C62F37F7-6264-4A53-BD1D-23592FDCC2C6}" type="presOf" srcId="{16E00DD1-546A-418E-A96F-24A5D3DEFE08}" destId="{D0336B42-F283-40AC-A406-25A3269E06A4}" srcOrd="0" destOrd="0" presId="urn:microsoft.com/office/officeart/2005/8/layout/process2"/>
    <dgm:cxn modelId="{5EBA410A-8584-4171-8960-50AA42F7A22F}" type="presParOf" srcId="{7E3424C8-CCBD-45F9-847D-9A9D97F069A1}" destId="{B4523219-5C83-4033-A764-5C39BE7DCCCA}" srcOrd="0" destOrd="0" presId="urn:microsoft.com/office/officeart/2005/8/layout/process2"/>
    <dgm:cxn modelId="{3390C31D-1AC3-404F-8E52-DA209D44F2C5}" type="presParOf" srcId="{7E3424C8-CCBD-45F9-847D-9A9D97F069A1}" destId="{D0336B42-F283-40AC-A406-25A3269E06A4}" srcOrd="1" destOrd="0" presId="urn:microsoft.com/office/officeart/2005/8/layout/process2"/>
    <dgm:cxn modelId="{FF0EBD4C-AAE4-4BEE-8790-68A591B3B97D}" type="presParOf" srcId="{D0336B42-F283-40AC-A406-25A3269E06A4}" destId="{31A5ADA7-5BF6-49DA-8EBF-C83E744B0FBD}" srcOrd="0" destOrd="0" presId="urn:microsoft.com/office/officeart/2005/8/layout/process2"/>
    <dgm:cxn modelId="{5224FE56-E6B4-4EAE-A4DD-7887A691F89D}" type="presParOf" srcId="{7E3424C8-CCBD-45F9-847D-9A9D97F069A1}" destId="{3FA68E4A-1CF8-4F99-9EA6-7FF1B102E8C8}" srcOrd="2" destOrd="0" presId="urn:microsoft.com/office/officeart/2005/8/layout/process2"/>
    <dgm:cxn modelId="{50E84400-4052-440B-A809-72BAB72BC297}" type="presParOf" srcId="{7E3424C8-CCBD-45F9-847D-9A9D97F069A1}" destId="{BB28A321-8F8B-4642-B5BC-E312876D9F63}" srcOrd="3" destOrd="0" presId="urn:microsoft.com/office/officeart/2005/8/layout/process2"/>
    <dgm:cxn modelId="{4653AFA2-F9EE-49D1-A251-529E7F872146}" type="presParOf" srcId="{BB28A321-8F8B-4642-B5BC-E312876D9F63}" destId="{2776E168-5AED-4475-8C0E-1C80D61A08B1}" srcOrd="0" destOrd="0" presId="urn:microsoft.com/office/officeart/2005/8/layout/process2"/>
    <dgm:cxn modelId="{C6C79405-3A16-4059-B84C-7A0BFB08ED56}" type="presParOf" srcId="{7E3424C8-CCBD-45F9-847D-9A9D97F069A1}" destId="{71FA92A8-7A07-4C21-8320-AF0D7CC80050}" srcOrd="4" destOrd="0" presId="urn:microsoft.com/office/officeart/2005/8/layout/process2"/>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70087EC-42CD-411C-8A4D-D56858228986}"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fr-FR"/>
        </a:p>
      </dgm:t>
    </dgm:pt>
    <dgm:pt modelId="{586D6CFF-91BF-4F9F-AFA6-B22973C6093C}">
      <dgm:prSet phldrT="[Texte]"/>
      <dgm:spPr>
        <a:solidFill>
          <a:srgbClr val="09253D"/>
        </a:solidFill>
      </dgm:spPr>
      <dgm:t>
        <a:bodyPr/>
        <a:lstStyle/>
        <a:p>
          <a:r>
            <a:rPr lang="fr-FR" dirty="0">
              <a:solidFill>
                <a:srgbClr val="42C5A5"/>
              </a:solidFill>
            </a:rPr>
            <a:t>1</a:t>
          </a:r>
        </a:p>
        <a:p>
          <a:r>
            <a:rPr lang="fr-FR" dirty="0"/>
            <a:t>Numéro de série du certificat</a:t>
          </a:r>
        </a:p>
      </dgm:t>
    </dgm:pt>
    <dgm:pt modelId="{96730F2F-2A47-41A0-8AA1-207CCE5CF6AC}" type="parTrans" cxnId="{FBC89CE4-2673-4AA6-9D6D-27B3BDAE3643}">
      <dgm:prSet/>
      <dgm:spPr/>
      <dgm:t>
        <a:bodyPr/>
        <a:lstStyle/>
        <a:p>
          <a:endParaRPr lang="fr-FR"/>
        </a:p>
      </dgm:t>
    </dgm:pt>
    <dgm:pt modelId="{16E00DD1-546A-418E-A96F-24A5D3DEFE08}" type="sibTrans" cxnId="{FBC89CE4-2673-4AA6-9D6D-27B3BDAE3643}">
      <dgm:prSet/>
      <dgm:spPr>
        <a:solidFill>
          <a:srgbClr val="42C5A5"/>
        </a:solidFill>
      </dgm:spPr>
      <dgm:t>
        <a:bodyPr/>
        <a:lstStyle/>
        <a:p>
          <a:endParaRPr lang="fr-FR"/>
        </a:p>
      </dgm:t>
    </dgm:pt>
    <dgm:pt modelId="{BCB8F491-235E-4005-BD38-DA7E7898EBB3}">
      <dgm:prSet phldrT="[Texte]"/>
      <dgm:spPr>
        <a:solidFill>
          <a:srgbClr val="09253D"/>
        </a:solidFill>
      </dgm:spPr>
      <dgm:t>
        <a:bodyPr/>
        <a:lstStyle/>
        <a:p>
          <a:r>
            <a:rPr lang="fr-FR" dirty="0">
              <a:solidFill>
                <a:srgbClr val="42C5A5"/>
              </a:solidFill>
            </a:rPr>
            <a:t>2</a:t>
          </a:r>
        </a:p>
        <a:p>
          <a:r>
            <a:rPr lang="fr-FR" dirty="0"/>
            <a:t>Transmission au serveur OCSP</a:t>
          </a:r>
        </a:p>
      </dgm:t>
    </dgm:pt>
    <dgm:pt modelId="{F148CA92-58D1-499B-BE55-693BBEABF725}" type="parTrans" cxnId="{2768BCAB-B803-4FA3-A516-50A506BDEFB6}">
      <dgm:prSet/>
      <dgm:spPr/>
      <dgm:t>
        <a:bodyPr/>
        <a:lstStyle/>
        <a:p>
          <a:endParaRPr lang="fr-FR"/>
        </a:p>
      </dgm:t>
    </dgm:pt>
    <dgm:pt modelId="{F7389F4E-2176-447C-AD54-D1FC4FC4E8BB}" type="sibTrans" cxnId="{2768BCAB-B803-4FA3-A516-50A506BDEFB6}">
      <dgm:prSet/>
      <dgm:spPr>
        <a:solidFill>
          <a:srgbClr val="42C5A5"/>
        </a:solidFill>
      </dgm:spPr>
      <dgm:t>
        <a:bodyPr/>
        <a:lstStyle/>
        <a:p>
          <a:endParaRPr lang="fr-FR"/>
        </a:p>
      </dgm:t>
    </dgm:pt>
    <dgm:pt modelId="{405BEE8B-8BE0-4046-A454-F1F41CE41513}">
      <dgm:prSet phldrT="[Texte]"/>
      <dgm:spPr>
        <a:solidFill>
          <a:srgbClr val="09253D"/>
        </a:solidFill>
      </dgm:spPr>
      <dgm:t>
        <a:bodyPr/>
        <a:lstStyle/>
        <a:p>
          <a:r>
            <a:rPr lang="fr-FR" dirty="0">
              <a:solidFill>
                <a:srgbClr val="42C5A5"/>
              </a:solidFill>
            </a:rPr>
            <a:t>3</a:t>
          </a:r>
        </a:p>
        <a:p>
          <a:r>
            <a:rPr lang="fr-FR" dirty="0"/>
            <a:t>Réponse contenant le statut </a:t>
          </a:r>
        </a:p>
      </dgm:t>
    </dgm:pt>
    <dgm:pt modelId="{E8E7EF92-932D-4C11-AED5-BF0CB2FF97DE}" type="parTrans" cxnId="{2168920C-1EFC-4490-BAD8-2EB89180EC00}">
      <dgm:prSet/>
      <dgm:spPr/>
      <dgm:t>
        <a:bodyPr/>
        <a:lstStyle/>
        <a:p>
          <a:endParaRPr lang="fr-FR"/>
        </a:p>
      </dgm:t>
    </dgm:pt>
    <dgm:pt modelId="{8F67538B-6956-42FF-8B38-09DA225EE067}" type="sibTrans" cxnId="{2168920C-1EFC-4490-BAD8-2EB89180EC00}">
      <dgm:prSet/>
      <dgm:spPr/>
      <dgm:t>
        <a:bodyPr/>
        <a:lstStyle/>
        <a:p>
          <a:endParaRPr lang="fr-FR"/>
        </a:p>
      </dgm:t>
    </dgm:pt>
    <dgm:pt modelId="{7E3424C8-CCBD-45F9-847D-9A9D97F069A1}" type="pres">
      <dgm:prSet presAssocID="{870087EC-42CD-411C-8A4D-D56858228986}" presName="linearFlow" presStyleCnt="0">
        <dgm:presLayoutVars>
          <dgm:resizeHandles val="exact"/>
        </dgm:presLayoutVars>
      </dgm:prSet>
      <dgm:spPr/>
    </dgm:pt>
    <dgm:pt modelId="{B4523219-5C83-4033-A764-5C39BE7DCCCA}" type="pres">
      <dgm:prSet presAssocID="{586D6CFF-91BF-4F9F-AFA6-B22973C6093C}" presName="node" presStyleLbl="node1" presStyleIdx="0" presStyleCnt="3">
        <dgm:presLayoutVars>
          <dgm:bulletEnabled val="1"/>
        </dgm:presLayoutVars>
      </dgm:prSet>
      <dgm:spPr/>
    </dgm:pt>
    <dgm:pt modelId="{D0336B42-F283-40AC-A406-25A3269E06A4}" type="pres">
      <dgm:prSet presAssocID="{16E00DD1-546A-418E-A96F-24A5D3DEFE08}" presName="sibTrans" presStyleLbl="sibTrans2D1" presStyleIdx="0" presStyleCnt="2"/>
      <dgm:spPr/>
    </dgm:pt>
    <dgm:pt modelId="{31A5ADA7-5BF6-49DA-8EBF-C83E744B0FBD}" type="pres">
      <dgm:prSet presAssocID="{16E00DD1-546A-418E-A96F-24A5D3DEFE08}" presName="connectorText" presStyleLbl="sibTrans2D1" presStyleIdx="0" presStyleCnt="2"/>
      <dgm:spPr/>
    </dgm:pt>
    <dgm:pt modelId="{3FA68E4A-1CF8-4F99-9EA6-7FF1B102E8C8}" type="pres">
      <dgm:prSet presAssocID="{BCB8F491-235E-4005-BD38-DA7E7898EBB3}" presName="node" presStyleLbl="node1" presStyleIdx="1" presStyleCnt="3">
        <dgm:presLayoutVars>
          <dgm:bulletEnabled val="1"/>
        </dgm:presLayoutVars>
      </dgm:prSet>
      <dgm:spPr/>
    </dgm:pt>
    <dgm:pt modelId="{BB28A321-8F8B-4642-B5BC-E312876D9F63}" type="pres">
      <dgm:prSet presAssocID="{F7389F4E-2176-447C-AD54-D1FC4FC4E8BB}" presName="sibTrans" presStyleLbl="sibTrans2D1" presStyleIdx="1" presStyleCnt="2"/>
      <dgm:spPr/>
    </dgm:pt>
    <dgm:pt modelId="{2776E168-5AED-4475-8C0E-1C80D61A08B1}" type="pres">
      <dgm:prSet presAssocID="{F7389F4E-2176-447C-AD54-D1FC4FC4E8BB}" presName="connectorText" presStyleLbl="sibTrans2D1" presStyleIdx="1" presStyleCnt="2"/>
      <dgm:spPr/>
    </dgm:pt>
    <dgm:pt modelId="{71FA92A8-7A07-4C21-8320-AF0D7CC80050}" type="pres">
      <dgm:prSet presAssocID="{405BEE8B-8BE0-4046-A454-F1F41CE41513}" presName="node" presStyleLbl="node1" presStyleIdx="2" presStyleCnt="3">
        <dgm:presLayoutVars>
          <dgm:bulletEnabled val="1"/>
        </dgm:presLayoutVars>
      </dgm:prSet>
      <dgm:spPr/>
    </dgm:pt>
  </dgm:ptLst>
  <dgm:cxnLst>
    <dgm:cxn modelId="{2168920C-1EFC-4490-BAD8-2EB89180EC00}" srcId="{870087EC-42CD-411C-8A4D-D56858228986}" destId="{405BEE8B-8BE0-4046-A454-F1F41CE41513}" srcOrd="2" destOrd="0" parTransId="{E8E7EF92-932D-4C11-AED5-BF0CB2FF97DE}" sibTransId="{8F67538B-6956-42FF-8B38-09DA225EE067}"/>
    <dgm:cxn modelId="{36E9AE3F-DD2D-4D66-A547-FE0C0D966444}" type="presOf" srcId="{F7389F4E-2176-447C-AD54-D1FC4FC4E8BB}" destId="{BB28A321-8F8B-4642-B5BC-E312876D9F63}" srcOrd="0" destOrd="0" presId="urn:microsoft.com/office/officeart/2005/8/layout/process2"/>
    <dgm:cxn modelId="{95F0EA7F-7EF2-4E19-B5BC-D929F663ED36}" type="presOf" srcId="{F7389F4E-2176-447C-AD54-D1FC4FC4E8BB}" destId="{2776E168-5AED-4475-8C0E-1C80D61A08B1}" srcOrd="1" destOrd="0" presId="urn:microsoft.com/office/officeart/2005/8/layout/process2"/>
    <dgm:cxn modelId="{E5E54487-200B-464C-B94B-52ACC78E0A6D}" type="presOf" srcId="{586D6CFF-91BF-4F9F-AFA6-B22973C6093C}" destId="{B4523219-5C83-4033-A764-5C39BE7DCCCA}" srcOrd="0" destOrd="0" presId="urn:microsoft.com/office/officeart/2005/8/layout/process2"/>
    <dgm:cxn modelId="{F0C1558F-CF31-4FD3-ACEE-1DBFBA2B93EE}" type="presOf" srcId="{870087EC-42CD-411C-8A4D-D56858228986}" destId="{7E3424C8-CCBD-45F9-847D-9A9D97F069A1}" srcOrd="0" destOrd="0" presId="urn:microsoft.com/office/officeart/2005/8/layout/process2"/>
    <dgm:cxn modelId="{AB3D949E-6F41-472B-9D64-48E8126A1C42}" type="presOf" srcId="{BCB8F491-235E-4005-BD38-DA7E7898EBB3}" destId="{3FA68E4A-1CF8-4F99-9EA6-7FF1B102E8C8}" srcOrd="0" destOrd="0" presId="urn:microsoft.com/office/officeart/2005/8/layout/process2"/>
    <dgm:cxn modelId="{06B1CAA2-1CD6-439E-B5F2-674330333AF6}" type="presOf" srcId="{16E00DD1-546A-418E-A96F-24A5D3DEFE08}" destId="{31A5ADA7-5BF6-49DA-8EBF-C83E744B0FBD}" srcOrd="1" destOrd="0" presId="urn:microsoft.com/office/officeart/2005/8/layout/process2"/>
    <dgm:cxn modelId="{2768BCAB-B803-4FA3-A516-50A506BDEFB6}" srcId="{870087EC-42CD-411C-8A4D-D56858228986}" destId="{BCB8F491-235E-4005-BD38-DA7E7898EBB3}" srcOrd="1" destOrd="0" parTransId="{F148CA92-58D1-499B-BE55-693BBEABF725}" sibTransId="{F7389F4E-2176-447C-AD54-D1FC4FC4E8BB}"/>
    <dgm:cxn modelId="{8EAA39D7-7241-4D7B-B50D-D86CA50F19F2}" type="presOf" srcId="{405BEE8B-8BE0-4046-A454-F1F41CE41513}" destId="{71FA92A8-7A07-4C21-8320-AF0D7CC80050}" srcOrd="0" destOrd="0" presId="urn:microsoft.com/office/officeart/2005/8/layout/process2"/>
    <dgm:cxn modelId="{FBC89CE4-2673-4AA6-9D6D-27B3BDAE3643}" srcId="{870087EC-42CD-411C-8A4D-D56858228986}" destId="{586D6CFF-91BF-4F9F-AFA6-B22973C6093C}" srcOrd="0" destOrd="0" parTransId="{96730F2F-2A47-41A0-8AA1-207CCE5CF6AC}" sibTransId="{16E00DD1-546A-418E-A96F-24A5D3DEFE08}"/>
    <dgm:cxn modelId="{C62F37F7-6264-4A53-BD1D-23592FDCC2C6}" type="presOf" srcId="{16E00DD1-546A-418E-A96F-24A5D3DEFE08}" destId="{D0336B42-F283-40AC-A406-25A3269E06A4}" srcOrd="0" destOrd="0" presId="urn:microsoft.com/office/officeart/2005/8/layout/process2"/>
    <dgm:cxn modelId="{5EBA410A-8584-4171-8960-50AA42F7A22F}" type="presParOf" srcId="{7E3424C8-CCBD-45F9-847D-9A9D97F069A1}" destId="{B4523219-5C83-4033-A764-5C39BE7DCCCA}" srcOrd="0" destOrd="0" presId="urn:microsoft.com/office/officeart/2005/8/layout/process2"/>
    <dgm:cxn modelId="{3390C31D-1AC3-404F-8E52-DA209D44F2C5}" type="presParOf" srcId="{7E3424C8-CCBD-45F9-847D-9A9D97F069A1}" destId="{D0336B42-F283-40AC-A406-25A3269E06A4}" srcOrd="1" destOrd="0" presId="urn:microsoft.com/office/officeart/2005/8/layout/process2"/>
    <dgm:cxn modelId="{FF0EBD4C-AAE4-4BEE-8790-68A591B3B97D}" type="presParOf" srcId="{D0336B42-F283-40AC-A406-25A3269E06A4}" destId="{31A5ADA7-5BF6-49DA-8EBF-C83E744B0FBD}" srcOrd="0" destOrd="0" presId="urn:microsoft.com/office/officeart/2005/8/layout/process2"/>
    <dgm:cxn modelId="{5224FE56-E6B4-4EAE-A4DD-7887A691F89D}" type="presParOf" srcId="{7E3424C8-CCBD-45F9-847D-9A9D97F069A1}" destId="{3FA68E4A-1CF8-4F99-9EA6-7FF1B102E8C8}" srcOrd="2" destOrd="0" presId="urn:microsoft.com/office/officeart/2005/8/layout/process2"/>
    <dgm:cxn modelId="{50E84400-4052-440B-A809-72BAB72BC297}" type="presParOf" srcId="{7E3424C8-CCBD-45F9-847D-9A9D97F069A1}" destId="{BB28A321-8F8B-4642-B5BC-E312876D9F63}" srcOrd="3" destOrd="0" presId="urn:microsoft.com/office/officeart/2005/8/layout/process2"/>
    <dgm:cxn modelId="{4653AFA2-F9EE-49D1-A251-529E7F872146}" type="presParOf" srcId="{BB28A321-8F8B-4642-B5BC-E312876D9F63}" destId="{2776E168-5AED-4475-8C0E-1C80D61A08B1}" srcOrd="0" destOrd="0" presId="urn:microsoft.com/office/officeart/2005/8/layout/process2"/>
    <dgm:cxn modelId="{C6C79405-3A16-4059-B84C-7A0BFB08ED56}" type="presParOf" srcId="{7E3424C8-CCBD-45F9-847D-9A9D97F069A1}" destId="{71FA92A8-7A07-4C21-8320-AF0D7CC80050}" srcOrd="4" destOrd="0" presId="urn:microsoft.com/office/officeart/2005/8/layout/process2"/>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70087EC-42CD-411C-8A4D-D56858228986}"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fr-FR"/>
        </a:p>
      </dgm:t>
    </dgm:pt>
    <dgm:pt modelId="{586D6CFF-91BF-4F9F-AFA6-B22973C6093C}">
      <dgm:prSet phldrT="[Texte]"/>
      <dgm:spPr>
        <a:solidFill>
          <a:srgbClr val="09253D"/>
        </a:solidFill>
      </dgm:spPr>
      <dgm:t>
        <a:bodyPr/>
        <a:lstStyle/>
        <a:p>
          <a:r>
            <a:rPr lang="fr-FR" dirty="0">
              <a:solidFill>
                <a:srgbClr val="42C5A5"/>
              </a:solidFill>
            </a:rPr>
            <a:t>1</a:t>
          </a:r>
        </a:p>
        <a:p>
          <a:r>
            <a:rPr lang="fr-FR" dirty="0"/>
            <a:t>Serveur Web contacte périodiquement la CA</a:t>
          </a:r>
        </a:p>
      </dgm:t>
    </dgm:pt>
    <dgm:pt modelId="{96730F2F-2A47-41A0-8AA1-207CCE5CF6AC}" type="parTrans" cxnId="{FBC89CE4-2673-4AA6-9D6D-27B3BDAE3643}">
      <dgm:prSet/>
      <dgm:spPr/>
      <dgm:t>
        <a:bodyPr/>
        <a:lstStyle/>
        <a:p>
          <a:endParaRPr lang="fr-FR"/>
        </a:p>
      </dgm:t>
    </dgm:pt>
    <dgm:pt modelId="{16E00DD1-546A-418E-A96F-24A5D3DEFE08}" type="sibTrans" cxnId="{FBC89CE4-2673-4AA6-9D6D-27B3BDAE3643}">
      <dgm:prSet/>
      <dgm:spPr>
        <a:solidFill>
          <a:srgbClr val="42C5A5"/>
        </a:solidFill>
      </dgm:spPr>
      <dgm:t>
        <a:bodyPr/>
        <a:lstStyle/>
        <a:p>
          <a:endParaRPr lang="fr-FR"/>
        </a:p>
      </dgm:t>
    </dgm:pt>
    <dgm:pt modelId="{BCB8F491-235E-4005-BD38-DA7E7898EBB3}">
      <dgm:prSet phldrT="[Texte]"/>
      <dgm:spPr>
        <a:solidFill>
          <a:srgbClr val="09253D"/>
        </a:solidFill>
      </dgm:spPr>
      <dgm:t>
        <a:bodyPr/>
        <a:lstStyle/>
        <a:p>
          <a:r>
            <a:rPr lang="fr-FR" dirty="0">
              <a:solidFill>
                <a:srgbClr val="42C5A5"/>
              </a:solidFill>
            </a:rPr>
            <a:t>2</a:t>
          </a:r>
        </a:p>
        <a:p>
          <a:r>
            <a:rPr lang="fr-FR" dirty="0"/>
            <a:t>Mise en cache de la réponse OSCP par le serveur Web</a:t>
          </a:r>
        </a:p>
      </dgm:t>
    </dgm:pt>
    <dgm:pt modelId="{F148CA92-58D1-499B-BE55-693BBEABF725}" type="parTrans" cxnId="{2768BCAB-B803-4FA3-A516-50A506BDEFB6}">
      <dgm:prSet/>
      <dgm:spPr/>
      <dgm:t>
        <a:bodyPr/>
        <a:lstStyle/>
        <a:p>
          <a:endParaRPr lang="fr-FR"/>
        </a:p>
      </dgm:t>
    </dgm:pt>
    <dgm:pt modelId="{F7389F4E-2176-447C-AD54-D1FC4FC4E8BB}" type="sibTrans" cxnId="{2768BCAB-B803-4FA3-A516-50A506BDEFB6}">
      <dgm:prSet/>
      <dgm:spPr>
        <a:solidFill>
          <a:srgbClr val="42C5A5"/>
        </a:solidFill>
      </dgm:spPr>
      <dgm:t>
        <a:bodyPr/>
        <a:lstStyle/>
        <a:p>
          <a:endParaRPr lang="fr-FR"/>
        </a:p>
      </dgm:t>
    </dgm:pt>
    <dgm:pt modelId="{405BEE8B-8BE0-4046-A454-F1F41CE41513}">
      <dgm:prSet phldrT="[Texte]"/>
      <dgm:spPr>
        <a:solidFill>
          <a:srgbClr val="09253D"/>
        </a:solidFill>
      </dgm:spPr>
      <dgm:t>
        <a:bodyPr/>
        <a:lstStyle/>
        <a:p>
          <a:r>
            <a:rPr lang="fr-FR" dirty="0">
              <a:solidFill>
                <a:srgbClr val="42C5A5"/>
              </a:solidFill>
            </a:rPr>
            <a:t>3</a:t>
          </a:r>
        </a:p>
        <a:p>
          <a:r>
            <a:rPr lang="fr-FR" dirty="0"/>
            <a:t>Agrafage de la réponse OSCP pour chaque connexion SSL/TLS </a:t>
          </a:r>
        </a:p>
      </dgm:t>
    </dgm:pt>
    <dgm:pt modelId="{E8E7EF92-932D-4C11-AED5-BF0CB2FF97DE}" type="parTrans" cxnId="{2168920C-1EFC-4490-BAD8-2EB89180EC00}">
      <dgm:prSet/>
      <dgm:spPr/>
      <dgm:t>
        <a:bodyPr/>
        <a:lstStyle/>
        <a:p>
          <a:endParaRPr lang="fr-FR"/>
        </a:p>
      </dgm:t>
    </dgm:pt>
    <dgm:pt modelId="{8F67538B-6956-42FF-8B38-09DA225EE067}" type="sibTrans" cxnId="{2168920C-1EFC-4490-BAD8-2EB89180EC00}">
      <dgm:prSet/>
      <dgm:spPr/>
      <dgm:t>
        <a:bodyPr/>
        <a:lstStyle/>
        <a:p>
          <a:endParaRPr lang="fr-FR"/>
        </a:p>
      </dgm:t>
    </dgm:pt>
    <dgm:pt modelId="{7E3424C8-CCBD-45F9-847D-9A9D97F069A1}" type="pres">
      <dgm:prSet presAssocID="{870087EC-42CD-411C-8A4D-D56858228986}" presName="linearFlow" presStyleCnt="0">
        <dgm:presLayoutVars>
          <dgm:resizeHandles val="exact"/>
        </dgm:presLayoutVars>
      </dgm:prSet>
      <dgm:spPr/>
    </dgm:pt>
    <dgm:pt modelId="{B4523219-5C83-4033-A764-5C39BE7DCCCA}" type="pres">
      <dgm:prSet presAssocID="{586D6CFF-91BF-4F9F-AFA6-B22973C6093C}" presName="node" presStyleLbl="node1" presStyleIdx="0" presStyleCnt="3">
        <dgm:presLayoutVars>
          <dgm:bulletEnabled val="1"/>
        </dgm:presLayoutVars>
      </dgm:prSet>
      <dgm:spPr/>
    </dgm:pt>
    <dgm:pt modelId="{D0336B42-F283-40AC-A406-25A3269E06A4}" type="pres">
      <dgm:prSet presAssocID="{16E00DD1-546A-418E-A96F-24A5D3DEFE08}" presName="sibTrans" presStyleLbl="sibTrans2D1" presStyleIdx="0" presStyleCnt="2"/>
      <dgm:spPr/>
    </dgm:pt>
    <dgm:pt modelId="{31A5ADA7-5BF6-49DA-8EBF-C83E744B0FBD}" type="pres">
      <dgm:prSet presAssocID="{16E00DD1-546A-418E-A96F-24A5D3DEFE08}" presName="connectorText" presStyleLbl="sibTrans2D1" presStyleIdx="0" presStyleCnt="2"/>
      <dgm:spPr/>
    </dgm:pt>
    <dgm:pt modelId="{3FA68E4A-1CF8-4F99-9EA6-7FF1B102E8C8}" type="pres">
      <dgm:prSet presAssocID="{BCB8F491-235E-4005-BD38-DA7E7898EBB3}" presName="node" presStyleLbl="node1" presStyleIdx="1" presStyleCnt="3">
        <dgm:presLayoutVars>
          <dgm:bulletEnabled val="1"/>
        </dgm:presLayoutVars>
      </dgm:prSet>
      <dgm:spPr/>
    </dgm:pt>
    <dgm:pt modelId="{BB28A321-8F8B-4642-B5BC-E312876D9F63}" type="pres">
      <dgm:prSet presAssocID="{F7389F4E-2176-447C-AD54-D1FC4FC4E8BB}" presName="sibTrans" presStyleLbl="sibTrans2D1" presStyleIdx="1" presStyleCnt="2"/>
      <dgm:spPr/>
    </dgm:pt>
    <dgm:pt modelId="{2776E168-5AED-4475-8C0E-1C80D61A08B1}" type="pres">
      <dgm:prSet presAssocID="{F7389F4E-2176-447C-AD54-D1FC4FC4E8BB}" presName="connectorText" presStyleLbl="sibTrans2D1" presStyleIdx="1" presStyleCnt="2"/>
      <dgm:spPr/>
    </dgm:pt>
    <dgm:pt modelId="{71FA92A8-7A07-4C21-8320-AF0D7CC80050}" type="pres">
      <dgm:prSet presAssocID="{405BEE8B-8BE0-4046-A454-F1F41CE41513}" presName="node" presStyleLbl="node1" presStyleIdx="2" presStyleCnt="3">
        <dgm:presLayoutVars>
          <dgm:bulletEnabled val="1"/>
        </dgm:presLayoutVars>
      </dgm:prSet>
      <dgm:spPr/>
    </dgm:pt>
  </dgm:ptLst>
  <dgm:cxnLst>
    <dgm:cxn modelId="{2168920C-1EFC-4490-BAD8-2EB89180EC00}" srcId="{870087EC-42CD-411C-8A4D-D56858228986}" destId="{405BEE8B-8BE0-4046-A454-F1F41CE41513}" srcOrd="2" destOrd="0" parTransId="{E8E7EF92-932D-4C11-AED5-BF0CB2FF97DE}" sibTransId="{8F67538B-6956-42FF-8B38-09DA225EE067}"/>
    <dgm:cxn modelId="{36E9AE3F-DD2D-4D66-A547-FE0C0D966444}" type="presOf" srcId="{F7389F4E-2176-447C-AD54-D1FC4FC4E8BB}" destId="{BB28A321-8F8B-4642-B5BC-E312876D9F63}" srcOrd="0" destOrd="0" presId="urn:microsoft.com/office/officeart/2005/8/layout/process2"/>
    <dgm:cxn modelId="{95F0EA7F-7EF2-4E19-B5BC-D929F663ED36}" type="presOf" srcId="{F7389F4E-2176-447C-AD54-D1FC4FC4E8BB}" destId="{2776E168-5AED-4475-8C0E-1C80D61A08B1}" srcOrd="1" destOrd="0" presId="urn:microsoft.com/office/officeart/2005/8/layout/process2"/>
    <dgm:cxn modelId="{E5E54487-200B-464C-B94B-52ACC78E0A6D}" type="presOf" srcId="{586D6CFF-91BF-4F9F-AFA6-B22973C6093C}" destId="{B4523219-5C83-4033-A764-5C39BE7DCCCA}" srcOrd="0" destOrd="0" presId="urn:microsoft.com/office/officeart/2005/8/layout/process2"/>
    <dgm:cxn modelId="{F0C1558F-CF31-4FD3-ACEE-1DBFBA2B93EE}" type="presOf" srcId="{870087EC-42CD-411C-8A4D-D56858228986}" destId="{7E3424C8-CCBD-45F9-847D-9A9D97F069A1}" srcOrd="0" destOrd="0" presId="urn:microsoft.com/office/officeart/2005/8/layout/process2"/>
    <dgm:cxn modelId="{AB3D949E-6F41-472B-9D64-48E8126A1C42}" type="presOf" srcId="{BCB8F491-235E-4005-BD38-DA7E7898EBB3}" destId="{3FA68E4A-1CF8-4F99-9EA6-7FF1B102E8C8}" srcOrd="0" destOrd="0" presId="urn:microsoft.com/office/officeart/2005/8/layout/process2"/>
    <dgm:cxn modelId="{06B1CAA2-1CD6-439E-B5F2-674330333AF6}" type="presOf" srcId="{16E00DD1-546A-418E-A96F-24A5D3DEFE08}" destId="{31A5ADA7-5BF6-49DA-8EBF-C83E744B0FBD}" srcOrd="1" destOrd="0" presId="urn:microsoft.com/office/officeart/2005/8/layout/process2"/>
    <dgm:cxn modelId="{2768BCAB-B803-4FA3-A516-50A506BDEFB6}" srcId="{870087EC-42CD-411C-8A4D-D56858228986}" destId="{BCB8F491-235E-4005-BD38-DA7E7898EBB3}" srcOrd="1" destOrd="0" parTransId="{F148CA92-58D1-499B-BE55-693BBEABF725}" sibTransId="{F7389F4E-2176-447C-AD54-D1FC4FC4E8BB}"/>
    <dgm:cxn modelId="{8EAA39D7-7241-4D7B-B50D-D86CA50F19F2}" type="presOf" srcId="{405BEE8B-8BE0-4046-A454-F1F41CE41513}" destId="{71FA92A8-7A07-4C21-8320-AF0D7CC80050}" srcOrd="0" destOrd="0" presId="urn:microsoft.com/office/officeart/2005/8/layout/process2"/>
    <dgm:cxn modelId="{FBC89CE4-2673-4AA6-9D6D-27B3BDAE3643}" srcId="{870087EC-42CD-411C-8A4D-D56858228986}" destId="{586D6CFF-91BF-4F9F-AFA6-B22973C6093C}" srcOrd="0" destOrd="0" parTransId="{96730F2F-2A47-41A0-8AA1-207CCE5CF6AC}" sibTransId="{16E00DD1-546A-418E-A96F-24A5D3DEFE08}"/>
    <dgm:cxn modelId="{C62F37F7-6264-4A53-BD1D-23592FDCC2C6}" type="presOf" srcId="{16E00DD1-546A-418E-A96F-24A5D3DEFE08}" destId="{D0336B42-F283-40AC-A406-25A3269E06A4}" srcOrd="0" destOrd="0" presId="urn:microsoft.com/office/officeart/2005/8/layout/process2"/>
    <dgm:cxn modelId="{5EBA410A-8584-4171-8960-50AA42F7A22F}" type="presParOf" srcId="{7E3424C8-CCBD-45F9-847D-9A9D97F069A1}" destId="{B4523219-5C83-4033-A764-5C39BE7DCCCA}" srcOrd="0" destOrd="0" presId="urn:microsoft.com/office/officeart/2005/8/layout/process2"/>
    <dgm:cxn modelId="{3390C31D-1AC3-404F-8E52-DA209D44F2C5}" type="presParOf" srcId="{7E3424C8-CCBD-45F9-847D-9A9D97F069A1}" destId="{D0336B42-F283-40AC-A406-25A3269E06A4}" srcOrd="1" destOrd="0" presId="urn:microsoft.com/office/officeart/2005/8/layout/process2"/>
    <dgm:cxn modelId="{FF0EBD4C-AAE4-4BEE-8790-68A591B3B97D}" type="presParOf" srcId="{D0336B42-F283-40AC-A406-25A3269E06A4}" destId="{31A5ADA7-5BF6-49DA-8EBF-C83E744B0FBD}" srcOrd="0" destOrd="0" presId="urn:microsoft.com/office/officeart/2005/8/layout/process2"/>
    <dgm:cxn modelId="{5224FE56-E6B4-4EAE-A4DD-7887A691F89D}" type="presParOf" srcId="{7E3424C8-CCBD-45F9-847D-9A9D97F069A1}" destId="{3FA68E4A-1CF8-4F99-9EA6-7FF1B102E8C8}" srcOrd="2" destOrd="0" presId="urn:microsoft.com/office/officeart/2005/8/layout/process2"/>
    <dgm:cxn modelId="{50E84400-4052-440B-A809-72BAB72BC297}" type="presParOf" srcId="{7E3424C8-CCBD-45F9-847D-9A9D97F069A1}" destId="{BB28A321-8F8B-4642-B5BC-E312876D9F63}" srcOrd="3" destOrd="0" presId="urn:microsoft.com/office/officeart/2005/8/layout/process2"/>
    <dgm:cxn modelId="{4653AFA2-F9EE-49D1-A251-529E7F872146}" type="presParOf" srcId="{BB28A321-8F8B-4642-B5BC-E312876D9F63}" destId="{2776E168-5AED-4475-8C0E-1C80D61A08B1}" srcOrd="0" destOrd="0" presId="urn:microsoft.com/office/officeart/2005/8/layout/process2"/>
    <dgm:cxn modelId="{C6C79405-3A16-4059-B84C-7A0BFB08ED56}" type="presParOf" srcId="{7E3424C8-CCBD-45F9-847D-9A9D97F069A1}" destId="{71FA92A8-7A07-4C21-8320-AF0D7CC80050}" srcOrd="4" destOrd="0" presId="urn:microsoft.com/office/officeart/2005/8/layout/process2"/>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766CE63-4E3A-4F5B-A7B5-68F317599E90}"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fr-FR"/>
        </a:p>
      </dgm:t>
    </dgm:pt>
    <dgm:pt modelId="{AE39F384-C2BB-4328-B0AD-DCF931E7843B}">
      <dgm:prSet phldrT="[Texte]"/>
      <dgm:spPr>
        <a:solidFill>
          <a:srgbClr val="09253D"/>
        </a:solidFill>
        <a:ln>
          <a:solidFill>
            <a:srgbClr val="09253D"/>
          </a:solidFill>
        </a:ln>
      </dgm:spPr>
      <dgm:t>
        <a:bodyPr/>
        <a:lstStyle/>
        <a:p>
          <a:r>
            <a:rPr lang="fr-FR" dirty="0"/>
            <a:t>Root CA</a:t>
          </a:r>
        </a:p>
      </dgm:t>
    </dgm:pt>
    <dgm:pt modelId="{0B87A5E7-0C38-4F3E-8667-427241217969}" type="parTrans" cxnId="{F3F35EA0-3362-4B63-ABC5-D817A50BCC6C}">
      <dgm:prSet/>
      <dgm:spPr/>
      <dgm:t>
        <a:bodyPr/>
        <a:lstStyle/>
        <a:p>
          <a:endParaRPr lang="fr-FR"/>
        </a:p>
      </dgm:t>
    </dgm:pt>
    <dgm:pt modelId="{CF864557-7F8C-4E4D-91B3-B29F3FB77760}" type="sibTrans" cxnId="{F3F35EA0-3362-4B63-ABC5-D817A50BCC6C}">
      <dgm:prSet/>
      <dgm:spPr/>
      <dgm:t>
        <a:bodyPr/>
        <a:lstStyle/>
        <a:p>
          <a:endParaRPr lang="fr-FR"/>
        </a:p>
      </dgm:t>
    </dgm:pt>
    <dgm:pt modelId="{5593F223-CD52-4190-9843-6A96F051C990}" type="asst">
      <dgm:prSet phldrT="[Texte]"/>
      <dgm:spPr>
        <a:solidFill>
          <a:srgbClr val="42C5A5"/>
        </a:solidFill>
        <a:ln>
          <a:solidFill>
            <a:srgbClr val="42C5A5"/>
          </a:solidFill>
        </a:ln>
      </dgm:spPr>
      <dgm:t>
        <a:bodyPr/>
        <a:lstStyle/>
        <a:p>
          <a:r>
            <a:rPr lang="fr-FR" dirty="0" err="1"/>
            <a:t>Intermediate</a:t>
          </a:r>
          <a:r>
            <a:rPr lang="fr-FR" dirty="0"/>
            <a:t> CA</a:t>
          </a:r>
        </a:p>
      </dgm:t>
    </dgm:pt>
    <dgm:pt modelId="{FC6FF3D5-E681-4D8F-A7BF-671784A59A09}" type="parTrans" cxnId="{7BEF14EA-7E48-4B55-AADB-1C1B17379315}">
      <dgm:prSet/>
      <dgm:spPr>
        <a:solidFill>
          <a:srgbClr val="09253D"/>
        </a:solidFill>
        <a:ln>
          <a:solidFill>
            <a:srgbClr val="09253D"/>
          </a:solidFill>
        </a:ln>
      </dgm:spPr>
      <dgm:t>
        <a:bodyPr/>
        <a:lstStyle/>
        <a:p>
          <a:endParaRPr lang="fr-FR"/>
        </a:p>
      </dgm:t>
    </dgm:pt>
    <dgm:pt modelId="{D75B947A-0EBA-47C5-A1E0-624857F953CA}" type="sibTrans" cxnId="{7BEF14EA-7E48-4B55-AADB-1C1B17379315}">
      <dgm:prSet/>
      <dgm:spPr/>
      <dgm:t>
        <a:bodyPr/>
        <a:lstStyle/>
        <a:p>
          <a:endParaRPr lang="fr-FR"/>
        </a:p>
      </dgm:t>
    </dgm:pt>
    <dgm:pt modelId="{CB110124-B792-4D72-ADD1-8600E44E6697}">
      <dgm:prSet phldrT="[Texte]"/>
      <dgm:spPr>
        <a:solidFill>
          <a:srgbClr val="898989"/>
        </a:solidFill>
        <a:ln>
          <a:solidFill>
            <a:srgbClr val="898989"/>
          </a:solidFill>
        </a:ln>
      </dgm:spPr>
      <dgm:t>
        <a:bodyPr/>
        <a:lstStyle/>
        <a:p>
          <a:r>
            <a:rPr lang="fr-FR" dirty="0" err="1"/>
            <a:t>Leaf</a:t>
          </a:r>
          <a:r>
            <a:rPr lang="fr-FR" dirty="0"/>
            <a:t> </a:t>
          </a:r>
          <a:r>
            <a:rPr lang="fr-FR" dirty="0" err="1"/>
            <a:t>Certificate</a:t>
          </a:r>
          <a:endParaRPr lang="fr-FR" dirty="0"/>
        </a:p>
        <a:p>
          <a:r>
            <a:rPr lang="fr-FR" dirty="0"/>
            <a:t>(Server)</a:t>
          </a:r>
        </a:p>
      </dgm:t>
    </dgm:pt>
    <dgm:pt modelId="{3D6E3F7B-88B5-4EBD-A706-C4E286156759}" type="parTrans" cxnId="{CAF14F66-DE72-4ED0-A834-591839514C91}">
      <dgm:prSet/>
      <dgm:spPr>
        <a:solidFill>
          <a:srgbClr val="09253D"/>
        </a:solidFill>
        <a:ln>
          <a:solidFill>
            <a:srgbClr val="09253D"/>
          </a:solidFill>
        </a:ln>
      </dgm:spPr>
      <dgm:t>
        <a:bodyPr/>
        <a:lstStyle/>
        <a:p>
          <a:endParaRPr lang="fr-FR"/>
        </a:p>
      </dgm:t>
    </dgm:pt>
    <dgm:pt modelId="{4FC7AEB3-D798-4DF8-8C2F-AC9F081E82A9}" type="sibTrans" cxnId="{CAF14F66-DE72-4ED0-A834-591839514C91}">
      <dgm:prSet/>
      <dgm:spPr/>
      <dgm:t>
        <a:bodyPr/>
        <a:lstStyle/>
        <a:p>
          <a:endParaRPr lang="fr-FR"/>
        </a:p>
      </dgm:t>
    </dgm:pt>
    <dgm:pt modelId="{78C02A9B-195F-4158-931F-37A2D0AC3258}">
      <dgm:prSet phldrT="[Texte]"/>
      <dgm:spPr>
        <a:solidFill>
          <a:srgbClr val="898989"/>
        </a:solidFill>
        <a:ln>
          <a:solidFill>
            <a:srgbClr val="898989"/>
          </a:solidFill>
        </a:ln>
      </dgm:spPr>
      <dgm:t>
        <a:bodyPr/>
        <a:lstStyle/>
        <a:p>
          <a:r>
            <a:rPr lang="fr-FR" dirty="0" err="1"/>
            <a:t>Leaf</a:t>
          </a:r>
          <a:r>
            <a:rPr lang="fr-FR" dirty="0"/>
            <a:t> </a:t>
          </a:r>
          <a:r>
            <a:rPr lang="fr-FR" dirty="0" err="1"/>
            <a:t>Certificate</a:t>
          </a:r>
          <a:endParaRPr lang="fr-FR" dirty="0"/>
        </a:p>
        <a:p>
          <a:r>
            <a:rPr lang="fr-FR" dirty="0"/>
            <a:t>(Server)</a:t>
          </a:r>
        </a:p>
      </dgm:t>
    </dgm:pt>
    <dgm:pt modelId="{8A181EBC-6498-4D56-B463-F8D4C683B5A1}" type="parTrans" cxnId="{D7251688-6E3E-4937-A57B-8DF334B6F94D}">
      <dgm:prSet/>
      <dgm:spPr>
        <a:solidFill>
          <a:srgbClr val="09253D"/>
        </a:solidFill>
        <a:ln>
          <a:solidFill>
            <a:srgbClr val="09253D"/>
          </a:solidFill>
        </a:ln>
      </dgm:spPr>
      <dgm:t>
        <a:bodyPr/>
        <a:lstStyle/>
        <a:p>
          <a:endParaRPr lang="fr-FR"/>
        </a:p>
      </dgm:t>
    </dgm:pt>
    <dgm:pt modelId="{1854F9EB-6713-49FC-983C-AD8E8C3A6FF6}" type="sibTrans" cxnId="{D7251688-6E3E-4937-A57B-8DF334B6F94D}">
      <dgm:prSet/>
      <dgm:spPr/>
      <dgm:t>
        <a:bodyPr/>
        <a:lstStyle/>
        <a:p>
          <a:endParaRPr lang="fr-FR"/>
        </a:p>
      </dgm:t>
    </dgm:pt>
    <dgm:pt modelId="{D47B70E9-CF16-4E71-A78C-7B7F3073FF5D}" type="asst">
      <dgm:prSet phldrT="[Texte]"/>
      <dgm:spPr>
        <a:solidFill>
          <a:srgbClr val="42C5A5"/>
        </a:solidFill>
        <a:ln>
          <a:solidFill>
            <a:srgbClr val="42C5A5"/>
          </a:solidFill>
        </a:ln>
      </dgm:spPr>
      <dgm:t>
        <a:bodyPr/>
        <a:lstStyle/>
        <a:p>
          <a:r>
            <a:rPr lang="fr-FR" dirty="0" err="1"/>
            <a:t>Intermediate</a:t>
          </a:r>
          <a:r>
            <a:rPr lang="fr-FR" dirty="0"/>
            <a:t> CA</a:t>
          </a:r>
        </a:p>
      </dgm:t>
    </dgm:pt>
    <dgm:pt modelId="{BE60C936-BEEB-42D4-AFCC-6B33BAD35100}" type="parTrans" cxnId="{84EA7DFB-1F94-479E-B232-F72921C43E97}">
      <dgm:prSet/>
      <dgm:spPr>
        <a:solidFill>
          <a:srgbClr val="09253D"/>
        </a:solidFill>
        <a:ln>
          <a:solidFill>
            <a:srgbClr val="09253D"/>
          </a:solidFill>
        </a:ln>
      </dgm:spPr>
      <dgm:t>
        <a:bodyPr/>
        <a:lstStyle/>
        <a:p>
          <a:endParaRPr lang="fr-FR"/>
        </a:p>
      </dgm:t>
    </dgm:pt>
    <dgm:pt modelId="{B7AC41B8-0371-4F18-AACE-206A76E16968}" type="sibTrans" cxnId="{84EA7DFB-1F94-479E-B232-F72921C43E97}">
      <dgm:prSet/>
      <dgm:spPr/>
      <dgm:t>
        <a:bodyPr/>
        <a:lstStyle/>
        <a:p>
          <a:endParaRPr lang="fr-FR"/>
        </a:p>
      </dgm:t>
    </dgm:pt>
    <dgm:pt modelId="{9C9CD4F5-E14E-412C-AA8C-DAA60E3AB85C}" type="asst">
      <dgm:prSet phldrT="[Texte]"/>
      <dgm:spPr>
        <a:solidFill>
          <a:srgbClr val="898989"/>
        </a:solidFill>
        <a:ln>
          <a:solidFill>
            <a:srgbClr val="898989"/>
          </a:solidFill>
        </a:ln>
      </dgm:spPr>
      <dgm:t>
        <a:bodyPr/>
        <a:lstStyle/>
        <a:p>
          <a:r>
            <a:rPr lang="fr-FR" dirty="0" err="1"/>
            <a:t>Leaf</a:t>
          </a:r>
          <a:r>
            <a:rPr lang="fr-FR" dirty="0"/>
            <a:t> </a:t>
          </a:r>
          <a:r>
            <a:rPr lang="fr-FR" dirty="0" err="1"/>
            <a:t>Certificate</a:t>
          </a:r>
          <a:endParaRPr lang="fr-FR" dirty="0"/>
        </a:p>
        <a:p>
          <a:r>
            <a:rPr lang="fr-FR" dirty="0"/>
            <a:t>(Server)</a:t>
          </a:r>
        </a:p>
      </dgm:t>
    </dgm:pt>
    <dgm:pt modelId="{EB9FB50C-9919-4623-BFF3-C99E6AD7B160}" type="parTrans" cxnId="{04F536F0-2613-46D5-9D7B-AF14FA07EAF5}">
      <dgm:prSet/>
      <dgm:spPr>
        <a:solidFill>
          <a:srgbClr val="09253D"/>
        </a:solidFill>
        <a:ln>
          <a:solidFill>
            <a:srgbClr val="09253D"/>
          </a:solidFill>
        </a:ln>
      </dgm:spPr>
      <dgm:t>
        <a:bodyPr/>
        <a:lstStyle/>
        <a:p>
          <a:endParaRPr lang="fr-FR"/>
        </a:p>
      </dgm:t>
    </dgm:pt>
    <dgm:pt modelId="{6C2427DF-EC1B-46D5-8FD2-4DAED853436E}" type="sibTrans" cxnId="{04F536F0-2613-46D5-9D7B-AF14FA07EAF5}">
      <dgm:prSet/>
      <dgm:spPr/>
      <dgm:t>
        <a:bodyPr/>
        <a:lstStyle/>
        <a:p>
          <a:endParaRPr lang="fr-FR"/>
        </a:p>
      </dgm:t>
    </dgm:pt>
    <dgm:pt modelId="{704EBB4F-7DAC-4FDC-9BF1-4FDF18BB0C2D}" type="pres">
      <dgm:prSet presAssocID="{B766CE63-4E3A-4F5B-A7B5-68F317599E90}" presName="hierChild1" presStyleCnt="0">
        <dgm:presLayoutVars>
          <dgm:orgChart val="1"/>
          <dgm:chPref val="1"/>
          <dgm:dir/>
          <dgm:animOne val="branch"/>
          <dgm:animLvl val="lvl"/>
          <dgm:resizeHandles/>
        </dgm:presLayoutVars>
      </dgm:prSet>
      <dgm:spPr/>
    </dgm:pt>
    <dgm:pt modelId="{A751E860-C143-4692-AB61-6A84712D57E3}" type="pres">
      <dgm:prSet presAssocID="{AE39F384-C2BB-4328-B0AD-DCF931E7843B}" presName="hierRoot1" presStyleCnt="0">
        <dgm:presLayoutVars>
          <dgm:hierBranch val="init"/>
        </dgm:presLayoutVars>
      </dgm:prSet>
      <dgm:spPr/>
    </dgm:pt>
    <dgm:pt modelId="{48603553-08CB-4384-84DB-2AEC60C61497}" type="pres">
      <dgm:prSet presAssocID="{AE39F384-C2BB-4328-B0AD-DCF931E7843B}" presName="rootComposite1" presStyleCnt="0"/>
      <dgm:spPr/>
    </dgm:pt>
    <dgm:pt modelId="{A0D47CC2-8051-42D1-8016-C537B2A92B79}" type="pres">
      <dgm:prSet presAssocID="{AE39F384-C2BB-4328-B0AD-DCF931E7843B}" presName="rootText1" presStyleLbl="node0" presStyleIdx="0" presStyleCnt="1">
        <dgm:presLayoutVars>
          <dgm:chPref val="3"/>
        </dgm:presLayoutVars>
      </dgm:prSet>
      <dgm:spPr/>
    </dgm:pt>
    <dgm:pt modelId="{399A1AC9-1036-4956-90D6-0FB0A0F738C2}" type="pres">
      <dgm:prSet presAssocID="{AE39F384-C2BB-4328-B0AD-DCF931E7843B}" presName="rootConnector1" presStyleLbl="node1" presStyleIdx="0" presStyleCnt="0"/>
      <dgm:spPr/>
    </dgm:pt>
    <dgm:pt modelId="{4F2C8058-825D-41FE-98A3-705A1D784B06}" type="pres">
      <dgm:prSet presAssocID="{AE39F384-C2BB-4328-B0AD-DCF931E7843B}" presName="hierChild2" presStyleCnt="0"/>
      <dgm:spPr/>
    </dgm:pt>
    <dgm:pt modelId="{964349BA-B98E-4BEC-B32A-A4C821D7E4A4}" type="pres">
      <dgm:prSet presAssocID="{AE39F384-C2BB-4328-B0AD-DCF931E7843B}" presName="hierChild3" presStyleCnt="0"/>
      <dgm:spPr/>
    </dgm:pt>
    <dgm:pt modelId="{336E88CA-9C9D-49CE-8C2E-43CA6A51FB3E}" type="pres">
      <dgm:prSet presAssocID="{FC6FF3D5-E681-4D8F-A7BF-671784A59A09}" presName="Name111" presStyleLbl="parChTrans1D2" presStyleIdx="0" presStyleCnt="2"/>
      <dgm:spPr/>
    </dgm:pt>
    <dgm:pt modelId="{11D1B3AB-D520-490F-B259-C80AFB4B2832}" type="pres">
      <dgm:prSet presAssocID="{5593F223-CD52-4190-9843-6A96F051C990}" presName="hierRoot3" presStyleCnt="0">
        <dgm:presLayoutVars>
          <dgm:hierBranch val="init"/>
        </dgm:presLayoutVars>
      </dgm:prSet>
      <dgm:spPr/>
    </dgm:pt>
    <dgm:pt modelId="{87C9C608-62E3-455A-BFFF-BC60714B600D}" type="pres">
      <dgm:prSet presAssocID="{5593F223-CD52-4190-9843-6A96F051C990}" presName="rootComposite3" presStyleCnt="0"/>
      <dgm:spPr/>
    </dgm:pt>
    <dgm:pt modelId="{20E86441-86FA-40EB-BF3C-0856A0D2612A}" type="pres">
      <dgm:prSet presAssocID="{5593F223-CD52-4190-9843-6A96F051C990}" presName="rootText3" presStyleLbl="asst1" presStyleIdx="0" presStyleCnt="3">
        <dgm:presLayoutVars>
          <dgm:chPref val="3"/>
        </dgm:presLayoutVars>
      </dgm:prSet>
      <dgm:spPr/>
    </dgm:pt>
    <dgm:pt modelId="{8341B207-14F5-442D-8D4D-E827D458C96F}" type="pres">
      <dgm:prSet presAssocID="{5593F223-CD52-4190-9843-6A96F051C990}" presName="rootConnector3" presStyleLbl="asst1" presStyleIdx="0" presStyleCnt="3"/>
      <dgm:spPr/>
    </dgm:pt>
    <dgm:pt modelId="{D238D6E7-9547-46C3-B286-8133782FFA55}" type="pres">
      <dgm:prSet presAssocID="{5593F223-CD52-4190-9843-6A96F051C990}" presName="hierChild6" presStyleCnt="0"/>
      <dgm:spPr/>
    </dgm:pt>
    <dgm:pt modelId="{5566B03D-57F2-4E85-BBAD-27D1B29A0DC1}" type="pres">
      <dgm:prSet presAssocID="{5593F223-CD52-4190-9843-6A96F051C990}" presName="hierChild7" presStyleCnt="0"/>
      <dgm:spPr/>
    </dgm:pt>
    <dgm:pt modelId="{3EB34524-1BC4-4529-8BEA-CA5F121F2A8D}" type="pres">
      <dgm:prSet presAssocID="{EB9FB50C-9919-4623-BFF3-C99E6AD7B160}" presName="Name111" presStyleLbl="parChTrans1D3" presStyleIdx="0" presStyleCnt="3"/>
      <dgm:spPr/>
    </dgm:pt>
    <dgm:pt modelId="{8F99763D-75D5-4A2D-A847-D74BC9761354}" type="pres">
      <dgm:prSet presAssocID="{9C9CD4F5-E14E-412C-AA8C-DAA60E3AB85C}" presName="hierRoot3" presStyleCnt="0">
        <dgm:presLayoutVars>
          <dgm:hierBranch val="init"/>
        </dgm:presLayoutVars>
      </dgm:prSet>
      <dgm:spPr/>
    </dgm:pt>
    <dgm:pt modelId="{FE69AEF7-4DD4-475F-A99A-6E4768CF1DDF}" type="pres">
      <dgm:prSet presAssocID="{9C9CD4F5-E14E-412C-AA8C-DAA60E3AB85C}" presName="rootComposite3" presStyleCnt="0"/>
      <dgm:spPr/>
    </dgm:pt>
    <dgm:pt modelId="{5E8501C8-4C78-489E-B837-71D953F0029A}" type="pres">
      <dgm:prSet presAssocID="{9C9CD4F5-E14E-412C-AA8C-DAA60E3AB85C}" presName="rootText3" presStyleLbl="asst1" presStyleIdx="1" presStyleCnt="3">
        <dgm:presLayoutVars>
          <dgm:chPref val="3"/>
        </dgm:presLayoutVars>
      </dgm:prSet>
      <dgm:spPr/>
    </dgm:pt>
    <dgm:pt modelId="{ECD17A90-BB10-4E08-8B21-0D350E37BBA2}" type="pres">
      <dgm:prSet presAssocID="{9C9CD4F5-E14E-412C-AA8C-DAA60E3AB85C}" presName="rootConnector3" presStyleLbl="asst1" presStyleIdx="1" presStyleCnt="3"/>
      <dgm:spPr/>
    </dgm:pt>
    <dgm:pt modelId="{E44A88F5-29B5-4BBF-AAAD-30A5D106FAB5}" type="pres">
      <dgm:prSet presAssocID="{9C9CD4F5-E14E-412C-AA8C-DAA60E3AB85C}" presName="hierChild6" presStyleCnt="0"/>
      <dgm:spPr/>
    </dgm:pt>
    <dgm:pt modelId="{0EAE22A5-FA85-4C87-932A-9B7B7B9C13DF}" type="pres">
      <dgm:prSet presAssocID="{9C9CD4F5-E14E-412C-AA8C-DAA60E3AB85C}" presName="hierChild7" presStyleCnt="0"/>
      <dgm:spPr/>
    </dgm:pt>
    <dgm:pt modelId="{AEF5E7C3-7654-4A48-AB97-0DD357ED830E}" type="pres">
      <dgm:prSet presAssocID="{BE60C936-BEEB-42D4-AFCC-6B33BAD35100}" presName="Name111" presStyleLbl="parChTrans1D2" presStyleIdx="1" presStyleCnt="2"/>
      <dgm:spPr/>
    </dgm:pt>
    <dgm:pt modelId="{2762DF21-4BEA-4323-BB10-221B6646A262}" type="pres">
      <dgm:prSet presAssocID="{D47B70E9-CF16-4E71-A78C-7B7F3073FF5D}" presName="hierRoot3" presStyleCnt="0">
        <dgm:presLayoutVars>
          <dgm:hierBranch val="init"/>
        </dgm:presLayoutVars>
      </dgm:prSet>
      <dgm:spPr/>
    </dgm:pt>
    <dgm:pt modelId="{8A69D8D3-800D-46DF-9B08-5DF6F2BE5138}" type="pres">
      <dgm:prSet presAssocID="{D47B70E9-CF16-4E71-A78C-7B7F3073FF5D}" presName="rootComposite3" presStyleCnt="0"/>
      <dgm:spPr/>
    </dgm:pt>
    <dgm:pt modelId="{05B09078-180C-467E-AEDF-B4AC49E759D0}" type="pres">
      <dgm:prSet presAssocID="{D47B70E9-CF16-4E71-A78C-7B7F3073FF5D}" presName="rootText3" presStyleLbl="asst1" presStyleIdx="2" presStyleCnt="3">
        <dgm:presLayoutVars>
          <dgm:chPref val="3"/>
        </dgm:presLayoutVars>
      </dgm:prSet>
      <dgm:spPr/>
    </dgm:pt>
    <dgm:pt modelId="{3E2EDDB4-4DC9-4DB5-A271-33317BC3B78C}" type="pres">
      <dgm:prSet presAssocID="{D47B70E9-CF16-4E71-A78C-7B7F3073FF5D}" presName="rootConnector3" presStyleLbl="asst1" presStyleIdx="2" presStyleCnt="3"/>
      <dgm:spPr/>
    </dgm:pt>
    <dgm:pt modelId="{8F0ECF6B-0824-431A-A9CF-AD938CFF958E}" type="pres">
      <dgm:prSet presAssocID="{D47B70E9-CF16-4E71-A78C-7B7F3073FF5D}" presName="hierChild6" presStyleCnt="0"/>
      <dgm:spPr/>
    </dgm:pt>
    <dgm:pt modelId="{7CC84404-D4B8-4F86-8AEB-B2121CA72916}" type="pres">
      <dgm:prSet presAssocID="{3D6E3F7B-88B5-4EBD-A706-C4E286156759}" presName="Name37" presStyleLbl="parChTrans1D3" presStyleIdx="1" presStyleCnt="3"/>
      <dgm:spPr/>
    </dgm:pt>
    <dgm:pt modelId="{1DCC859D-31B1-467C-AF9D-9D6BD5039FFF}" type="pres">
      <dgm:prSet presAssocID="{CB110124-B792-4D72-ADD1-8600E44E6697}" presName="hierRoot2" presStyleCnt="0">
        <dgm:presLayoutVars>
          <dgm:hierBranch val="init"/>
        </dgm:presLayoutVars>
      </dgm:prSet>
      <dgm:spPr/>
    </dgm:pt>
    <dgm:pt modelId="{5C5BEF2A-9E33-4880-A0F4-D81E8FBCB616}" type="pres">
      <dgm:prSet presAssocID="{CB110124-B792-4D72-ADD1-8600E44E6697}" presName="rootComposite" presStyleCnt="0"/>
      <dgm:spPr/>
    </dgm:pt>
    <dgm:pt modelId="{528D6990-B718-4A56-B89F-E2A39F3C2FE0}" type="pres">
      <dgm:prSet presAssocID="{CB110124-B792-4D72-ADD1-8600E44E6697}" presName="rootText" presStyleLbl="node3" presStyleIdx="0" presStyleCnt="2">
        <dgm:presLayoutVars>
          <dgm:chPref val="3"/>
        </dgm:presLayoutVars>
      </dgm:prSet>
      <dgm:spPr/>
    </dgm:pt>
    <dgm:pt modelId="{CF5F2884-AEED-4CC8-9CBB-039AEA9501FE}" type="pres">
      <dgm:prSet presAssocID="{CB110124-B792-4D72-ADD1-8600E44E6697}" presName="rootConnector" presStyleLbl="node3" presStyleIdx="0" presStyleCnt="2"/>
      <dgm:spPr/>
    </dgm:pt>
    <dgm:pt modelId="{3381136D-AE01-4C7A-AF34-005C5F845DC3}" type="pres">
      <dgm:prSet presAssocID="{CB110124-B792-4D72-ADD1-8600E44E6697}" presName="hierChild4" presStyleCnt="0"/>
      <dgm:spPr/>
    </dgm:pt>
    <dgm:pt modelId="{6589FB88-0E6B-4AE2-A8C0-DB2B08F2FD39}" type="pres">
      <dgm:prSet presAssocID="{CB110124-B792-4D72-ADD1-8600E44E6697}" presName="hierChild5" presStyleCnt="0"/>
      <dgm:spPr/>
    </dgm:pt>
    <dgm:pt modelId="{FC7AC97B-0C9C-4A75-8DE7-9BBF22F88959}" type="pres">
      <dgm:prSet presAssocID="{8A181EBC-6498-4D56-B463-F8D4C683B5A1}" presName="Name37" presStyleLbl="parChTrans1D3" presStyleIdx="2" presStyleCnt="3"/>
      <dgm:spPr/>
    </dgm:pt>
    <dgm:pt modelId="{BEA22485-2ECF-433D-8EA9-ED5CBBA6C060}" type="pres">
      <dgm:prSet presAssocID="{78C02A9B-195F-4158-931F-37A2D0AC3258}" presName="hierRoot2" presStyleCnt="0">
        <dgm:presLayoutVars>
          <dgm:hierBranch val="init"/>
        </dgm:presLayoutVars>
      </dgm:prSet>
      <dgm:spPr/>
    </dgm:pt>
    <dgm:pt modelId="{FB43F9BD-EC2E-4140-986F-7E7082283829}" type="pres">
      <dgm:prSet presAssocID="{78C02A9B-195F-4158-931F-37A2D0AC3258}" presName="rootComposite" presStyleCnt="0"/>
      <dgm:spPr/>
    </dgm:pt>
    <dgm:pt modelId="{4650C7D0-7B9C-4ACD-8A35-B468F091F5E7}" type="pres">
      <dgm:prSet presAssocID="{78C02A9B-195F-4158-931F-37A2D0AC3258}" presName="rootText" presStyleLbl="node3" presStyleIdx="1" presStyleCnt="2">
        <dgm:presLayoutVars>
          <dgm:chPref val="3"/>
        </dgm:presLayoutVars>
      </dgm:prSet>
      <dgm:spPr/>
    </dgm:pt>
    <dgm:pt modelId="{25712B3A-4742-410C-8633-C00C46655544}" type="pres">
      <dgm:prSet presAssocID="{78C02A9B-195F-4158-931F-37A2D0AC3258}" presName="rootConnector" presStyleLbl="node3" presStyleIdx="1" presStyleCnt="2"/>
      <dgm:spPr/>
    </dgm:pt>
    <dgm:pt modelId="{29AFEF16-8E8C-42F7-91CE-E43EA21EF397}" type="pres">
      <dgm:prSet presAssocID="{78C02A9B-195F-4158-931F-37A2D0AC3258}" presName="hierChild4" presStyleCnt="0"/>
      <dgm:spPr/>
    </dgm:pt>
    <dgm:pt modelId="{4B05A987-99B4-4383-A84F-E6671BFE4FA0}" type="pres">
      <dgm:prSet presAssocID="{78C02A9B-195F-4158-931F-37A2D0AC3258}" presName="hierChild5" presStyleCnt="0"/>
      <dgm:spPr/>
    </dgm:pt>
    <dgm:pt modelId="{B85CA913-3FA3-43BA-B12A-46C64C560579}" type="pres">
      <dgm:prSet presAssocID="{D47B70E9-CF16-4E71-A78C-7B7F3073FF5D}" presName="hierChild7" presStyleCnt="0"/>
      <dgm:spPr/>
    </dgm:pt>
  </dgm:ptLst>
  <dgm:cxnLst>
    <dgm:cxn modelId="{CB1E330A-AB00-47E8-A429-689547FDAA8B}" type="presOf" srcId="{D47B70E9-CF16-4E71-A78C-7B7F3073FF5D}" destId="{3E2EDDB4-4DC9-4DB5-A271-33317BC3B78C}" srcOrd="1" destOrd="0" presId="urn:microsoft.com/office/officeart/2005/8/layout/orgChart1"/>
    <dgm:cxn modelId="{9AA81A0E-AA48-4CB4-B837-9E1B007BFFB0}" type="presOf" srcId="{B766CE63-4E3A-4F5B-A7B5-68F317599E90}" destId="{704EBB4F-7DAC-4FDC-9BF1-4FDF18BB0C2D}" srcOrd="0" destOrd="0" presId="urn:microsoft.com/office/officeart/2005/8/layout/orgChart1"/>
    <dgm:cxn modelId="{CF1F3D10-5D39-4B41-8DC6-0BEA33FCAD10}" type="presOf" srcId="{AE39F384-C2BB-4328-B0AD-DCF931E7843B}" destId="{A0D47CC2-8051-42D1-8016-C537B2A92B79}" srcOrd="0" destOrd="0" presId="urn:microsoft.com/office/officeart/2005/8/layout/orgChart1"/>
    <dgm:cxn modelId="{8E62AD1B-77EF-415A-9BC6-DD5B87793461}" type="presOf" srcId="{9C9CD4F5-E14E-412C-AA8C-DAA60E3AB85C}" destId="{5E8501C8-4C78-489E-B837-71D953F0029A}" srcOrd="0" destOrd="0" presId="urn:microsoft.com/office/officeart/2005/8/layout/orgChart1"/>
    <dgm:cxn modelId="{7809F91E-F272-4967-A82A-F8D818BC4097}" type="presOf" srcId="{5593F223-CD52-4190-9843-6A96F051C990}" destId="{8341B207-14F5-442D-8D4D-E827D458C96F}" srcOrd="1" destOrd="0" presId="urn:microsoft.com/office/officeart/2005/8/layout/orgChart1"/>
    <dgm:cxn modelId="{32D60E39-1208-4818-A41A-71D16231E691}" type="presOf" srcId="{CB110124-B792-4D72-ADD1-8600E44E6697}" destId="{CF5F2884-AEED-4CC8-9CBB-039AEA9501FE}" srcOrd="1" destOrd="0" presId="urn:microsoft.com/office/officeart/2005/8/layout/orgChart1"/>
    <dgm:cxn modelId="{D17D175D-29A8-407F-BE10-8596B7AFFC33}" type="presOf" srcId="{D47B70E9-CF16-4E71-A78C-7B7F3073FF5D}" destId="{05B09078-180C-467E-AEDF-B4AC49E759D0}" srcOrd="0" destOrd="0" presId="urn:microsoft.com/office/officeart/2005/8/layout/orgChart1"/>
    <dgm:cxn modelId="{CAF14F66-DE72-4ED0-A834-591839514C91}" srcId="{D47B70E9-CF16-4E71-A78C-7B7F3073FF5D}" destId="{CB110124-B792-4D72-ADD1-8600E44E6697}" srcOrd="0" destOrd="0" parTransId="{3D6E3F7B-88B5-4EBD-A706-C4E286156759}" sibTransId="{4FC7AEB3-D798-4DF8-8C2F-AC9F081E82A9}"/>
    <dgm:cxn modelId="{BD1CF548-A158-4378-BAFF-3A3015DB8B5C}" type="presOf" srcId="{EB9FB50C-9919-4623-BFF3-C99E6AD7B160}" destId="{3EB34524-1BC4-4529-8BEA-CA5F121F2A8D}" srcOrd="0" destOrd="0" presId="urn:microsoft.com/office/officeart/2005/8/layout/orgChart1"/>
    <dgm:cxn modelId="{F77AFC4D-59CE-43F8-95C6-AB55EDB83AEA}" type="presOf" srcId="{3D6E3F7B-88B5-4EBD-A706-C4E286156759}" destId="{7CC84404-D4B8-4F86-8AEB-B2121CA72916}" srcOrd="0" destOrd="0" presId="urn:microsoft.com/office/officeart/2005/8/layout/orgChart1"/>
    <dgm:cxn modelId="{AEDB8270-5493-47F4-96CD-4CB8921AEB11}" type="presOf" srcId="{8A181EBC-6498-4D56-B463-F8D4C683B5A1}" destId="{FC7AC97B-0C9C-4A75-8DE7-9BBF22F88959}" srcOrd="0" destOrd="0" presId="urn:microsoft.com/office/officeart/2005/8/layout/orgChart1"/>
    <dgm:cxn modelId="{BCB8587B-1264-4BA8-8CDC-76F97C6CB3A4}" type="presOf" srcId="{BE60C936-BEEB-42D4-AFCC-6B33BAD35100}" destId="{AEF5E7C3-7654-4A48-AB97-0DD357ED830E}" srcOrd="0" destOrd="0" presId="urn:microsoft.com/office/officeart/2005/8/layout/orgChart1"/>
    <dgm:cxn modelId="{D7251688-6E3E-4937-A57B-8DF334B6F94D}" srcId="{D47B70E9-CF16-4E71-A78C-7B7F3073FF5D}" destId="{78C02A9B-195F-4158-931F-37A2D0AC3258}" srcOrd="1" destOrd="0" parTransId="{8A181EBC-6498-4D56-B463-F8D4C683B5A1}" sibTransId="{1854F9EB-6713-49FC-983C-AD8E8C3A6FF6}"/>
    <dgm:cxn modelId="{F3F35EA0-3362-4B63-ABC5-D817A50BCC6C}" srcId="{B766CE63-4E3A-4F5B-A7B5-68F317599E90}" destId="{AE39F384-C2BB-4328-B0AD-DCF931E7843B}" srcOrd="0" destOrd="0" parTransId="{0B87A5E7-0C38-4F3E-8667-427241217969}" sibTransId="{CF864557-7F8C-4E4D-91B3-B29F3FB77760}"/>
    <dgm:cxn modelId="{A69FA9C1-EC73-4B21-84ED-949A01F47DEC}" type="presOf" srcId="{AE39F384-C2BB-4328-B0AD-DCF931E7843B}" destId="{399A1AC9-1036-4956-90D6-0FB0A0F738C2}" srcOrd="1" destOrd="0" presId="urn:microsoft.com/office/officeart/2005/8/layout/orgChart1"/>
    <dgm:cxn modelId="{1FA032D0-4CD2-406C-959F-6CB6A29C9F0E}" type="presOf" srcId="{FC6FF3D5-E681-4D8F-A7BF-671784A59A09}" destId="{336E88CA-9C9D-49CE-8C2E-43CA6A51FB3E}" srcOrd="0" destOrd="0" presId="urn:microsoft.com/office/officeart/2005/8/layout/orgChart1"/>
    <dgm:cxn modelId="{35381BDB-32B8-4F2D-B442-E3B4FC9F0A82}" type="presOf" srcId="{CB110124-B792-4D72-ADD1-8600E44E6697}" destId="{528D6990-B718-4A56-B89F-E2A39F3C2FE0}" srcOrd="0" destOrd="0" presId="urn:microsoft.com/office/officeart/2005/8/layout/orgChart1"/>
    <dgm:cxn modelId="{C099CCDC-B21E-43BF-9936-CC789A3EF5BB}" type="presOf" srcId="{5593F223-CD52-4190-9843-6A96F051C990}" destId="{20E86441-86FA-40EB-BF3C-0856A0D2612A}" srcOrd="0" destOrd="0" presId="urn:microsoft.com/office/officeart/2005/8/layout/orgChart1"/>
    <dgm:cxn modelId="{E61AC6E6-8922-4F37-A21E-F73311397280}" type="presOf" srcId="{9C9CD4F5-E14E-412C-AA8C-DAA60E3AB85C}" destId="{ECD17A90-BB10-4E08-8B21-0D350E37BBA2}" srcOrd="1" destOrd="0" presId="urn:microsoft.com/office/officeart/2005/8/layout/orgChart1"/>
    <dgm:cxn modelId="{7BEF14EA-7E48-4B55-AADB-1C1B17379315}" srcId="{AE39F384-C2BB-4328-B0AD-DCF931E7843B}" destId="{5593F223-CD52-4190-9843-6A96F051C990}" srcOrd="0" destOrd="0" parTransId="{FC6FF3D5-E681-4D8F-A7BF-671784A59A09}" sibTransId="{D75B947A-0EBA-47C5-A1E0-624857F953CA}"/>
    <dgm:cxn modelId="{04F536F0-2613-46D5-9D7B-AF14FA07EAF5}" srcId="{5593F223-CD52-4190-9843-6A96F051C990}" destId="{9C9CD4F5-E14E-412C-AA8C-DAA60E3AB85C}" srcOrd="0" destOrd="0" parTransId="{EB9FB50C-9919-4623-BFF3-C99E6AD7B160}" sibTransId="{6C2427DF-EC1B-46D5-8FD2-4DAED853436E}"/>
    <dgm:cxn modelId="{D1D1E4FA-939B-47F7-9C54-E916E473DB19}" type="presOf" srcId="{78C02A9B-195F-4158-931F-37A2D0AC3258}" destId="{25712B3A-4742-410C-8633-C00C46655544}" srcOrd="1" destOrd="0" presId="urn:microsoft.com/office/officeart/2005/8/layout/orgChart1"/>
    <dgm:cxn modelId="{84EA7DFB-1F94-479E-B232-F72921C43E97}" srcId="{AE39F384-C2BB-4328-B0AD-DCF931E7843B}" destId="{D47B70E9-CF16-4E71-A78C-7B7F3073FF5D}" srcOrd="1" destOrd="0" parTransId="{BE60C936-BEEB-42D4-AFCC-6B33BAD35100}" sibTransId="{B7AC41B8-0371-4F18-AACE-206A76E16968}"/>
    <dgm:cxn modelId="{C50789FD-6960-475F-8388-E2C9D1ED1E7E}" type="presOf" srcId="{78C02A9B-195F-4158-931F-37A2D0AC3258}" destId="{4650C7D0-7B9C-4ACD-8A35-B468F091F5E7}" srcOrd="0" destOrd="0" presId="urn:microsoft.com/office/officeart/2005/8/layout/orgChart1"/>
    <dgm:cxn modelId="{38C0C457-E5A7-4C93-9BF7-35B07173A675}" type="presParOf" srcId="{704EBB4F-7DAC-4FDC-9BF1-4FDF18BB0C2D}" destId="{A751E860-C143-4692-AB61-6A84712D57E3}" srcOrd="0" destOrd="0" presId="urn:microsoft.com/office/officeart/2005/8/layout/orgChart1"/>
    <dgm:cxn modelId="{A82AFBE6-15EE-4925-9701-6B71108B7CF8}" type="presParOf" srcId="{A751E860-C143-4692-AB61-6A84712D57E3}" destId="{48603553-08CB-4384-84DB-2AEC60C61497}" srcOrd="0" destOrd="0" presId="urn:microsoft.com/office/officeart/2005/8/layout/orgChart1"/>
    <dgm:cxn modelId="{0F00AC87-6F36-451D-9416-85AA82BDF9B5}" type="presParOf" srcId="{48603553-08CB-4384-84DB-2AEC60C61497}" destId="{A0D47CC2-8051-42D1-8016-C537B2A92B79}" srcOrd="0" destOrd="0" presId="urn:microsoft.com/office/officeart/2005/8/layout/orgChart1"/>
    <dgm:cxn modelId="{51E8AB83-B685-4A8B-800F-FD36F69E7902}" type="presParOf" srcId="{48603553-08CB-4384-84DB-2AEC60C61497}" destId="{399A1AC9-1036-4956-90D6-0FB0A0F738C2}" srcOrd="1" destOrd="0" presId="urn:microsoft.com/office/officeart/2005/8/layout/orgChart1"/>
    <dgm:cxn modelId="{B9A0458E-5F1D-4B89-9F1B-5647DABC04D6}" type="presParOf" srcId="{A751E860-C143-4692-AB61-6A84712D57E3}" destId="{4F2C8058-825D-41FE-98A3-705A1D784B06}" srcOrd="1" destOrd="0" presId="urn:microsoft.com/office/officeart/2005/8/layout/orgChart1"/>
    <dgm:cxn modelId="{89B99215-394F-4C97-BB54-B4FB3301F7C6}" type="presParOf" srcId="{A751E860-C143-4692-AB61-6A84712D57E3}" destId="{964349BA-B98E-4BEC-B32A-A4C821D7E4A4}" srcOrd="2" destOrd="0" presId="urn:microsoft.com/office/officeart/2005/8/layout/orgChart1"/>
    <dgm:cxn modelId="{6D67B439-6346-4F7C-BA16-CB35BD3CA083}" type="presParOf" srcId="{964349BA-B98E-4BEC-B32A-A4C821D7E4A4}" destId="{336E88CA-9C9D-49CE-8C2E-43CA6A51FB3E}" srcOrd="0" destOrd="0" presId="urn:microsoft.com/office/officeart/2005/8/layout/orgChart1"/>
    <dgm:cxn modelId="{842D7064-5A8B-45FD-8111-05896A4BABBC}" type="presParOf" srcId="{964349BA-B98E-4BEC-B32A-A4C821D7E4A4}" destId="{11D1B3AB-D520-490F-B259-C80AFB4B2832}" srcOrd="1" destOrd="0" presId="urn:microsoft.com/office/officeart/2005/8/layout/orgChart1"/>
    <dgm:cxn modelId="{48758401-F249-4B1B-9B43-F3691815B38D}" type="presParOf" srcId="{11D1B3AB-D520-490F-B259-C80AFB4B2832}" destId="{87C9C608-62E3-455A-BFFF-BC60714B600D}" srcOrd="0" destOrd="0" presId="urn:microsoft.com/office/officeart/2005/8/layout/orgChart1"/>
    <dgm:cxn modelId="{98CE77B1-9FBE-4499-A4B5-9784B5DF75D4}" type="presParOf" srcId="{87C9C608-62E3-455A-BFFF-BC60714B600D}" destId="{20E86441-86FA-40EB-BF3C-0856A0D2612A}" srcOrd="0" destOrd="0" presId="urn:microsoft.com/office/officeart/2005/8/layout/orgChart1"/>
    <dgm:cxn modelId="{F2253BEA-7E34-4EAA-B5FA-E5492EC7CA62}" type="presParOf" srcId="{87C9C608-62E3-455A-BFFF-BC60714B600D}" destId="{8341B207-14F5-442D-8D4D-E827D458C96F}" srcOrd="1" destOrd="0" presId="urn:microsoft.com/office/officeart/2005/8/layout/orgChart1"/>
    <dgm:cxn modelId="{3CBD285C-7DCC-4000-BCB2-5147DC3EC508}" type="presParOf" srcId="{11D1B3AB-D520-490F-B259-C80AFB4B2832}" destId="{D238D6E7-9547-46C3-B286-8133782FFA55}" srcOrd="1" destOrd="0" presId="urn:microsoft.com/office/officeart/2005/8/layout/orgChart1"/>
    <dgm:cxn modelId="{8887F916-2523-43D7-9103-E6769D5EE4A0}" type="presParOf" srcId="{11D1B3AB-D520-490F-B259-C80AFB4B2832}" destId="{5566B03D-57F2-4E85-BBAD-27D1B29A0DC1}" srcOrd="2" destOrd="0" presId="urn:microsoft.com/office/officeart/2005/8/layout/orgChart1"/>
    <dgm:cxn modelId="{38EF5E78-52EB-472A-ABAC-0811F74901FD}" type="presParOf" srcId="{5566B03D-57F2-4E85-BBAD-27D1B29A0DC1}" destId="{3EB34524-1BC4-4529-8BEA-CA5F121F2A8D}" srcOrd="0" destOrd="0" presId="urn:microsoft.com/office/officeart/2005/8/layout/orgChart1"/>
    <dgm:cxn modelId="{2B64BCA2-4306-420F-B0AF-8029DDF0FF4A}" type="presParOf" srcId="{5566B03D-57F2-4E85-BBAD-27D1B29A0DC1}" destId="{8F99763D-75D5-4A2D-A847-D74BC9761354}" srcOrd="1" destOrd="0" presId="urn:microsoft.com/office/officeart/2005/8/layout/orgChart1"/>
    <dgm:cxn modelId="{96603FD1-8991-4AF6-8B61-B5E58EB96924}" type="presParOf" srcId="{8F99763D-75D5-4A2D-A847-D74BC9761354}" destId="{FE69AEF7-4DD4-475F-A99A-6E4768CF1DDF}" srcOrd="0" destOrd="0" presId="urn:microsoft.com/office/officeart/2005/8/layout/orgChart1"/>
    <dgm:cxn modelId="{B4BC77E5-8F79-4CEA-A977-ACE1D4778373}" type="presParOf" srcId="{FE69AEF7-4DD4-475F-A99A-6E4768CF1DDF}" destId="{5E8501C8-4C78-489E-B837-71D953F0029A}" srcOrd="0" destOrd="0" presId="urn:microsoft.com/office/officeart/2005/8/layout/orgChart1"/>
    <dgm:cxn modelId="{975AE649-46AF-4ED0-8D20-DBA9207570FF}" type="presParOf" srcId="{FE69AEF7-4DD4-475F-A99A-6E4768CF1DDF}" destId="{ECD17A90-BB10-4E08-8B21-0D350E37BBA2}" srcOrd="1" destOrd="0" presId="urn:microsoft.com/office/officeart/2005/8/layout/orgChart1"/>
    <dgm:cxn modelId="{4BBDEC2D-53EC-49FC-83D1-365D33B6DB3B}" type="presParOf" srcId="{8F99763D-75D5-4A2D-A847-D74BC9761354}" destId="{E44A88F5-29B5-4BBF-AAAD-30A5D106FAB5}" srcOrd="1" destOrd="0" presId="urn:microsoft.com/office/officeart/2005/8/layout/orgChart1"/>
    <dgm:cxn modelId="{2825AAC6-96E3-4CD4-AD2A-983F4B30D7D4}" type="presParOf" srcId="{8F99763D-75D5-4A2D-A847-D74BC9761354}" destId="{0EAE22A5-FA85-4C87-932A-9B7B7B9C13DF}" srcOrd="2" destOrd="0" presId="urn:microsoft.com/office/officeart/2005/8/layout/orgChart1"/>
    <dgm:cxn modelId="{E71AFA06-B6A3-4B7A-B05C-14F011D2C4EA}" type="presParOf" srcId="{964349BA-B98E-4BEC-B32A-A4C821D7E4A4}" destId="{AEF5E7C3-7654-4A48-AB97-0DD357ED830E}" srcOrd="2" destOrd="0" presId="urn:microsoft.com/office/officeart/2005/8/layout/orgChart1"/>
    <dgm:cxn modelId="{5F0A383C-2EE2-4EDD-8753-2B63D7B5D704}" type="presParOf" srcId="{964349BA-B98E-4BEC-B32A-A4C821D7E4A4}" destId="{2762DF21-4BEA-4323-BB10-221B6646A262}" srcOrd="3" destOrd="0" presId="urn:microsoft.com/office/officeart/2005/8/layout/orgChart1"/>
    <dgm:cxn modelId="{516F9602-011F-49BD-977B-F59978DA22FA}" type="presParOf" srcId="{2762DF21-4BEA-4323-BB10-221B6646A262}" destId="{8A69D8D3-800D-46DF-9B08-5DF6F2BE5138}" srcOrd="0" destOrd="0" presId="urn:microsoft.com/office/officeart/2005/8/layout/orgChart1"/>
    <dgm:cxn modelId="{9A5EFB02-AA7C-48CA-AB4B-0AEAAAFE126D}" type="presParOf" srcId="{8A69D8D3-800D-46DF-9B08-5DF6F2BE5138}" destId="{05B09078-180C-467E-AEDF-B4AC49E759D0}" srcOrd="0" destOrd="0" presId="urn:microsoft.com/office/officeart/2005/8/layout/orgChart1"/>
    <dgm:cxn modelId="{7CFCE0C8-8CF6-4ADC-B8A6-1EB41A69ECA5}" type="presParOf" srcId="{8A69D8D3-800D-46DF-9B08-5DF6F2BE5138}" destId="{3E2EDDB4-4DC9-4DB5-A271-33317BC3B78C}" srcOrd="1" destOrd="0" presId="urn:microsoft.com/office/officeart/2005/8/layout/orgChart1"/>
    <dgm:cxn modelId="{EB93BA39-C369-4A7C-BBA3-7A9BC69DC0B4}" type="presParOf" srcId="{2762DF21-4BEA-4323-BB10-221B6646A262}" destId="{8F0ECF6B-0824-431A-A9CF-AD938CFF958E}" srcOrd="1" destOrd="0" presId="urn:microsoft.com/office/officeart/2005/8/layout/orgChart1"/>
    <dgm:cxn modelId="{EFF309FE-4540-4BDC-AB74-535365C25E38}" type="presParOf" srcId="{8F0ECF6B-0824-431A-A9CF-AD938CFF958E}" destId="{7CC84404-D4B8-4F86-8AEB-B2121CA72916}" srcOrd="0" destOrd="0" presId="urn:microsoft.com/office/officeart/2005/8/layout/orgChart1"/>
    <dgm:cxn modelId="{31C04AB2-76CF-4C29-B9D9-911953A8B013}" type="presParOf" srcId="{8F0ECF6B-0824-431A-A9CF-AD938CFF958E}" destId="{1DCC859D-31B1-467C-AF9D-9D6BD5039FFF}" srcOrd="1" destOrd="0" presId="urn:microsoft.com/office/officeart/2005/8/layout/orgChart1"/>
    <dgm:cxn modelId="{20F1A8BE-445C-4BDB-BC1C-ADCC22EBDF5B}" type="presParOf" srcId="{1DCC859D-31B1-467C-AF9D-9D6BD5039FFF}" destId="{5C5BEF2A-9E33-4880-A0F4-D81E8FBCB616}" srcOrd="0" destOrd="0" presId="urn:microsoft.com/office/officeart/2005/8/layout/orgChart1"/>
    <dgm:cxn modelId="{B469257C-5E81-4D40-B805-F23072326B85}" type="presParOf" srcId="{5C5BEF2A-9E33-4880-A0F4-D81E8FBCB616}" destId="{528D6990-B718-4A56-B89F-E2A39F3C2FE0}" srcOrd="0" destOrd="0" presId="urn:microsoft.com/office/officeart/2005/8/layout/orgChart1"/>
    <dgm:cxn modelId="{31413BDC-2695-4ADB-9568-5B83018AD30B}" type="presParOf" srcId="{5C5BEF2A-9E33-4880-A0F4-D81E8FBCB616}" destId="{CF5F2884-AEED-4CC8-9CBB-039AEA9501FE}" srcOrd="1" destOrd="0" presId="urn:microsoft.com/office/officeart/2005/8/layout/orgChart1"/>
    <dgm:cxn modelId="{E0DC23D2-E532-4380-86C9-D5DABB0439D6}" type="presParOf" srcId="{1DCC859D-31B1-467C-AF9D-9D6BD5039FFF}" destId="{3381136D-AE01-4C7A-AF34-005C5F845DC3}" srcOrd="1" destOrd="0" presId="urn:microsoft.com/office/officeart/2005/8/layout/orgChart1"/>
    <dgm:cxn modelId="{D2475449-00AF-4714-BD5B-3E9E18F2B2D2}" type="presParOf" srcId="{1DCC859D-31B1-467C-AF9D-9D6BD5039FFF}" destId="{6589FB88-0E6B-4AE2-A8C0-DB2B08F2FD39}" srcOrd="2" destOrd="0" presId="urn:microsoft.com/office/officeart/2005/8/layout/orgChart1"/>
    <dgm:cxn modelId="{A9533902-7090-4C10-BDCA-FF250780F279}" type="presParOf" srcId="{8F0ECF6B-0824-431A-A9CF-AD938CFF958E}" destId="{FC7AC97B-0C9C-4A75-8DE7-9BBF22F88959}" srcOrd="2" destOrd="0" presId="urn:microsoft.com/office/officeart/2005/8/layout/orgChart1"/>
    <dgm:cxn modelId="{B0CFAE5E-A9F7-466D-A668-9E0B1AA1B238}" type="presParOf" srcId="{8F0ECF6B-0824-431A-A9CF-AD938CFF958E}" destId="{BEA22485-2ECF-433D-8EA9-ED5CBBA6C060}" srcOrd="3" destOrd="0" presId="urn:microsoft.com/office/officeart/2005/8/layout/orgChart1"/>
    <dgm:cxn modelId="{09725215-7F42-46F2-A379-57AF2DB82995}" type="presParOf" srcId="{BEA22485-2ECF-433D-8EA9-ED5CBBA6C060}" destId="{FB43F9BD-EC2E-4140-986F-7E7082283829}" srcOrd="0" destOrd="0" presId="urn:microsoft.com/office/officeart/2005/8/layout/orgChart1"/>
    <dgm:cxn modelId="{B1259428-2023-4B31-9D35-F90793550DD9}" type="presParOf" srcId="{FB43F9BD-EC2E-4140-986F-7E7082283829}" destId="{4650C7D0-7B9C-4ACD-8A35-B468F091F5E7}" srcOrd="0" destOrd="0" presId="urn:microsoft.com/office/officeart/2005/8/layout/orgChart1"/>
    <dgm:cxn modelId="{417927A1-A1F6-476B-878F-0DE50192C421}" type="presParOf" srcId="{FB43F9BD-EC2E-4140-986F-7E7082283829}" destId="{25712B3A-4742-410C-8633-C00C46655544}" srcOrd="1" destOrd="0" presId="urn:microsoft.com/office/officeart/2005/8/layout/orgChart1"/>
    <dgm:cxn modelId="{75DD9D30-726C-4759-9A0B-ED850203874B}" type="presParOf" srcId="{BEA22485-2ECF-433D-8EA9-ED5CBBA6C060}" destId="{29AFEF16-8E8C-42F7-91CE-E43EA21EF397}" srcOrd="1" destOrd="0" presId="urn:microsoft.com/office/officeart/2005/8/layout/orgChart1"/>
    <dgm:cxn modelId="{F94D9293-01DD-40F3-A637-93F3AB0FBF7C}" type="presParOf" srcId="{BEA22485-2ECF-433D-8EA9-ED5CBBA6C060}" destId="{4B05A987-99B4-4383-A84F-E6671BFE4FA0}" srcOrd="2" destOrd="0" presId="urn:microsoft.com/office/officeart/2005/8/layout/orgChart1"/>
    <dgm:cxn modelId="{8D083DB5-CD24-41FF-9370-5779F43D9DAA}" type="presParOf" srcId="{2762DF21-4BEA-4323-BB10-221B6646A262}" destId="{B85CA913-3FA3-43BA-B12A-46C64C560579}"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41D6D6E-FE18-4E68-AE78-3D31FD61064E}"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fr-FR"/>
        </a:p>
      </dgm:t>
    </dgm:pt>
    <dgm:pt modelId="{DF8AFA27-A490-47A8-B9F6-B5D4082B6CE1}">
      <dgm:prSet phldrT="[Texte]"/>
      <dgm:spPr>
        <a:solidFill>
          <a:srgbClr val="09253D"/>
        </a:solidFill>
      </dgm:spPr>
      <dgm:t>
        <a:bodyPr/>
        <a:lstStyle/>
        <a:p>
          <a:r>
            <a:rPr lang="fr-FR" dirty="0"/>
            <a:t>Root CA</a:t>
          </a:r>
        </a:p>
      </dgm:t>
    </dgm:pt>
    <dgm:pt modelId="{23941869-5917-4C41-B35C-55AA051B99DA}" type="parTrans" cxnId="{0942AD40-75BA-4037-86EC-7FA60F7FB3B8}">
      <dgm:prSet/>
      <dgm:spPr/>
      <dgm:t>
        <a:bodyPr/>
        <a:lstStyle/>
        <a:p>
          <a:endParaRPr lang="fr-FR"/>
        </a:p>
      </dgm:t>
    </dgm:pt>
    <dgm:pt modelId="{65E0AE5D-13E4-4141-BEE0-CDE00BAFC9B9}" type="sibTrans" cxnId="{0942AD40-75BA-4037-86EC-7FA60F7FB3B8}">
      <dgm:prSet/>
      <dgm:spPr/>
      <dgm:t>
        <a:bodyPr/>
        <a:lstStyle/>
        <a:p>
          <a:endParaRPr lang="fr-FR"/>
        </a:p>
      </dgm:t>
    </dgm:pt>
    <dgm:pt modelId="{B274AB01-3AFF-4DA3-9EDA-49CFA3A44713}">
      <dgm:prSet phldrT="[Texte]"/>
      <dgm:spPr>
        <a:solidFill>
          <a:srgbClr val="09253D"/>
        </a:solidFill>
      </dgm:spPr>
      <dgm:t>
        <a:bodyPr/>
        <a:lstStyle/>
        <a:p>
          <a:r>
            <a:rPr lang="fr-FR" dirty="0" err="1"/>
            <a:t>Intermediate</a:t>
          </a:r>
          <a:r>
            <a:rPr lang="fr-FR" dirty="0"/>
            <a:t> CA</a:t>
          </a:r>
        </a:p>
      </dgm:t>
    </dgm:pt>
    <dgm:pt modelId="{91EBBC6E-3903-4DD1-97D2-43796B07DE4F}" type="parTrans" cxnId="{AEC96B48-A181-4BBC-B571-3CC92B9E83BD}">
      <dgm:prSet/>
      <dgm:spPr/>
      <dgm:t>
        <a:bodyPr/>
        <a:lstStyle/>
        <a:p>
          <a:endParaRPr lang="fr-FR"/>
        </a:p>
      </dgm:t>
    </dgm:pt>
    <dgm:pt modelId="{9736E854-EE1E-432E-B32E-42833E7154BE}" type="sibTrans" cxnId="{AEC96B48-A181-4BBC-B571-3CC92B9E83BD}">
      <dgm:prSet/>
      <dgm:spPr/>
      <dgm:t>
        <a:bodyPr/>
        <a:lstStyle/>
        <a:p>
          <a:endParaRPr lang="fr-FR"/>
        </a:p>
      </dgm:t>
    </dgm:pt>
    <dgm:pt modelId="{58ADA69C-9577-41E2-89C7-3FEACA314048}">
      <dgm:prSet phldrT="[Texte]"/>
      <dgm:spPr>
        <a:solidFill>
          <a:srgbClr val="09253D"/>
        </a:solidFill>
      </dgm:spPr>
      <dgm:t>
        <a:bodyPr/>
        <a:lstStyle/>
        <a:p>
          <a:r>
            <a:rPr lang="fr-FR" dirty="0" err="1"/>
            <a:t>Leaf</a:t>
          </a:r>
          <a:r>
            <a:rPr lang="fr-FR" dirty="0"/>
            <a:t> </a:t>
          </a:r>
          <a:r>
            <a:rPr lang="fr-FR" dirty="0" err="1"/>
            <a:t>Certificate</a:t>
          </a:r>
          <a:endParaRPr lang="fr-FR" dirty="0"/>
        </a:p>
      </dgm:t>
    </dgm:pt>
    <dgm:pt modelId="{737A26C9-FD8D-4D75-B088-8D22D99DC25D}" type="sibTrans" cxnId="{54541275-E77B-41D9-B114-71154F51D101}">
      <dgm:prSet/>
      <dgm:spPr/>
      <dgm:t>
        <a:bodyPr/>
        <a:lstStyle/>
        <a:p>
          <a:endParaRPr lang="fr-FR"/>
        </a:p>
      </dgm:t>
    </dgm:pt>
    <dgm:pt modelId="{F7E2B4AE-ABA8-450B-A666-A300213E41AC}" type="parTrans" cxnId="{54541275-E77B-41D9-B114-71154F51D101}">
      <dgm:prSet/>
      <dgm:spPr/>
      <dgm:t>
        <a:bodyPr/>
        <a:lstStyle/>
        <a:p>
          <a:endParaRPr lang="fr-FR"/>
        </a:p>
      </dgm:t>
    </dgm:pt>
    <dgm:pt modelId="{DFFB976D-DF7B-4FAA-96E7-0F86D88F534E}" type="pres">
      <dgm:prSet presAssocID="{141D6D6E-FE18-4E68-AE78-3D31FD61064E}" presName="rootnode" presStyleCnt="0">
        <dgm:presLayoutVars>
          <dgm:chMax/>
          <dgm:chPref/>
          <dgm:dir/>
          <dgm:animLvl val="lvl"/>
        </dgm:presLayoutVars>
      </dgm:prSet>
      <dgm:spPr/>
    </dgm:pt>
    <dgm:pt modelId="{96157004-0897-45FE-82EB-E9604E1B9287}" type="pres">
      <dgm:prSet presAssocID="{DF8AFA27-A490-47A8-B9F6-B5D4082B6CE1}" presName="composite" presStyleCnt="0"/>
      <dgm:spPr/>
    </dgm:pt>
    <dgm:pt modelId="{602CB131-1565-40EC-A03E-2755C638F53A}" type="pres">
      <dgm:prSet presAssocID="{DF8AFA27-A490-47A8-B9F6-B5D4082B6CE1}" presName="bentUpArrow1" presStyleLbl="alignImgPlace1" presStyleIdx="0" presStyleCnt="2"/>
      <dgm:spPr>
        <a:solidFill>
          <a:srgbClr val="42C5A5"/>
        </a:solidFill>
      </dgm:spPr>
    </dgm:pt>
    <dgm:pt modelId="{A7C7BC77-5721-487D-A5B8-C74719247A6E}" type="pres">
      <dgm:prSet presAssocID="{DF8AFA27-A490-47A8-B9F6-B5D4082B6CE1}" presName="ParentText" presStyleLbl="node1" presStyleIdx="0" presStyleCnt="3">
        <dgm:presLayoutVars>
          <dgm:chMax val="1"/>
          <dgm:chPref val="1"/>
          <dgm:bulletEnabled val="1"/>
        </dgm:presLayoutVars>
      </dgm:prSet>
      <dgm:spPr/>
    </dgm:pt>
    <dgm:pt modelId="{D5C75829-908C-44F6-AC10-B2321609C821}" type="pres">
      <dgm:prSet presAssocID="{DF8AFA27-A490-47A8-B9F6-B5D4082B6CE1}" presName="ChildText" presStyleLbl="revTx" presStyleIdx="0" presStyleCnt="2" custScaleX="67885" custScaleY="45677" custLinFactX="-37322" custLinFactY="32754" custLinFactNeighborX="-100000" custLinFactNeighborY="100000">
        <dgm:presLayoutVars>
          <dgm:chMax val="0"/>
          <dgm:chPref val="0"/>
          <dgm:bulletEnabled val="1"/>
        </dgm:presLayoutVars>
      </dgm:prSet>
      <dgm:spPr/>
    </dgm:pt>
    <dgm:pt modelId="{F8FEBD1C-4BDC-4866-90E1-142A6ECCFF5B}" type="pres">
      <dgm:prSet presAssocID="{65E0AE5D-13E4-4141-BEE0-CDE00BAFC9B9}" presName="sibTrans" presStyleCnt="0"/>
      <dgm:spPr/>
    </dgm:pt>
    <dgm:pt modelId="{DA5A035F-9735-44E1-A751-6B876C90DBAB}" type="pres">
      <dgm:prSet presAssocID="{B274AB01-3AFF-4DA3-9EDA-49CFA3A44713}" presName="composite" presStyleCnt="0"/>
      <dgm:spPr/>
    </dgm:pt>
    <dgm:pt modelId="{4EA54E95-2740-41B0-8C17-6376D0686D6E}" type="pres">
      <dgm:prSet presAssocID="{B274AB01-3AFF-4DA3-9EDA-49CFA3A44713}" presName="bentUpArrow1" presStyleLbl="alignImgPlace1" presStyleIdx="1" presStyleCnt="2"/>
      <dgm:spPr>
        <a:solidFill>
          <a:srgbClr val="42C5A5"/>
        </a:solidFill>
      </dgm:spPr>
    </dgm:pt>
    <dgm:pt modelId="{BE093D6B-1FB8-4491-971D-DBFDBCAC3C97}" type="pres">
      <dgm:prSet presAssocID="{B274AB01-3AFF-4DA3-9EDA-49CFA3A44713}" presName="ParentText" presStyleLbl="node1" presStyleIdx="1" presStyleCnt="3">
        <dgm:presLayoutVars>
          <dgm:chMax val="1"/>
          <dgm:chPref val="1"/>
          <dgm:bulletEnabled val="1"/>
        </dgm:presLayoutVars>
      </dgm:prSet>
      <dgm:spPr/>
    </dgm:pt>
    <dgm:pt modelId="{321AC81F-136A-43CE-AF8D-10AC2CFD216D}" type="pres">
      <dgm:prSet presAssocID="{B274AB01-3AFF-4DA3-9EDA-49CFA3A44713}" presName="ChildText" presStyleLbl="revTx" presStyleIdx="1" presStyleCnt="2">
        <dgm:presLayoutVars>
          <dgm:chMax val="0"/>
          <dgm:chPref val="0"/>
          <dgm:bulletEnabled val="1"/>
        </dgm:presLayoutVars>
      </dgm:prSet>
      <dgm:spPr/>
    </dgm:pt>
    <dgm:pt modelId="{2330A385-8A51-4D79-AB3D-99B32B32FFDC}" type="pres">
      <dgm:prSet presAssocID="{9736E854-EE1E-432E-B32E-42833E7154BE}" presName="sibTrans" presStyleCnt="0"/>
      <dgm:spPr/>
    </dgm:pt>
    <dgm:pt modelId="{85F6F33E-785F-4050-921D-157FB9235B57}" type="pres">
      <dgm:prSet presAssocID="{58ADA69C-9577-41E2-89C7-3FEACA314048}" presName="composite" presStyleCnt="0"/>
      <dgm:spPr/>
    </dgm:pt>
    <dgm:pt modelId="{BB0FD89F-4A52-4204-BB70-364735B2BD4D}" type="pres">
      <dgm:prSet presAssocID="{58ADA69C-9577-41E2-89C7-3FEACA314048}" presName="ParentText" presStyleLbl="node1" presStyleIdx="2" presStyleCnt="3">
        <dgm:presLayoutVars>
          <dgm:chMax val="1"/>
          <dgm:chPref val="1"/>
          <dgm:bulletEnabled val="1"/>
        </dgm:presLayoutVars>
      </dgm:prSet>
      <dgm:spPr/>
    </dgm:pt>
  </dgm:ptLst>
  <dgm:cxnLst>
    <dgm:cxn modelId="{0308BE03-12F7-46F1-998A-3CF24D3AB4DA}" type="presOf" srcId="{DF8AFA27-A490-47A8-B9F6-B5D4082B6CE1}" destId="{A7C7BC77-5721-487D-A5B8-C74719247A6E}" srcOrd="0" destOrd="0" presId="urn:microsoft.com/office/officeart/2005/8/layout/StepDownProcess"/>
    <dgm:cxn modelId="{C98FF33C-4D8C-444B-BD06-1527EC9BF8D4}" type="presOf" srcId="{141D6D6E-FE18-4E68-AE78-3D31FD61064E}" destId="{DFFB976D-DF7B-4FAA-96E7-0F86D88F534E}" srcOrd="0" destOrd="0" presId="urn:microsoft.com/office/officeart/2005/8/layout/StepDownProcess"/>
    <dgm:cxn modelId="{0942AD40-75BA-4037-86EC-7FA60F7FB3B8}" srcId="{141D6D6E-FE18-4E68-AE78-3D31FD61064E}" destId="{DF8AFA27-A490-47A8-B9F6-B5D4082B6CE1}" srcOrd="0" destOrd="0" parTransId="{23941869-5917-4C41-B35C-55AA051B99DA}" sibTransId="{65E0AE5D-13E4-4141-BEE0-CDE00BAFC9B9}"/>
    <dgm:cxn modelId="{AEC96B48-A181-4BBC-B571-3CC92B9E83BD}" srcId="{141D6D6E-FE18-4E68-AE78-3D31FD61064E}" destId="{B274AB01-3AFF-4DA3-9EDA-49CFA3A44713}" srcOrd="1" destOrd="0" parTransId="{91EBBC6E-3903-4DD1-97D2-43796B07DE4F}" sibTransId="{9736E854-EE1E-432E-B32E-42833E7154BE}"/>
    <dgm:cxn modelId="{4FB02C54-B326-4A75-B73F-067EB5EBA13A}" type="presOf" srcId="{58ADA69C-9577-41E2-89C7-3FEACA314048}" destId="{BB0FD89F-4A52-4204-BB70-364735B2BD4D}" srcOrd="0" destOrd="0" presId="urn:microsoft.com/office/officeart/2005/8/layout/StepDownProcess"/>
    <dgm:cxn modelId="{54541275-E77B-41D9-B114-71154F51D101}" srcId="{141D6D6E-FE18-4E68-AE78-3D31FD61064E}" destId="{58ADA69C-9577-41E2-89C7-3FEACA314048}" srcOrd="2" destOrd="0" parTransId="{F7E2B4AE-ABA8-450B-A666-A300213E41AC}" sibTransId="{737A26C9-FD8D-4D75-B088-8D22D99DC25D}"/>
    <dgm:cxn modelId="{2F8B70A6-B459-4345-BAB2-45330E5288A7}" type="presOf" srcId="{B274AB01-3AFF-4DA3-9EDA-49CFA3A44713}" destId="{BE093D6B-1FB8-4491-971D-DBFDBCAC3C97}" srcOrd="0" destOrd="0" presId="urn:microsoft.com/office/officeart/2005/8/layout/StepDownProcess"/>
    <dgm:cxn modelId="{F1E89455-0006-4327-9FD6-7B01C90785BD}" type="presParOf" srcId="{DFFB976D-DF7B-4FAA-96E7-0F86D88F534E}" destId="{96157004-0897-45FE-82EB-E9604E1B9287}" srcOrd="0" destOrd="0" presId="urn:microsoft.com/office/officeart/2005/8/layout/StepDownProcess"/>
    <dgm:cxn modelId="{352EB6D8-487D-44DB-A7EA-BF014C06B11B}" type="presParOf" srcId="{96157004-0897-45FE-82EB-E9604E1B9287}" destId="{602CB131-1565-40EC-A03E-2755C638F53A}" srcOrd="0" destOrd="0" presId="urn:microsoft.com/office/officeart/2005/8/layout/StepDownProcess"/>
    <dgm:cxn modelId="{5557D0CE-BF4C-4EBE-9796-B908BFD5A814}" type="presParOf" srcId="{96157004-0897-45FE-82EB-E9604E1B9287}" destId="{A7C7BC77-5721-487D-A5B8-C74719247A6E}" srcOrd="1" destOrd="0" presId="urn:microsoft.com/office/officeart/2005/8/layout/StepDownProcess"/>
    <dgm:cxn modelId="{02A20DDE-174C-4651-B3CD-A49CA2F1A768}" type="presParOf" srcId="{96157004-0897-45FE-82EB-E9604E1B9287}" destId="{D5C75829-908C-44F6-AC10-B2321609C821}" srcOrd="2" destOrd="0" presId="urn:microsoft.com/office/officeart/2005/8/layout/StepDownProcess"/>
    <dgm:cxn modelId="{90CED66C-C6D5-4E32-9882-3132D69D4FE1}" type="presParOf" srcId="{DFFB976D-DF7B-4FAA-96E7-0F86D88F534E}" destId="{F8FEBD1C-4BDC-4866-90E1-142A6ECCFF5B}" srcOrd="1" destOrd="0" presId="urn:microsoft.com/office/officeart/2005/8/layout/StepDownProcess"/>
    <dgm:cxn modelId="{8B4C0C69-01FA-4639-895B-1E23A6F9BAA7}" type="presParOf" srcId="{DFFB976D-DF7B-4FAA-96E7-0F86D88F534E}" destId="{DA5A035F-9735-44E1-A751-6B876C90DBAB}" srcOrd="2" destOrd="0" presId="urn:microsoft.com/office/officeart/2005/8/layout/StepDownProcess"/>
    <dgm:cxn modelId="{09ABAB5A-5525-4492-B9D5-3DAC030900C8}" type="presParOf" srcId="{DA5A035F-9735-44E1-A751-6B876C90DBAB}" destId="{4EA54E95-2740-41B0-8C17-6376D0686D6E}" srcOrd="0" destOrd="0" presId="urn:microsoft.com/office/officeart/2005/8/layout/StepDownProcess"/>
    <dgm:cxn modelId="{7823072A-0985-4BB5-8623-4D72D117F248}" type="presParOf" srcId="{DA5A035F-9735-44E1-A751-6B876C90DBAB}" destId="{BE093D6B-1FB8-4491-971D-DBFDBCAC3C97}" srcOrd="1" destOrd="0" presId="urn:microsoft.com/office/officeart/2005/8/layout/StepDownProcess"/>
    <dgm:cxn modelId="{D8882642-1BE9-4ADC-808B-B116737D7E40}" type="presParOf" srcId="{DA5A035F-9735-44E1-A751-6B876C90DBAB}" destId="{321AC81F-136A-43CE-AF8D-10AC2CFD216D}" srcOrd="2" destOrd="0" presId="urn:microsoft.com/office/officeart/2005/8/layout/StepDownProcess"/>
    <dgm:cxn modelId="{FCBE4801-FBCE-44E1-955F-2146AB212111}" type="presParOf" srcId="{DFFB976D-DF7B-4FAA-96E7-0F86D88F534E}" destId="{2330A385-8A51-4D79-AB3D-99B32B32FFDC}" srcOrd="3" destOrd="0" presId="urn:microsoft.com/office/officeart/2005/8/layout/StepDownProcess"/>
    <dgm:cxn modelId="{2220036D-C0EA-4016-896A-590E34901AC1}" type="presParOf" srcId="{DFFB976D-DF7B-4FAA-96E7-0F86D88F534E}" destId="{85F6F33E-785F-4050-921D-157FB9235B57}" srcOrd="4" destOrd="0" presId="urn:microsoft.com/office/officeart/2005/8/layout/StepDownProcess"/>
    <dgm:cxn modelId="{3614C276-9115-4321-92C9-44150A8C9DD1}" type="presParOf" srcId="{85F6F33E-785F-4050-921D-157FB9235B57}" destId="{BB0FD89F-4A52-4204-BB70-364735B2BD4D}" srcOrd="0" destOrd="0" presId="urn:microsoft.com/office/officeart/2005/8/layout/StepDown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3330E3C-8A5C-4675-9DC0-A5F5D61185DC}" type="doc">
      <dgm:prSet loTypeId="urn:microsoft.com/office/officeart/2005/8/layout/hProcess7" loCatId="list" qsTypeId="urn:microsoft.com/office/officeart/2005/8/quickstyle/simple1" qsCatId="simple" csTypeId="urn:microsoft.com/office/officeart/2005/8/colors/accent1_2" csCatId="accent1" phldr="1"/>
      <dgm:spPr/>
      <dgm:t>
        <a:bodyPr/>
        <a:lstStyle/>
        <a:p>
          <a:endParaRPr lang="fr-FR"/>
        </a:p>
      </dgm:t>
    </dgm:pt>
    <dgm:pt modelId="{AD964C9E-F929-4414-9171-AEEB08B1FC61}">
      <dgm:prSet phldrT="[Texte]"/>
      <dgm:spPr>
        <a:solidFill>
          <a:srgbClr val="09253D"/>
        </a:solidFill>
      </dgm:spPr>
      <dgm:t>
        <a:bodyPr/>
        <a:lstStyle/>
        <a:p>
          <a:pPr>
            <a:buNone/>
          </a:pPr>
          <a:r>
            <a:rPr lang="fr-FR" b="1" i="0" dirty="0"/>
            <a:t>🫚 Certificat racine</a:t>
          </a:r>
          <a:endParaRPr lang="fr-FR" dirty="0"/>
        </a:p>
      </dgm:t>
    </dgm:pt>
    <dgm:pt modelId="{E5AD28CB-7F94-4AFE-9EC8-C3CC7CC51BA5}" type="parTrans" cxnId="{6F06CED9-1716-40F7-94AE-C13FC5044C07}">
      <dgm:prSet/>
      <dgm:spPr/>
      <dgm:t>
        <a:bodyPr/>
        <a:lstStyle/>
        <a:p>
          <a:endParaRPr lang="fr-FR"/>
        </a:p>
      </dgm:t>
    </dgm:pt>
    <dgm:pt modelId="{EF17742E-16BB-4F43-8D11-9BD04F025DAC}" type="sibTrans" cxnId="{6F06CED9-1716-40F7-94AE-C13FC5044C07}">
      <dgm:prSet/>
      <dgm:spPr/>
      <dgm:t>
        <a:bodyPr/>
        <a:lstStyle/>
        <a:p>
          <a:endParaRPr lang="fr-FR"/>
        </a:p>
      </dgm:t>
    </dgm:pt>
    <dgm:pt modelId="{4BBD8DA0-C4B8-4617-B45D-FB05526A67E2}">
      <dgm:prSet phldrT="[Texte]"/>
      <dgm:spPr>
        <a:solidFill>
          <a:srgbClr val="09253D"/>
        </a:solidFill>
      </dgm:spPr>
      <dgm:t>
        <a:bodyPr/>
        <a:lstStyle/>
        <a:p>
          <a:pPr>
            <a:buNone/>
          </a:pPr>
          <a:r>
            <a:rPr lang="fr-FR" b="1" i="0" dirty="0"/>
            <a:t>🪜Certificat intermédiaire</a:t>
          </a:r>
          <a:endParaRPr lang="fr-FR" dirty="0"/>
        </a:p>
      </dgm:t>
    </dgm:pt>
    <dgm:pt modelId="{770A5D13-D354-4FF0-B4F5-DEEEC9086758}" type="parTrans" cxnId="{5C005BB8-78EB-4377-B577-24C011250C1A}">
      <dgm:prSet/>
      <dgm:spPr/>
      <dgm:t>
        <a:bodyPr/>
        <a:lstStyle/>
        <a:p>
          <a:endParaRPr lang="fr-FR"/>
        </a:p>
      </dgm:t>
    </dgm:pt>
    <dgm:pt modelId="{3EE432FF-4D89-482C-BF34-3EEDACF82712}" type="sibTrans" cxnId="{5C005BB8-78EB-4377-B577-24C011250C1A}">
      <dgm:prSet/>
      <dgm:spPr/>
      <dgm:t>
        <a:bodyPr/>
        <a:lstStyle/>
        <a:p>
          <a:endParaRPr lang="fr-FR"/>
        </a:p>
      </dgm:t>
    </dgm:pt>
    <dgm:pt modelId="{5B65E039-5FB2-4A4C-B7B1-5F42561B8E6C}">
      <dgm:prSet phldrT="[Texte]"/>
      <dgm:spPr>
        <a:solidFill>
          <a:srgbClr val="09253D"/>
        </a:solidFill>
      </dgm:spPr>
      <dgm:t>
        <a:bodyPr/>
        <a:lstStyle/>
        <a:p>
          <a:pPr>
            <a:buNone/>
          </a:pPr>
          <a:r>
            <a:rPr lang="fr-FR" b="1" i="0" dirty="0"/>
            <a:t>🖥️Certificat de serveur</a:t>
          </a:r>
        </a:p>
      </dgm:t>
    </dgm:pt>
    <dgm:pt modelId="{669E96AF-C137-45F0-8807-1832102FD4DB}" type="parTrans" cxnId="{68CF4EFA-887D-4A24-AE3B-79E3A1B9ED7A}">
      <dgm:prSet/>
      <dgm:spPr/>
      <dgm:t>
        <a:bodyPr/>
        <a:lstStyle/>
        <a:p>
          <a:endParaRPr lang="fr-FR"/>
        </a:p>
      </dgm:t>
    </dgm:pt>
    <dgm:pt modelId="{9E7C21BE-AA79-4CDF-B5D8-5D9B85621A72}" type="sibTrans" cxnId="{68CF4EFA-887D-4A24-AE3B-79E3A1B9ED7A}">
      <dgm:prSet/>
      <dgm:spPr/>
      <dgm:t>
        <a:bodyPr/>
        <a:lstStyle/>
        <a:p>
          <a:endParaRPr lang="fr-FR"/>
        </a:p>
      </dgm:t>
    </dgm:pt>
    <dgm:pt modelId="{DD7A2A63-FC27-4B26-AC61-E95CD49AE5DE}">
      <dgm:prSet phldrT="[Texte]" custT="1"/>
      <dgm:spPr/>
      <dgm:t>
        <a:bodyPr/>
        <a:lstStyle/>
        <a:p>
          <a:pPr>
            <a:buNone/>
          </a:pPr>
          <a:r>
            <a:rPr lang="fr-FR" sz="1300" b="0" dirty="0">
              <a:solidFill>
                <a:srgbClr val="42C5A5"/>
              </a:solidFill>
            </a:rPr>
            <a:t>Définition</a:t>
          </a:r>
          <a:br>
            <a:rPr lang="fr-FR" sz="1300" b="0" dirty="0"/>
          </a:br>
          <a:r>
            <a:rPr lang="fr-FR" sz="1300" b="0" dirty="0"/>
            <a:t>Auto-signé par l’autorité de certification (AC), utilisé pour signer les autres certificats de la chaîne.</a:t>
          </a:r>
        </a:p>
      </dgm:t>
    </dgm:pt>
    <dgm:pt modelId="{768701F6-B445-4BDC-8623-2AD674C332E6}" type="parTrans" cxnId="{6AE799B9-41D6-4A19-8B57-3BEC771FBD72}">
      <dgm:prSet/>
      <dgm:spPr/>
      <dgm:t>
        <a:bodyPr/>
        <a:lstStyle/>
        <a:p>
          <a:endParaRPr lang="fr-FR"/>
        </a:p>
      </dgm:t>
    </dgm:pt>
    <dgm:pt modelId="{0A2678C8-0457-4EBF-AF65-525437A36DB4}" type="sibTrans" cxnId="{6AE799B9-41D6-4A19-8B57-3BEC771FBD72}">
      <dgm:prSet/>
      <dgm:spPr/>
      <dgm:t>
        <a:bodyPr/>
        <a:lstStyle/>
        <a:p>
          <a:endParaRPr lang="fr-FR"/>
        </a:p>
      </dgm:t>
    </dgm:pt>
    <dgm:pt modelId="{D2D9DE98-35B5-4B84-9478-DA6B40A3B1DD}">
      <dgm:prSet custT="1"/>
      <dgm:spPr/>
      <dgm:t>
        <a:bodyPr/>
        <a:lstStyle/>
        <a:p>
          <a:pPr>
            <a:buFont typeface="Arial" panose="020B0604020202020204" pitchFamily="34" charset="0"/>
            <a:buChar char="•"/>
          </a:pPr>
          <a:r>
            <a:rPr lang="fr-FR" sz="1300" b="0" dirty="0">
              <a:solidFill>
                <a:srgbClr val="42C5A5"/>
              </a:solidFill>
            </a:rPr>
            <a:t>Spécificités</a:t>
          </a:r>
        </a:p>
      </dgm:t>
    </dgm:pt>
    <dgm:pt modelId="{1AC985F6-2777-4397-9B2C-AFB85F7111CD}" type="parTrans" cxnId="{5FB7956C-E30C-4319-AFD5-595D3F16FC7A}">
      <dgm:prSet/>
      <dgm:spPr/>
      <dgm:t>
        <a:bodyPr/>
        <a:lstStyle/>
        <a:p>
          <a:endParaRPr lang="fr-FR"/>
        </a:p>
      </dgm:t>
    </dgm:pt>
    <dgm:pt modelId="{47D2150C-D30C-47DA-83A1-FA9416BE9A88}" type="sibTrans" cxnId="{5FB7956C-E30C-4319-AFD5-595D3F16FC7A}">
      <dgm:prSet/>
      <dgm:spPr/>
      <dgm:t>
        <a:bodyPr/>
        <a:lstStyle/>
        <a:p>
          <a:endParaRPr lang="fr-FR"/>
        </a:p>
      </dgm:t>
    </dgm:pt>
    <dgm:pt modelId="{9D4C4C12-4FE8-4758-AD97-57A0C12F3857}">
      <dgm:prSet custT="1"/>
      <dgm:spPr/>
      <dgm:t>
        <a:bodyPr/>
        <a:lstStyle/>
        <a:p>
          <a:pPr>
            <a:buFont typeface="Arial" panose="020B0604020202020204" pitchFamily="34" charset="0"/>
            <a:buChar char="•"/>
          </a:pPr>
          <a:r>
            <a:rPr lang="fr-FR" sz="1300" b="0" dirty="0"/>
            <a:t> Émis directement par l’AC</a:t>
          </a:r>
        </a:p>
      </dgm:t>
    </dgm:pt>
    <dgm:pt modelId="{A1C81E1B-F6C7-43E8-89DF-13965892397C}" type="parTrans" cxnId="{E1DCC934-452A-4D9B-8EA1-9626D20F74EE}">
      <dgm:prSet/>
      <dgm:spPr/>
      <dgm:t>
        <a:bodyPr/>
        <a:lstStyle/>
        <a:p>
          <a:endParaRPr lang="fr-FR"/>
        </a:p>
      </dgm:t>
    </dgm:pt>
    <dgm:pt modelId="{DB2FF830-0730-4E97-A103-68EE80D532A4}" type="sibTrans" cxnId="{E1DCC934-452A-4D9B-8EA1-9626D20F74EE}">
      <dgm:prSet/>
      <dgm:spPr/>
      <dgm:t>
        <a:bodyPr/>
        <a:lstStyle/>
        <a:p>
          <a:endParaRPr lang="fr-FR"/>
        </a:p>
      </dgm:t>
    </dgm:pt>
    <dgm:pt modelId="{9060550F-EAD7-4021-89C2-35730AEBFAC2}">
      <dgm:prSet custT="1"/>
      <dgm:spPr/>
      <dgm:t>
        <a:bodyPr/>
        <a:lstStyle/>
        <a:p>
          <a:pPr>
            <a:buFont typeface="Arial" panose="020B0604020202020204" pitchFamily="34" charset="0"/>
            <a:buChar char="•"/>
          </a:pPr>
          <a:r>
            <a:rPr lang="fr-FR" sz="1300" b="0" dirty="0"/>
            <a:t> Clé privée utilisée pour signer les certificats intermédiaires</a:t>
          </a:r>
        </a:p>
      </dgm:t>
    </dgm:pt>
    <dgm:pt modelId="{B5D45301-C540-4562-A6BE-41A923F31AD0}" type="parTrans" cxnId="{CD37EF0E-14E8-4367-8204-6FAFD0FD3BEB}">
      <dgm:prSet/>
      <dgm:spPr/>
      <dgm:t>
        <a:bodyPr/>
        <a:lstStyle/>
        <a:p>
          <a:endParaRPr lang="fr-FR"/>
        </a:p>
      </dgm:t>
    </dgm:pt>
    <dgm:pt modelId="{230214D6-9F13-4EED-8EC0-461C70B39059}" type="sibTrans" cxnId="{CD37EF0E-14E8-4367-8204-6FAFD0FD3BEB}">
      <dgm:prSet/>
      <dgm:spPr/>
      <dgm:t>
        <a:bodyPr/>
        <a:lstStyle/>
        <a:p>
          <a:endParaRPr lang="fr-FR"/>
        </a:p>
      </dgm:t>
    </dgm:pt>
    <dgm:pt modelId="{28287E03-A9A3-4C06-92E0-75B300B727BD}">
      <dgm:prSet custT="1"/>
      <dgm:spPr/>
      <dgm:t>
        <a:bodyPr/>
        <a:lstStyle/>
        <a:p>
          <a:pPr>
            <a:buFont typeface="Arial" panose="020B0604020202020204" pitchFamily="34" charset="0"/>
            <a:buChar char="•"/>
          </a:pPr>
          <a:r>
            <a:rPr lang="fr-FR" sz="1300" b="0" dirty="0"/>
            <a:t> Très peu de certificats racines émis</a:t>
          </a:r>
        </a:p>
      </dgm:t>
    </dgm:pt>
    <dgm:pt modelId="{11CC094F-24B3-408D-86D2-E7C3E9C0390F}" type="parTrans" cxnId="{47E7EFC8-B84C-452D-ABBE-EA0D7DCD0BE9}">
      <dgm:prSet/>
      <dgm:spPr/>
      <dgm:t>
        <a:bodyPr/>
        <a:lstStyle/>
        <a:p>
          <a:endParaRPr lang="fr-FR"/>
        </a:p>
      </dgm:t>
    </dgm:pt>
    <dgm:pt modelId="{97E93B35-5C44-40B8-8470-8D8F4CD24466}" type="sibTrans" cxnId="{47E7EFC8-B84C-452D-ABBE-EA0D7DCD0BE9}">
      <dgm:prSet/>
      <dgm:spPr/>
      <dgm:t>
        <a:bodyPr/>
        <a:lstStyle/>
        <a:p>
          <a:endParaRPr lang="fr-FR"/>
        </a:p>
      </dgm:t>
    </dgm:pt>
    <dgm:pt modelId="{2147C738-1157-4826-B9D4-CD47F99BB037}">
      <dgm:prSet custT="1"/>
      <dgm:spPr/>
      <dgm:t>
        <a:bodyPr/>
        <a:lstStyle/>
        <a:p>
          <a:pPr>
            <a:buFont typeface="Arial" panose="020B0604020202020204" pitchFamily="34" charset="0"/>
            <a:buChar char="•"/>
          </a:pPr>
          <a:r>
            <a:rPr lang="fr-FR" sz="1300" b="0" dirty="0">
              <a:solidFill>
                <a:srgbClr val="42C5A5"/>
              </a:solidFill>
            </a:rPr>
            <a:t>Sécurité &amp; Confiance</a:t>
          </a:r>
        </a:p>
      </dgm:t>
    </dgm:pt>
    <dgm:pt modelId="{753B2D44-D718-4629-ABA9-BB47428AFE01}" type="parTrans" cxnId="{DFD6DA72-C52A-4DA0-B508-B006B3D3F2A2}">
      <dgm:prSet/>
      <dgm:spPr/>
      <dgm:t>
        <a:bodyPr/>
        <a:lstStyle/>
        <a:p>
          <a:endParaRPr lang="fr-FR"/>
        </a:p>
      </dgm:t>
    </dgm:pt>
    <dgm:pt modelId="{ECDABC6F-5971-4F3C-B405-F4A933A0F09A}" type="sibTrans" cxnId="{DFD6DA72-C52A-4DA0-B508-B006B3D3F2A2}">
      <dgm:prSet/>
      <dgm:spPr/>
      <dgm:t>
        <a:bodyPr/>
        <a:lstStyle/>
        <a:p>
          <a:endParaRPr lang="fr-FR"/>
        </a:p>
      </dgm:t>
    </dgm:pt>
    <dgm:pt modelId="{E4489D22-3B94-4382-BEE9-DBCEDD08EFED}">
      <dgm:prSet custT="1"/>
      <dgm:spPr/>
      <dgm:t>
        <a:bodyPr/>
        <a:lstStyle/>
        <a:p>
          <a:pPr>
            <a:buFont typeface="Arial" panose="020B0604020202020204" pitchFamily="34" charset="0"/>
            <a:buChar char="•"/>
          </a:pPr>
          <a:r>
            <a:rPr lang="fr-FR" sz="1300" b="0" dirty="0"/>
            <a:t> Préchargé dans les navigateurs/systèmes (trust store)</a:t>
          </a:r>
        </a:p>
      </dgm:t>
    </dgm:pt>
    <dgm:pt modelId="{E7C80514-6F11-44BC-B3C2-927D9365D6FF}" type="parTrans" cxnId="{6558806B-B310-4DFE-9181-C949FE967B57}">
      <dgm:prSet/>
      <dgm:spPr/>
      <dgm:t>
        <a:bodyPr/>
        <a:lstStyle/>
        <a:p>
          <a:endParaRPr lang="fr-FR"/>
        </a:p>
      </dgm:t>
    </dgm:pt>
    <dgm:pt modelId="{0802D434-C57B-49BB-AB40-338D757D50C8}" type="sibTrans" cxnId="{6558806B-B310-4DFE-9181-C949FE967B57}">
      <dgm:prSet/>
      <dgm:spPr/>
      <dgm:t>
        <a:bodyPr/>
        <a:lstStyle/>
        <a:p>
          <a:endParaRPr lang="fr-FR"/>
        </a:p>
      </dgm:t>
    </dgm:pt>
    <dgm:pt modelId="{DE513C36-49CF-43AF-898C-DC94CAF8BDFA}">
      <dgm:prSet custT="1"/>
      <dgm:spPr/>
      <dgm:t>
        <a:bodyPr/>
        <a:lstStyle/>
        <a:p>
          <a:pPr>
            <a:buFont typeface="Arial" panose="020B0604020202020204" pitchFamily="34" charset="0"/>
            <a:buChar char="•"/>
          </a:pPr>
          <a:r>
            <a:rPr lang="fr-FR" sz="1300" b="0" dirty="0"/>
            <a:t> Point d’ancrage de la chaîne de confiance</a:t>
          </a:r>
        </a:p>
      </dgm:t>
    </dgm:pt>
    <dgm:pt modelId="{B4EB3D64-6E71-4118-BD7E-5928556C2A77}" type="parTrans" cxnId="{E126367C-936B-4718-8823-C1694327C922}">
      <dgm:prSet/>
      <dgm:spPr/>
      <dgm:t>
        <a:bodyPr/>
        <a:lstStyle/>
        <a:p>
          <a:endParaRPr lang="fr-FR"/>
        </a:p>
      </dgm:t>
    </dgm:pt>
    <dgm:pt modelId="{9B4FD4F5-F4C0-4524-8D42-AA9018EE72CA}" type="sibTrans" cxnId="{E126367C-936B-4718-8823-C1694327C922}">
      <dgm:prSet/>
      <dgm:spPr/>
      <dgm:t>
        <a:bodyPr/>
        <a:lstStyle/>
        <a:p>
          <a:endParaRPr lang="fr-FR"/>
        </a:p>
      </dgm:t>
    </dgm:pt>
    <dgm:pt modelId="{004F504C-F2E2-49E7-9BB4-E275FEBF9484}">
      <dgm:prSet custT="1"/>
      <dgm:spPr/>
      <dgm:t>
        <a:bodyPr/>
        <a:lstStyle/>
        <a:p>
          <a:pPr>
            <a:buFont typeface="Arial" panose="020B0604020202020204" pitchFamily="34" charset="0"/>
            <a:buChar char="•"/>
          </a:pPr>
          <a:r>
            <a:rPr lang="fr-FR" sz="1300" b="0" dirty="0"/>
            <a:t> Si compromis ou révoqué → toute la chaîne devient invalide</a:t>
          </a:r>
        </a:p>
      </dgm:t>
    </dgm:pt>
    <dgm:pt modelId="{386EF6EC-DFFD-4008-9DD8-90D30CD308F2}" type="parTrans" cxnId="{B00C52C0-4435-4B59-B7F6-791468B75EBC}">
      <dgm:prSet/>
      <dgm:spPr/>
      <dgm:t>
        <a:bodyPr/>
        <a:lstStyle/>
        <a:p>
          <a:endParaRPr lang="fr-FR"/>
        </a:p>
      </dgm:t>
    </dgm:pt>
    <dgm:pt modelId="{4FBC2E40-0E92-4EA4-83C9-E3EA8F3F9CF1}" type="sibTrans" cxnId="{B00C52C0-4435-4B59-B7F6-791468B75EBC}">
      <dgm:prSet/>
      <dgm:spPr/>
      <dgm:t>
        <a:bodyPr/>
        <a:lstStyle/>
        <a:p>
          <a:endParaRPr lang="fr-FR"/>
        </a:p>
      </dgm:t>
    </dgm:pt>
    <dgm:pt modelId="{0861A0A6-7DAC-4E0A-9FF8-B7B681BC4078}">
      <dgm:prSet custT="1"/>
      <dgm:spPr/>
      <dgm:t>
        <a:bodyPr/>
        <a:lstStyle/>
        <a:p>
          <a:pPr>
            <a:buFont typeface="Arial" panose="020B0604020202020204" pitchFamily="34" charset="0"/>
            <a:buChar char="•"/>
          </a:pPr>
          <a:r>
            <a:rPr lang="fr-FR" sz="1300" b="0" dirty="0">
              <a:solidFill>
                <a:srgbClr val="42C5A5"/>
              </a:solidFill>
            </a:rPr>
            <a:t>Précaution</a:t>
          </a:r>
        </a:p>
      </dgm:t>
    </dgm:pt>
    <dgm:pt modelId="{B776DBD3-E107-4491-8823-2313C268ECB8}" type="parTrans" cxnId="{074C50E7-C5F1-4BCB-B01B-FC782009E369}">
      <dgm:prSet/>
      <dgm:spPr/>
      <dgm:t>
        <a:bodyPr/>
        <a:lstStyle/>
        <a:p>
          <a:endParaRPr lang="fr-FR"/>
        </a:p>
      </dgm:t>
    </dgm:pt>
    <dgm:pt modelId="{B9C06C03-9FF5-4E87-8F9E-37E9B28C1D4B}" type="sibTrans" cxnId="{074C50E7-C5F1-4BCB-B01B-FC782009E369}">
      <dgm:prSet/>
      <dgm:spPr/>
      <dgm:t>
        <a:bodyPr/>
        <a:lstStyle/>
        <a:p>
          <a:endParaRPr lang="fr-FR"/>
        </a:p>
      </dgm:t>
    </dgm:pt>
    <dgm:pt modelId="{392F30D5-7EE9-422C-8EA2-BCCDE9A7D698}">
      <dgm:prSet custT="1"/>
      <dgm:spPr/>
      <dgm:t>
        <a:bodyPr/>
        <a:lstStyle/>
        <a:p>
          <a:pPr>
            <a:buFont typeface="Arial" panose="020B0604020202020204" pitchFamily="34" charset="0"/>
            <a:buChar char="•"/>
          </a:pPr>
          <a:r>
            <a:rPr lang="fr-FR" sz="1300" b="0" dirty="0"/>
            <a:t> Ne signe jamais directement de certificats serveurs</a:t>
          </a:r>
        </a:p>
      </dgm:t>
    </dgm:pt>
    <dgm:pt modelId="{C63E84BA-A9D5-4AFE-9AEB-0282296EF35A}" type="parTrans" cxnId="{7DB4F453-47BC-4416-8C7E-AF9732765BFB}">
      <dgm:prSet/>
      <dgm:spPr/>
      <dgm:t>
        <a:bodyPr/>
        <a:lstStyle/>
        <a:p>
          <a:endParaRPr lang="fr-FR"/>
        </a:p>
      </dgm:t>
    </dgm:pt>
    <dgm:pt modelId="{217F53E1-E725-4258-9E92-4D25E360C126}" type="sibTrans" cxnId="{7DB4F453-47BC-4416-8C7E-AF9732765BFB}">
      <dgm:prSet/>
      <dgm:spPr/>
      <dgm:t>
        <a:bodyPr/>
        <a:lstStyle/>
        <a:p>
          <a:endParaRPr lang="fr-FR"/>
        </a:p>
      </dgm:t>
    </dgm:pt>
    <dgm:pt modelId="{BB46A566-82A8-41F1-B1F0-3BDCE0A5E4AB}">
      <dgm:prSet custT="1"/>
      <dgm:spPr/>
      <dgm:t>
        <a:bodyPr/>
        <a:lstStyle/>
        <a:p>
          <a:pPr>
            <a:buFont typeface="Arial" panose="020B0604020202020204" pitchFamily="34" charset="0"/>
            <a:buChar char="•"/>
          </a:pPr>
          <a:r>
            <a:rPr lang="fr-FR" sz="1300" b="0" dirty="0"/>
            <a:t> Utilise des certificats intermédiaires pour limiter les risques</a:t>
          </a:r>
        </a:p>
      </dgm:t>
    </dgm:pt>
    <dgm:pt modelId="{36E2B7EF-5305-4845-B62D-3D7446D9025F}" type="parTrans" cxnId="{127E15E0-5302-416C-87EC-63D6E404C4FB}">
      <dgm:prSet/>
      <dgm:spPr/>
      <dgm:t>
        <a:bodyPr/>
        <a:lstStyle/>
        <a:p>
          <a:endParaRPr lang="fr-FR"/>
        </a:p>
      </dgm:t>
    </dgm:pt>
    <dgm:pt modelId="{EF547B93-0007-483F-889A-8425C8D9C694}" type="sibTrans" cxnId="{127E15E0-5302-416C-87EC-63D6E404C4FB}">
      <dgm:prSet/>
      <dgm:spPr/>
      <dgm:t>
        <a:bodyPr/>
        <a:lstStyle/>
        <a:p>
          <a:endParaRPr lang="fr-FR"/>
        </a:p>
      </dgm:t>
    </dgm:pt>
    <dgm:pt modelId="{55BF3AB0-F3D8-466B-B9BC-988F118B6E79}">
      <dgm:prSet phldrT="[Texte]" custT="1"/>
      <dgm:spPr/>
      <dgm:t>
        <a:bodyPr/>
        <a:lstStyle/>
        <a:p>
          <a:pPr>
            <a:buFont typeface="Arial" panose="020B0604020202020204" pitchFamily="34" charset="0"/>
            <a:buChar char="•"/>
          </a:pPr>
          <a:r>
            <a:rPr lang="fr-FR" sz="1300" b="0" dirty="0">
              <a:solidFill>
                <a:srgbClr val="42C5A5"/>
              </a:solidFill>
            </a:rPr>
            <a:t>Fonction</a:t>
          </a:r>
        </a:p>
      </dgm:t>
    </dgm:pt>
    <dgm:pt modelId="{328A24E2-643A-4F46-B597-CED4296124BC}" type="parTrans" cxnId="{323DA167-D34D-40A3-9196-B27CB4B8170A}">
      <dgm:prSet/>
      <dgm:spPr/>
      <dgm:t>
        <a:bodyPr/>
        <a:lstStyle/>
        <a:p>
          <a:endParaRPr lang="fr-FR"/>
        </a:p>
      </dgm:t>
    </dgm:pt>
    <dgm:pt modelId="{0185AD14-9179-4455-8C56-9644452D92AC}" type="sibTrans" cxnId="{323DA167-D34D-40A3-9196-B27CB4B8170A}">
      <dgm:prSet/>
      <dgm:spPr/>
      <dgm:t>
        <a:bodyPr/>
        <a:lstStyle/>
        <a:p>
          <a:endParaRPr lang="fr-FR"/>
        </a:p>
      </dgm:t>
    </dgm:pt>
    <dgm:pt modelId="{08A47095-A0CF-4C49-8C8A-18B701F76FA8}">
      <dgm:prSet custT="1"/>
      <dgm:spPr/>
      <dgm:t>
        <a:bodyPr/>
        <a:lstStyle/>
        <a:p>
          <a:pPr>
            <a:buFont typeface="Arial" panose="020B0604020202020204" pitchFamily="34" charset="0"/>
            <a:buChar char="•"/>
          </a:pPr>
          <a:r>
            <a:rPr lang="fr-FR" sz="1300" b="0" dirty="0"/>
            <a:t>Sert de lien entre le certificat racine et le certificat serveur</a:t>
          </a:r>
        </a:p>
      </dgm:t>
    </dgm:pt>
    <dgm:pt modelId="{217D391B-8FAB-4155-97DA-2B701C5413E1}" type="parTrans" cxnId="{612B08F1-6E8D-4C76-9AC6-68E1402AC139}">
      <dgm:prSet/>
      <dgm:spPr/>
      <dgm:t>
        <a:bodyPr/>
        <a:lstStyle/>
        <a:p>
          <a:endParaRPr lang="fr-FR"/>
        </a:p>
      </dgm:t>
    </dgm:pt>
    <dgm:pt modelId="{A72051E1-9636-468D-B4D6-6E6550463C61}" type="sibTrans" cxnId="{612B08F1-6E8D-4C76-9AC6-68E1402AC139}">
      <dgm:prSet/>
      <dgm:spPr/>
      <dgm:t>
        <a:bodyPr/>
        <a:lstStyle/>
        <a:p>
          <a:endParaRPr lang="fr-FR"/>
        </a:p>
      </dgm:t>
    </dgm:pt>
    <dgm:pt modelId="{319F9EB1-1707-4595-A3E6-CACBAD41E987}">
      <dgm:prSet custT="1"/>
      <dgm:spPr/>
      <dgm:t>
        <a:bodyPr/>
        <a:lstStyle/>
        <a:p>
          <a:pPr>
            <a:buFont typeface="Arial" panose="020B0604020202020204" pitchFamily="34" charset="0"/>
            <a:buChar char="•"/>
          </a:pPr>
          <a:r>
            <a:rPr lang="fr-FR" sz="1300" b="0" dirty="0"/>
            <a:t>Établit une chaîne de confiance intermédiaire</a:t>
          </a:r>
        </a:p>
      </dgm:t>
    </dgm:pt>
    <dgm:pt modelId="{99570F27-322C-4B5B-B35B-2C73FC64DD63}" type="parTrans" cxnId="{767268CA-3272-4BD5-A9D8-63D9E5ABD66B}">
      <dgm:prSet/>
      <dgm:spPr/>
      <dgm:t>
        <a:bodyPr/>
        <a:lstStyle/>
        <a:p>
          <a:endParaRPr lang="fr-FR"/>
        </a:p>
      </dgm:t>
    </dgm:pt>
    <dgm:pt modelId="{0E2CF4CB-E320-49C5-A907-ECD612C88402}" type="sibTrans" cxnId="{767268CA-3272-4BD5-A9D8-63D9E5ABD66B}">
      <dgm:prSet/>
      <dgm:spPr/>
      <dgm:t>
        <a:bodyPr/>
        <a:lstStyle/>
        <a:p>
          <a:endParaRPr lang="fr-FR"/>
        </a:p>
      </dgm:t>
    </dgm:pt>
    <dgm:pt modelId="{B3381098-B8AE-4F4A-8CCA-8863CBD217B3}">
      <dgm:prSet custT="1"/>
      <dgm:spPr/>
      <dgm:t>
        <a:bodyPr/>
        <a:lstStyle/>
        <a:p>
          <a:pPr>
            <a:buFont typeface="Arial" panose="020B0604020202020204" pitchFamily="34" charset="0"/>
            <a:buChar char="•"/>
          </a:pPr>
          <a:r>
            <a:rPr lang="fr-FR" sz="1300" b="0" dirty="0">
              <a:solidFill>
                <a:srgbClr val="42C5A5"/>
              </a:solidFill>
            </a:rPr>
            <a:t>Signature</a:t>
          </a:r>
        </a:p>
      </dgm:t>
    </dgm:pt>
    <dgm:pt modelId="{C9C1E9ED-7035-48B8-BCA1-3196E6B7014B}" type="parTrans" cxnId="{3B6262C2-4922-499E-9307-664EFD0D37FD}">
      <dgm:prSet/>
      <dgm:spPr/>
      <dgm:t>
        <a:bodyPr/>
        <a:lstStyle/>
        <a:p>
          <a:endParaRPr lang="fr-FR"/>
        </a:p>
      </dgm:t>
    </dgm:pt>
    <dgm:pt modelId="{A942955E-2DD4-4D54-916A-269B52BA54D3}" type="sibTrans" cxnId="{3B6262C2-4922-499E-9307-664EFD0D37FD}">
      <dgm:prSet/>
      <dgm:spPr/>
      <dgm:t>
        <a:bodyPr/>
        <a:lstStyle/>
        <a:p>
          <a:endParaRPr lang="fr-FR"/>
        </a:p>
      </dgm:t>
    </dgm:pt>
    <dgm:pt modelId="{DD193868-3C42-4CE9-9AC6-885D0EE3861C}">
      <dgm:prSet custT="1"/>
      <dgm:spPr/>
      <dgm:t>
        <a:bodyPr/>
        <a:lstStyle/>
        <a:p>
          <a:pPr>
            <a:buFont typeface="Arial" panose="020B0604020202020204" pitchFamily="34" charset="0"/>
            <a:buChar char="•"/>
          </a:pPr>
          <a:r>
            <a:rPr lang="fr-FR" sz="1300" b="0" dirty="0"/>
            <a:t>Signé par la clé privée du certificat racine</a:t>
          </a:r>
        </a:p>
      </dgm:t>
    </dgm:pt>
    <dgm:pt modelId="{255F506D-6FE2-4528-B7ED-0913D32F69D6}" type="parTrans" cxnId="{E9103877-8FAD-4FFD-9F46-E45D74E2820F}">
      <dgm:prSet/>
      <dgm:spPr/>
      <dgm:t>
        <a:bodyPr/>
        <a:lstStyle/>
        <a:p>
          <a:endParaRPr lang="fr-FR"/>
        </a:p>
      </dgm:t>
    </dgm:pt>
    <dgm:pt modelId="{3EF27473-BE56-4027-960D-893054F17469}" type="sibTrans" cxnId="{E9103877-8FAD-4FFD-9F46-E45D74E2820F}">
      <dgm:prSet/>
      <dgm:spPr/>
      <dgm:t>
        <a:bodyPr/>
        <a:lstStyle/>
        <a:p>
          <a:endParaRPr lang="fr-FR"/>
        </a:p>
      </dgm:t>
    </dgm:pt>
    <dgm:pt modelId="{F83BDE47-9ECF-4499-B446-1C3C069DE323}">
      <dgm:prSet custT="1"/>
      <dgm:spPr/>
      <dgm:t>
        <a:bodyPr/>
        <a:lstStyle/>
        <a:p>
          <a:pPr>
            <a:buFont typeface="Arial" panose="020B0604020202020204" pitchFamily="34" charset="0"/>
            <a:buChar char="•"/>
          </a:pPr>
          <a:r>
            <a:rPr lang="fr-FR" sz="1300" b="0" dirty="0"/>
            <a:t>Sert à signer les certificats SSL/TLS des serveurs</a:t>
          </a:r>
        </a:p>
      </dgm:t>
    </dgm:pt>
    <dgm:pt modelId="{9BA2036C-EE19-4AB9-90FC-235599264D53}" type="parTrans" cxnId="{4E654679-9EC0-4273-9321-D6498278CBF5}">
      <dgm:prSet/>
      <dgm:spPr/>
      <dgm:t>
        <a:bodyPr/>
        <a:lstStyle/>
        <a:p>
          <a:endParaRPr lang="fr-FR"/>
        </a:p>
      </dgm:t>
    </dgm:pt>
    <dgm:pt modelId="{98937540-9AF6-419C-8B49-19D52EE9925F}" type="sibTrans" cxnId="{4E654679-9EC0-4273-9321-D6498278CBF5}">
      <dgm:prSet/>
      <dgm:spPr/>
      <dgm:t>
        <a:bodyPr/>
        <a:lstStyle/>
        <a:p>
          <a:endParaRPr lang="fr-FR"/>
        </a:p>
      </dgm:t>
    </dgm:pt>
    <dgm:pt modelId="{D77CD734-8AFC-4A33-A046-0B40399C032D}">
      <dgm:prSet custT="1"/>
      <dgm:spPr/>
      <dgm:t>
        <a:bodyPr/>
        <a:lstStyle/>
        <a:p>
          <a:pPr>
            <a:buFont typeface="Arial" panose="020B0604020202020204" pitchFamily="34" charset="0"/>
            <a:buChar char="•"/>
          </a:pPr>
          <a:r>
            <a:rPr lang="fr-FR" sz="1300" b="0" dirty="0">
              <a:solidFill>
                <a:srgbClr val="42C5A5"/>
              </a:solidFill>
            </a:rPr>
            <a:t>Structure</a:t>
          </a:r>
        </a:p>
      </dgm:t>
    </dgm:pt>
    <dgm:pt modelId="{1177E654-6EBE-4574-B5D7-D2275DAD63AA}" type="parTrans" cxnId="{B030BC4D-CEF5-441C-93E4-2DDED8A460F4}">
      <dgm:prSet/>
      <dgm:spPr/>
      <dgm:t>
        <a:bodyPr/>
        <a:lstStyle/>
        <a:p>
          <a:endParaRPr lang="fr-FR"/>
        </a:p>
      </dgm:t>
    </dgm:pt>
    <dgm:pt modelId="{3AF1763C-1D2F-4A47-9ECB-BBA7F6C5A2F5}" type="sibTrans" cxnId="{B030BC4D-CEF5-441C-93E4-2DDED8A460F4}">
      <dgm:prSet/>
      <dgm:spPr/>
      <dgm:t>
        <a:bodyPr/>
        <a:lstStyle/>
        <a:p>
          <a:endParaRPr lang="fr-FR"/>
        </a:p>
      </dgm:t>
    </dgm:pt>
    <dgm:pt modelId="{58E2832E-AC79-4563-820C-C3B0C019D6CD}">
      <dgm:prSet custT="1"/>
      <dgm:spPr/>
      <dgm:t>
        <a:bodyPr/>
        <a:lstStyle/>
        <a:p>
          <a:pPr>
            <a:buFont typeface="Arial" panose="020B0604020202020204" pitchFamily="34" charset="0"/>
            <a:buChar char="•"/>
          </a:pPr>
          <a:r>
            <a:rPr lang="fr-FR" sz="1300" b="0" dirty="0"/>
            <a:t>L'émetteur est une autorité de certification intermédiaire</a:t>
          </a:r>
        </a:p>
      </dgm:t>
    </dgm:pt>
    <dgm:pt modelId="{89297E93-FE74-47E4-A073-3CB027D1AD2D}" type="parTrans" cxnId="{9EF815BE-CA3B-4EFB-AF64-4BC565A44CC9}">
      <dgm:prSet/>
      <dgm:spPr/>
      <dgm:t>
        <a:bodyPr/>
        <a:lstStyle/>
        <a:p>
          <a:endParaRPr lang="fr-FR"/>
        </a:p>
      </dgm:t>
    </dgm:pt>
    <dgm:pt modelId="{1873B612-A26C-42DD-8AFD-58FB61CECEBC}" type="sibTrans" cxnId="{9EF815BE-CA3B-4EFB-AF64-4BC565A44CC9}">
      <dgm:prSet/>
      <dgm:spPr/>
      <dgm:t>
        <a:bodyPr/>
        <a:lstStyle/>
        <a:p>
          <a:endParaRPr lang="fr-FR"/>
        </a:p>
      </dgm:t>
    </dgm:pt>
    <dgm:pt modelId="{31E0B8AA-19A7-499A-B539-1F9B83D45E9E}">
      <dgm:prSet custT="1"/>
      <dgm:spPr/>
      <dgm:t>
        <a:bodyPr/>
        <a:lstStyle/>
        <a:p>
          <a:pPr>
            <a:buFont typeface="Arial" panose="020B0604020202020204" pitchFamily="34" charset="0"/>
            <a:buChar char="•"/>
          </a:pPr>
          <a:r>
            <a:rPr lang="fr-FR" sz="1300" b="0" dirty="0"/>
            <a:t>Le sujet est le site ou l’organisation concernée</a:t>
          </a:r>
        </a:p>
      </dgm:t>
    </dgm:pt>
    <dgm:pt modelId="{D1C76708-E365-4A6E-B1FE-2BDD972D140A}" type="parTrans" cxnId="{86EF1AE0-1823-4935-96B5-3670514D5E0D}">
      <dgm:prSet/>
      <dgm:spPr/>
      <dgm:t>
        <a:bodyPr/>
        <a:lstStyle/>
        <a:p>
          <a:endParaRPr lang="fr-FR"/>
        </a:p>
      </dgm:t>
    </dgm:pt>
    <dgm:pt modelId="{BE4FF4D4-6C8C-4141-B10B-22886B81A557}" type="sibTrans" cxnId="{86EF1AE0-1823-4935-96B5-3670514D5E0D}">
      <dgm:prSet/>
      <dgm:spPr/>
      <dgm:t>
        <a:bodyPr/>
        <a:lstStyle/>
        <a:p>
          <a:endParaRPr lang="fr-FR"/>
        </a:p>
      </dgm:t>
    </dgm:pt>
    <dgm:pt modelId="{5DF1F774-CDF3-40E0-A6B4-BE05A5F42868}">
      <dgm:prSet custT="1"/>
      <dgm:spPr/>
      <dgm:t>
        <a:bodyPr/>
        <a:lstStyle/>
        <a:p>
          <a:pPr>
            <a:buFont typeface="Arial" panose="020B0604020202020204" pitchFamily="34" charset="0"/>
            <a:buChar char="•"/>
          </a:pPr>
          <a:r>
            <a:rPr lang="fr-FR" sz="1300" b="0" dirty="0">
              <a:solidFill>
                <a:srgbClr val="42C5A5"/>
              </a:solidFill>
            </a:rPr>
            <a:t>Caractéristiques</a:t>
          </a:r>
        </a:p>
      </dgm:t>
    </dgm:pt>
    <dgm:pt modelId="{A1BF63B2-48D6-4D6C-AB99-8FF211EDF54E}" type="parTrans" cxnId="{A7822433-119F-4F90-AAC0-90866209F612}">
      <dgm:prSet/>
      <dgm:spPr/>
      <dgm:t>
        <a:bodyPr/>
        <a:lstStyle/>
        <a:p>
          <a:endParaRPr lang="fr-FR"/>
        </a:p>
      </dgm:t>
    </dgm:pt>
    <dgm:pt modelId="{F5E406CD-9B1E-42D1-9AE8-364BEEDBB2B6}" type="sibTrans" cxnId="{A7822433-119F-4F90-AAC0-90866209F612}">
      <dgm:prSet/>
      <dgm:spPr/>
      <dgm:t>
        <a:bodyPr/>
        <a:lstStyle/>
        <a:p>
          <a:endParaRPr lang="fr-FR"/>
        </a:p>
      </dgm:t>
    </dgm:pt>
    <dgm:pt modelId="{FB8288B5-5509-46CF-9851-E499E7687D19}">
      <dgm:prSet custT="1"/>
      <dgm:spPr/>
      <dgm:t>
        <a:bodyPr/>
        <a:lstStyle/>
        <a:p>
          <a:pPr>
            <a:buFont typeface="Arial" panose="020B0604020202020204" pitchFamily="34" charset="0"/>
            <a:buChar char="•"/>
          </a:pPr>
          <a:r>
            <a:rPr lang="fr-FR" sz="1300" b="0" dirty="0"/>
            <a:t>Il peut y avoir plusieurs certificats intermédiaires</a:t>
          </a:r>
        </a:p>
      </dgm:t>
    </dgm:pt>
    <dgm:pt modelId="{9D3974A2-0AC6-4592-AB63-15EBEC202D73}" type="parTrans" cxnId="{4B711CDE-C5A3-442D-9338-7AEAD0A1D65A}">
      <dgm:prSet/>
      <dgm:spPr/>
      <dgm:t>
        <a:bodyPr/>
        <a:lstStyle/>
        <a:p>
          <a:endParaRPr lang="fr-FR"/>
        </a:p>
      </dgm:t>
    </dgm:pt>
    <dgm:pt modelId="{7B4A56BA-5315-493F-A40D-E91B4BD0CAB7}" type="sibTrans" cxnId="{4B711CDE-C5A3-442D-9338-7AEAD0A1D65A}">
      <dgm:prSet/>
      <dgm:spPr/>
      <dgm:t>
        <a:bodyPr/>
        <a:lstStyle/>
        <a:p>
          <a:endParaRPr lang="fr-FR"/>
        </a:p>
      </dgm:t>
    </dgm:pt>
    <dgm:pt modelId="{1A99C605-0C2C-42E5-8A33-F01C3B5B2E05}">
      <dgm:prSet custT="1"/>
      <dgm:spPr/>
      <dgm:t>
        <a:bodyPr/>
        <a:lstStyle/>
        <a:p>
          <a:pPr>
            <a:buFont typeface="Arial" panose="020B0604020202020204" pitchFamily="34" charset="0"/>
            <a:buChar char="•"/>
          </a:pPr>
          <a:r>
            <a:rPr lang="fr-FR" sz="1300" b="0" dirty="0"/>
            <a:t>Indispensable : une chaîne de certification valide en requiert au moins un</a:t>
          </a:r>
        </a:p>
      </dgm:t>
    </dgm:pt>
    <dgm:pt modelId="{A4E36FEB-B26E-40BF-8EB9-2CE626597DB4}" type="parTrans" cxnId="{CCAF8880-5534-4C88-A2FE-6647AFFADFB8}">
      <dgm:prSet/>
      <dgm:spPr/>
      <dgm:t>
        <a:bodyPr/>
        <a:lstStyle/>
        <a:p>
          <a:endParaRPr lang="fr-FR"/>
        </a:p>
      </dgm:t>
    </dgm:pt>
    <dgm:pt modelId="{3A8602E3-FDE9-425A-86FA-27748EEDBB12}" type="sibTrans" cxnId="{CCAF8880-5534-4C88-A2FE-6647AFFADFB8}">
      <dgm:prSet/>
      <dgm:spPr/>
      <dgm:t>
        <a:bodyPr/>
        <a:lstStyle/>
        <a:p>
          <a:endParaRPr lang="fr-FR"/>
        </a:p>
      </dgm:t>
    </dgm:pt>
    <dgm:pt modelId="{3B3DEF8E-B7B7-4FB6-BDE1-1CEF3DDE36FA}">
      <dgm:prSet phldrT="[Texte]" custT="1"/>
      <dgm:spPr/>
      <dgm:t>
        <a:bodyPr/>
        <a:lstStyle/>
        <a:p>
          <a:pPr>
            <a:buNone/>
          </a:pPr>
          <a:r>
            <a:rPr lang="fr-FR" sz="1300" b="0" dirty="0">
              <a:solidFill>
                <a:srgbClr val="42C5A5"/>
              </a:solidFill>
            </a:rPr>
            <a:t>Émission</a:t>
          </a:r>
          <a:endParaRPr lang="fr-FR" sz="1300" b="0" i="0" dirty="0">
            <a:solidFill>
              <a:srgbClr val="42C5A5"/>
            </a:solidFill>
          </a:endParaRPr>
        </a:p>
      </dgm:t>
    </dgm:pt>
    <dgm:pt modelId="{7E2AA1BA-49B6-4E0C-887E-A215B8B92291}" type="parTrans" cxnId="{57783750-3537-43C7-94C5-073269835F18}">
      <dgm:prSet/>
      <dgm:spPr/>
      <dgm:t>
        <a:bodyPr/>
        <a:lstStyle/>
        <a:p>
          <a:endParaRPr lang="fr-FR"/>
        </a:p>
      </dgm:t>
    </dgm:pt>
    <dgm:pt modelId="{044347ED-04C1-44DE-BDA8-615A04046EA4}" type="sibTrans" cxnId="{57783750-3537-43C7-94C5-073269835F18}">
      <dgm:prSet/>
      <dgm:spPr/>
      <dgm:t>
        <a:bodyPr/>
        <a:lstStyle/>
        <a:p>
          <a:endParaRPr lang="fr-FR"/>
        </a:p>
      </dgm:t>
    </dgm:pt>
    <dgm:pt modelId="{A06A1D93-DEDA-430E-BEEA-9D4487C4F71B}">
      <dgm:prSet custT="1"/>
      <dgm:spPr/>
      <dgm:t>
        <a:bodyPr/>
        <a:lstStyle/>
        <a:p>
          <a:pPr>
            <a:buFont typeface="Arial" panose="020B0604020202020204" pitchFamily="34" charset="0"/>
            <a:buChar char="•"/>
          </a:pPr>
          <a:r>
            <a:rPr lang="fr-FR" sz="1300" b="0"/>
            <a:t>Délivré par une autorité de certification pour un domaine spécifique</a:t>
          </a:r>
        </a:p>
      </dgm:t>
    </dgm:pt>
    <dgm:pt modelId="{B37F8697-752F-4195-85F7-6B8AFEA96FD5}" type="parTrans" cxnId="{512BC1FB-CCE1-415E-AA1E-951A6F7D6D40}">
      <dgm:prSet/>
      <dgm:spPr/>
      <dgm:t>
        <a:bodyPr/>
        <a:lstStyle/>
        <a:p>
          <a:endParaRPr lang="fr-FR"/>
        </a:p>
      </dgm:t>
    </dgm:pt>
    <dgm:pt modelId="{43961366-0166-4FF9-999E-DAE4F60FFBA5}" type="sibTrans" cxnId="{512BC1FB-CCE1-415E-AA1E-951A6F7D6D40}">
      <dgm:prSet/>
      <dgm:spPr/>
      <dgm:t>
        <a:bodyPr/>
        <a:lstStyle/>
        <a:p>
          <a:endParaRPr lang="fr-FR"/>
        </a:p>
      </dgm:t>
    </dgm:pt>
    <dgm:pt modelId="{CA6F3438-D18E-41B7-88D1-12976A719256}">
      <dgm:prSet custT="1"/>
      <dgm:spPr/>
      <dgm:t>
        <a:bodyPr/>
        <a:lstStyle/>
        <a:p>
          <a:pPr>
            <a:buFont typeface="Arial" panose="020B0604020202020204" pitchFamily="34" charset="0"/>
            <a:buChar char="•"/>
          </a:pPr>
          <a:r>
            <a:rPr lang="fr-FR" sz="1300" b="0" dirty="0"/>
            <a:t>Concrétise l'identité du site ou serveur final</a:t>
          </a:r>
        </a:p>
      </dgm:t>
    </dgm:pt>
    <dgm:pt modelId="{632FA3F1-C8A6-436B-8ABD-C5F7D83A03B6}" type="parTrans" cxnId="{F39BEF9A-8665-4BAC-9DBE-3452E8DFDC91}">
      <dgm:prSet/>
      <dgm:spPr/>
      <dgm:t>
        <a:bodyPr/>
        <a:lstStyle/>
        <a:p>
          <a:endParaRPr lang="fr-FR"/>
        </a:p>
      </dgm:t>
    </dgm:pt>
    <dgm:pt modelId="{C866A824-9B62-4073-AA18-E03E30EAE5B5}" type="sibTrans" cxnId="{F39BEF9A-8665-4BAC-9DBE-3452E8DFDC91}">
      <dgm:prSet/>
      <dgm:spPr/>
      <dgm:t>
        <a:bodyPr/>
        <a:lstStyle/>
        <a:p>
          <a:endParaRPr lang="fr-FR"/>
        </a:p>
      </dgm:t>
    </dgm:pt>
    <dgm:pt modelId="{46A94910-FA74-4822-90CD-101087F216B4}">
      <dgm:prSet custT="1"/>
      <dgm:spPr/>
      <dgm:t>
        <a:bodyPr/>
        <a:lstStyle/>
        <a:p>
          <a:pPr>
            <a:buFont typeface="Arial" panose="020B0604020202020204" pitchFamily="34" charset="0"/>
            <a:buChar char="•"/>
          </a:pPr>
          <a:r>
            <a:rPr lang="fr-FR" sz="1300" b="0" dirty="0">
              <a:solidFill>
                <a:srgbClr val="42C5A5"/>
              </a:solidFill>
            </a:rPr>
            <a:t>Nom technique</a:t>
          </a:r>
        </a:p>
      </dgm:t>
    </dgm:pt>
    <dgm:pt modelId="{1031C824-E2E6-4081-AF51-2D4CD4B4D0F0}" type="parTrans" cxnId="{D1E15984-5B17-4C71-BDFB-C5592450A2A5}">
      <dgm:prSet/>
      <dgm:spPr/>
      <dgm:t>
        <a:bodyPr/>
        <a:lstStyle/>
        <a:p>
          <a:endParaRPr lang="fr-FR"/>
        </a:p>
      </dgm:t>
    </dgm:pt>
    <dgm:pt modelId="{C0791CE6-F2C2-489B-A746-279C238C78E3}" type="sibTrans" cxnId="{D1E15984-5B17-4C71-BDFB-C5592450A2A5}">
      <dgm:prSet/>
      <dgm:spPr/>
      <dgm:t>
        <a:bodyPr/>
        <a:lstStyle/>
        <a:p>
          <a:endParaRPr lang="fr-FR"/>
        </a:p>
      </dgm:t>
    </dgm:pt>
    <dgm:pt modelId="{C2BA4AAB-63C0-4431-AB09-72731563B67B}">
      <dgm:prSet custT="1"/>
      <dgm:spPr/>
      <dgm:t>
        <a:bodyPr/>
        <a:lstStyle/>
        <a:p>
          <a:pPr>
            <a:buFont typeface="Arial" panose="020B0604020202020204" pitchFamily="34" charset="0"/>
            <a:buChar char="•"/>
          </a:pPr>
          <a:r>
            <a:rPr lang="fr-FR" sz="1300" b="0" dirty="0"/>
            <a:t>Appelé aussi certificat SSL/TLS</a:t>
          </a:r>
        </a:p>
      </dgm:t>
    </dgm:pt>
    <dgm:pt modelId="{35AD7820-0259-43EC-A93D-FA3F9FB04C91}" type="parTrans" cxnId="{3A64E650-D5A9-421C-9564-886BD5AC0B8D}">
      <dgm:prSet/>
      <dgm:spPr/>
      <dgm:t>
        <a:bodyPr/>
        <a:lstStyle/>
        <a:p>
          <a:endParaRPr lang="fr-FR"/>
        </a:p>
      </dgm:t>
    </dgm:pt>
    <dgm:pt modelId="{4D760B3E-5C4A-46B6-9C8A-A17A5AD79A13}" type="sibTrans" cxnId="{3A64E650-D5A9-421C-9564-886BD5AC0B8D}">
      <dgm:prSet/>
      <dgm:spPr/>
      <dgm:t>
        <a:bodyPr/>
        <a:lstStyle/>
        <a:p>
          <a:endParaRPr lang="fr-FR"/>
        </a:p>
      </dgm:t>
    </dgm:pt>
    <dgm:pt modelId="{510ED512-6D4A-4925-8D54-93FD135F8F97}">
      <dgm:prSet custT="1"/>
      <dgm:spPr/>
      <dgm:t>
        <a:bodyPr/>
        <a:lstStyle/>
        <a:p>
          <a:pPr>
            <a:buFont typeface="Arial" panose="020B0604020202020204" pitchFamily="34" charset="0"/>
            <a:buChar char="•"/>
          </a:pPr>
          <a:r>
            <a:rPr lang="fr-FR" sz="1300" b="0" dirty="0">
              <a:solidFill>
                <a:srgbClr val="42C5A5"/>
              </a:solidFill>
            </a:rPr>
            <a:t>Fonction</a:t>
          </a:r>
        </a:p>
      </dgm:t>
    </dgm:pt>
    <dgm:pt modelId="{F6863987-8A99-4575-BFB1-688FCDB0D9F2}" type="parTrans" cxnId="{DD62CD9A-B3E7-4D90-8B1B-A6550C91F707}">
      <dgm:prSet/>
      <dgm:spPr/>
      <dgm:t>
        <a:bodyPr/>
        <a:lstStyle/>
        <a:p>
          <a:endParaRPr lang="fr-FR"/>
        </a:p>
      </dgm:t>
    </dgm:pt>
    <dgm:pt modelId="{457845C4-15EB-4E8A-AC4C-0104A5BFFE1F}" type="sibTrans" cxnId="{DD62CD9A-B3E7-4D90-8B1B-A6550C91F707}">
      <dgm:prSet/>
      <dgm:spPr/>
      <dgm:t>
        <a:bodyPr/>
        <a:lstStyle/>
        <a:p>
          <a:endParaRPr lang="fr-FR"/>
        </a:p>
      </dgm:t>
    </dgm:pt>
    <dgm:pt modelId="{333D371C-AE18-41C3-AB74-EB8D03A7C8B3}">
      <dgm:prSet custT="1"/>
      <dgm:spPr/>
      <dgm:t>
        <a:bodyPr/>
        <a:lstStyle/>
        <a:p>
          <a:pPr>
            <a:buFont typeface="Arial" panose="020B0604020202020204" pitchFamily="34" charset="0"/>
            <a:buChar char="•"/>
          </a:pPr>
          <a:r>
            <a:rPr lang="fr-FR" sz="1300" b="0" dirty="0"/>
            <a:t>Permet de chiffrer les communications via le protocole HTTPS</a:t>
          </a:r>
        </a:p>
      </dgm:t>
    </dgm:pt>
    <dgm:pt modelId="{1207E158-0AC7-4AEC-95F4-8911031A0F19}" type="parTrans" cxnId="{5D0791D0-C16F-48E0-8525-2ACD1DED43B8}">
      <dgm:prSet/>
      <dgm:spPr/>
      <dgm:t>
        <a:bodyPr/>
        <a:lstStyle/>
        <a:p>
          <a:endParaRPr lang="fr-FR"/>
        </a:p>
      </dgm:t>
    </dgm:pt>
    <dgm:pt modelId="{42CC3438-40D4-4430-99B2-2A481E9CFF4E}" type="sibTrans" cxnId="{5D0791D0-C16F-48E0-8525-2ACD1DED43B8}">
      <dgm:prSet/>
      <dgm:spPr/>
      <dgm:t>
        <a:bodyPr/>
        <a:lstStyle/>
        <a:p>
          <a:endParaRPr lang="fr-FR"/>
        </a:p>
      </dgm:t>
    </dgm:pt>
    <dgm:pt modelId="{12F8FF84-2A79-4C94-A08B-793FECE41CD4}">
      <dgm:prSet custT="1"/>
      <dgm:spPr/>
      <dgm:t>
        <a:bodyPr/>
        <a:lstStyle/>
        <a:p>
          <a:pPr>
            <a:buFont typeface="Arial" panose="020B0604020202020204" pitchFamily="34" charset="0"/>
            <a:buChar char="•"/>
          </a:pPr>
          <a:r>
            <a:rPr lang="fr-FR" sz="1300" b="0"/>
            <a:t>Remplace HTTP par HTTPS dans l’URL</a:t>
          </a:r>
        </a:p>
      </dgm:t>
    </dgm:pt>
    <dgm:pt modelId="{EFDA4F08-469C-4440-8F4E-67E2CC25ECFB}" type="parTrans" cxnId="{BEA6BB4C-4B08-428C-B569-AEB5EC81D7F0}">
      <dgm:prSet/>
      <dgm:spPr/>
      <dgm:t>
        <a:bodyPr/>
        <a:lstStyle/>
        <a:p>
          <a:endParaRPr lang="fr-FR"/>
        </a:p>
      </dgm:t>
    </dgm:pt>
    <dgm:pt modelId="{FED607EA-972C-45D7-AD30-8C9D7220AB91}" type="sibTrans" cxnId="{BEA6BB4C-4B08-428C-B569-AEB5EC81D7F0}">
      <dgm:prSet/>
      <dgm:spPr/>
      <dgm:t>
        <a:bodyPr/>
        <a:lstStyle/>
        <a:p>
          <a:endParaRPr lang="fr-FR"/>
        </a:p>
      </dgm:t>
    </dgm:pt>
    <dgm:pt modelId="{61326406-DCBD-421F-BB51-3E61E6C4B8C6}">
      <dgm:prSet custT="1"/>
      <dgm:spPr/>
      <dgm:t>
        <a:bodyPr/>
        <a:lstStyle/>
        <a:p>
          <a:pPr>
            <a:buFont typeface="Arial" panose="020B0604020202020204" pitchFamily="34" charset="0"/>
            <a:buChar char="•"/>
          </a:pPr>
          <a:r>
            <a:rPr lang="fr-FR" sz="1300" b="0" dirty="0">
              <a:solidFill>
                <a:srgbClr val="42C5A5"/>
              </a:solidFill>
            </a:rPr>
            <a:t>Indicateurs visibles</a:t>
          </a:r>
        </a:p>
      </dgm:t>
    </dgm:pt>
    <dgm:pt modelId="{87CBDF3E-2C2A-4DA9-8182-AE124E826ECF}" type="parTrans" cxnId="{2CBB9893-0273-46F3-B43F-56DC0F732F02}">
      <dgm:prSet/>
      <dgm:spPr/>
      <dgm:t>
        <a:bodyPr/>
        <a:lstStyle/>
        <a:p>
          <a:endParaRPr lang="fr-FR"/>
        </a:p>
      </dgm:t>
    </dgm:pt>
    <dgm:pt modelId="{D3541C2A-BAC9-4867-9A39-9ACD8A23AEC9}" type="sibTrans" cxnId="{2CBB9893-0273-46F3-B43F-56DC0F732F02}">
      <dgm:prSet/>
      <dgm:spPr/>
      <dgm:t>
        <a:bodyPr/>
        <a:lstStyle/>
        <a:p>
          <a:endParaRPr lang="fr-FR"/>
        </a:p>
      </dgm:t>
    </dgm:pt>
    <dgm:pt modelId="{CA508C1B-BFB3-491D-BBB9-B07347B7DD30}">
      <dgm:prSet custT="1"/>
      <dgm:spPr/>
      <dgm:t>
        <a:bodyPr/>
        <a:lstStyle/>
        <a:p>
          <a:pPr>
            <a:buFont typeface="Arial" panose="020B0604020202020204" pitchFamily="34" charset="0"/>
            <a:buChar char="•"/>
          </a:pPr>
          <a:r>
            <a:rPr lang="fr-FR" sz="1300" b="0"/>
            <a:t>Cadenas dans la barre d’adresse</a:t>
          </a:r>
        </a:p>
      </dgm:t>
    </dgm:pt>
    <dgm:pt modelId="{24093C95-35C9-404A-A75D-E49419FA7A8A}" type="parTrans" cxnId="{FD6C4472-D230-43ED-96D6-A31CA9B300D7}">
      <dgm:prSet/>
      <dgm:spPr/>
      <dgm:t>
        <a:bodyPr/>
        <a:lstStyle/>
        <a:p>
          <a:endParaRPr lang="fr-FR"/>
        </a:p>
      </dgm:t>
    </dgm:pt>
    <dgm:pt modelId="{3160723F-56F2-4FA9-9F50-A9DBB77A7479}" type="sibTrans" cxnId="{FD6C4472-D230-43ED-96D6-A31CA9B300D7}">
      <dgm:prSet/>
      <dgm:spPr/>
      <dgm:t>
        <a:bodyPr/>
        <a:lstStyle/>
        <a:p>
          <a:endParaRPr lang="fr-FR"/>
        </a:p>
      </dgm:t>
    </dgm:pt>
    <dgm:pt modelId="{74A6DFC0-4580-466D-B758-63A3AE89D0C4}">
      <dgm:prSet custT="1"/>
      <dgm:spPr/>
      <dgm:t>
        <a:bodyPr/>
        <a:lstStyle/>
        <a:p>
          <a:pPr>
            <a:buFont typeface="Arial" panose="020B0604020202020204" pitchFamily="34" charset="0"/>
            <a:buChar char="•"/>
          </a:pPr>
          <a:r>
            <a:rPr lang="fr-FR" sz="1300" b="0" dirty="0"/>
            <a:t>HTTPS devant l’URL</a:t>
          </a:r>
        </a:p>
      </dgm:t>
    </dgm:pt>
    <dgm:pt modelId="{CD2C4698-13F6-428E-AF0D-9ABBBF195699}" type="parTrans" cxnId="{710A9FCF-8B84-4F49-B542-734ED62C0F7B}">
      <dgm:prSet/>
      <dgm:spPr/>
      <dgm:t>
        <a:bodyPr/>
        <a:lstStyle/>
        <a:p>
          <a:endParaRPr lang="fr-FR"/>
        </a:p>
      </dgm:t>
    </dgm:pt>
    <dgm:pt modelId="{DC4DF43B-2873-4612-A4DD-8D1CA4A2A21C}" type="sibTrans" cxnId="{710A9FCF-8B84-4F49-B542-734ED62C0F7B}">
      <dgm:prSet/>
      <dgm:spPr/>
      <dgm:t>
        <a:bodyPr/>
        <a:lstStyle/>
        <a:p>
          <a:endParaRPr lang="fr-FR"/>
        </a:p>
      </dgm:t>
    </dgm:pt>
    <dgm:pt modelId="{C28098D6-91CF-4821-B962-9B78FBF8701E}" type="pres">
      <dgm:prSet presAssocID="{43330E3C-8A5C-4675-9DC0-A5F5D61185DC}" presName="Name0" presStyleCnt="0">
        <dgm:presLayoutVars>
          <dgm:dir/>
          <dgm:animLvl val="lvl"/>
          <dgm:resizeHandles val="exact"/>
        </dgm:presLayoutVars>
      </dgm:prSet>
      <dgm:spPr/>
    </dgm:pt>
    <dgm:pt modelId="{1AC7C6EC-421B-4B78-80A9-C7FBBE1D8973}" type="pres">
      <dgm:prSet presAssocID="{AD964C9E-F929-4414-9171-AEEB08B1FC61}" presName="compositeNode" presStyleCnt="0">
        <dgm:presLayoutVars>
          <dgm:bulletEnabled val="1"/>
        </dgm:presLayoutVars>
      </dgm:prSet>
      <dgm:spPr/>
    </dgm:pt>
    <dgm:pt modelId="{45E818F6-CA85-44B7-8F10-016CBFC6B225}" type="pres">
      <dgm:prSet presAssocID="{AD964C9E-F929-4414-9171-AEEB08B1FC61}" presName="bgRect" presStyleLbl="node1" presStyleIdx="0" presStyleCnt="3"/>
      <dgm:spPr/>
    </dgm:pt>
    <dgm:pt modelId="{BDB806D5-715B-4BB2-BB4F-B337B0B219CF}" type="pres">
      <dgm:prSet presAssocID="{AD964C9E-F929-4414-9171-AEEB08B1FC61}" presName="parentNode" presStyleLbl="node1" presStyleIdx="0" presStyleCnt="3">
        <dgm:presLayoutVars>
          <dgm:chMax val="0"/>
          <dgm:bulletEnabled val="1"/>
        </dgm:presLayoutVars>
      </dgm:prSet>
      <dgm:spPr/>
    </dgm:pt>
    <dgm:pt modelId="{0BD4A106-63D7-471F-978B-5A8A4DEF0D9F}" type="pres">
      <dgm:prSet presAssocID="{AD964C9E-F929-4414-9171-AEEB08B1FC61}" presName="childNode" presStyleLbl="node1" presStyleIdx="0" presStyleCnt="3">
        <dgm:presLayoutVars>
          <dgm:bulletEnabled val="1"/>
        </dgm:presLayoutVars>
      </dgm:prSet>
      <dgm:spPr/>
    </dgm:pt>
    <dgm:pt modelId="{8F81971E-1101-42E5-A054-FD8453331DDF}" type="pres">
      <dgm:prSet presAssocID="{EF17742E-16BB-4F43-8D11-9BD04F025DAC}" presName="hSp" presStyleCnt="0"/>
      <dgm:spPr/>
    </dgm:pt>
    <dgm:pt modelId="{0502259B-0BCC-496C-8930-64016475B758}" type="pres">
      <dgm:prSet presAssocID="{EF17742E-16BB-4F43-8D11-9BD04F025DAC}" presName="vProcSp" presStyleCnt="0"/>
      <dgm:spPr/>
    </dgm:pt>
    <dgm:pt modelId="{8451126B-0511-464B-B4EB-66A76C69BC61}" type="pres">
      <dgm:prSet presAssocID="{EF17742E-16BB-4F43-8D11-9BD04F025DAC}" presName="vSp1" presStyleCnt="0"/>
      <dgm:spPr/>
    </dgm:pt>
    <dgm:pt modelId="{4ECF6A6E-2910-40FC-9224-BCB79619787C}" type="pres">
      <dgm:prSet presAssocID="{EF17742E-16BB-4F43-8D11-9BD04F025DAC}" presName="simulatedConn" presStyleLbl="solidFgAcc1" presStyleIdx="0" presStyleCnt="2"/>
      <dgm:spPr/>
    </dgm:pt>
    <dgm:pt modelId="{69AA8FE2-6A60-494E-8F22-7FC5F5C85185}" type="pres">
      <dgm:prSet presAssocID="{EF17742E-16BB-4F43-8D11-9BD04F025DAC}" presName="vSp2" presStyleCnt="0"/>
      <dgm:spPr/>
    </dgm:pt>
    <dgm:pt modelId="{1B75A07E-9DBC-454D-B215-3CFE1C382518}" type="pres">
      <dgm:prSet presAssocID="{EF17742E-16BB-4F43-8D11-9BD04F025DAC}" presName="sibTrans" presStyleCnt="0"/>
      <dgm:spPr/>
    </dgm:pt>
    <dgm:pt modelId="{F25ED221-F66F-4EDA-9D65-AD0717F55266}" type="pres">
      <dgm:prSet presAssocID="{4BBD8DA0-C4B8-4617-B45D-FB05526A67E2}" presName="compositeNode" presStyleCnt="0">
        <dgm:presLayoutVars>
          <dgm:bulletEnabled val="1"/>
        </dgm:presLayoutVars>
      </dgm:prSet>
      <dgm:spPr/>
    </dgm:pt>
    <dgm:pt modelId="{DCFD2AF7-FA43-4C48-A51F-1F0927C5D0E7}" type="pres">
      <dgm:prSet presAssocID="{4BBD8DA0-C4B8-4617-B45D-FB05526A67E2}" presName="bgRect" presStyleLbl="node1" presStyleIdx="1" presStyleCnt="3"/>
      <dgm:spPr/>
    </dgm:pt>
    <dgm:pt modelId="{654D2CCD-5E5D-4BD7-9F04-8D75C2E08502}" type="pres">
      <dgm:prSet presAssocID="{4BBD8DA0-C4B8-4617-B45D-FB05526A67E2}" presName="parentNode" presStyleLbl="node1" presStyleIdx="1" presStyleCnt="3">
        <dgm:presLayoutVars>
          <dgm:chMax val="0"/>
          <dgm:bulletEnabled val="1"/>
        </dgm:presLayoutVars>
      </dgm:prSet>
      <dgm:spPr/>
    </dgm:pt>
    <dgm:pt modelId="{52D00F53-0FF8-4AA8-AE67-0829025CEE52}" type="pres">
      <dgm:prSet presAssocID="{4BBD8DA0-C4B8-4617-B45D-FB05526A67E2}" presName="childNode" presStyleLbl="node1" presStyleIdx="1" presStyleCnt="3">
        <dgm:presLayoutVars>
          <dgm:bulletEnabled val="1"/>
        </dgm:presLayoutVars>
      </dgm:prSet>
      <dgm:spPr/>
    </dgm:pt>
    <dgm:pt modelId="{5366A0F5-80FD-4BF2-B8FE-410348C113E0}" type="pres">
      <dgm:prSet presAssocID="{3EE432FF-4D89-482C-BF34-3EEDACF82712}" presName="hSp" presStyleCnt="0"/>
      <dgm:spPr/>
    </dgm:pt>
    <dgm:pt modelId="{2CC0F301-2C83-4873-94F1-0EF668157ADD}" type="pres">
      <dgm:prSet presAssocID="{3EE432FF-4D89-482C-BF34-3EEDACF82712}" presName="vProcSp" presStyleCnt="0"/>
      <dgm:spPr/>
    </dgm:pt>
    <dgm:pt modelId="{B57AD8B2-1299-4EA2-8BF5-C2DA2FB3AF9B}" type="pres">
      <dgm:prSet presAssocID="{3EE432FF-4D89-482C-BF34-3EEDACF82712}" presName="vSp1" presStyleCnt="0"/>
      <dgm:spPr/>
    </dgm:pt>
    <dgm:pt modelId="{AA4EAF25-F918-4468-B89A-E9240B08E200}" type="pres">
      <dgm:prSet presAssocID="{3EE432FF-4D89-482C-BF34-3EEDACF82712}" presName="simulatedConn" presStyleLbl="solidFgAcc1" presStyleIdx="1" presStyleCnt="2"/>
      <dgm:spPr/>
    </dgm:pt>
    <dgm:pt modelId="{5F4C5F1E-562F-4CAE-9B77-E6E1B4431742}" type="pres">
      <dgm:prSet presAssocID="{3EE432FF-4D89-482C-BF34-3EEDACF82712}" presName="vSp2" presStyleCnt="0"/>
      <dgm:spPr/>
    </dgm:pt>
    <dgm:pt modelId="{F644799F-A296-44DA-8D7C-921B8665EAA6}" type="pres">
      <dgm:prSet presAssocID="{3EE432FF-4D89-482C-BF34-3EEDACF82712}" presName="sibTrans" presStyleCnt="0"/>
      <dgm:spPr/>
    </dgm:pt>
    <dgm:pt modelId="{3ED2D88B-6F2F-44B9-A346-ED4B24DFE874}" type="pres">
      <dgm:prSet presAssocID="{5B65E039-5FB2-4A4C-B7B1-5F42561B8E6C}" presName="compositeNode" presStyleCnt="0">
        <dgm:presLayoutVars>
          <dgm:bulletEnabled val="1"/>
        </dgm:presLayoutVars>
      </dgm:prSet>
      <dgm:spPr/>
    </dgm:pt>
    <dgm:pt modelId="{20097E4C-9B92-4721-9C5B-F505EEE078A7}" type="pres">
      <dgm:prSet presAssocID="{5B65E039-5FB2-4A4C-B7B1-5F42561B8E6C}" presName="bgRect" presStyleLbl="node1" presStyleIdx="2" presStyleCnt="3"/>
      <dgm:spPr/>
    </dgm:pt>
    <dgm:pt modelId="{004E90B0-3B56-406B-8E26-1813E30E2E87}" type="pres">
      <dgm:prSet presAssocID="{5B65E039-5FB2-4A4C-B7B1-5F42561B8E6C}" presName="parentNode" presStyleLbl="node1" presStyleIdx="2" presStyleCnt="3">
        <dgm:presLayoutVars>
          <dgm:chMax val="0"/>
          <dgm:bulletEnabled val="1"/>
        </dgm:presLayoutVars>
      </dgm:prSet>
      <dgm:spPr/>
    </dgm:pt>
    <dgm:pt modelId="{ACF22CA2-57C9-4D19-88C0-7A8CA4908FB1}" type="pres">
      <dgm:prSet presAssocID="{5B65E039-5FB2-4A4C-B7B1-5F42561B8E6C}" presName="childNode" presStyleLbl="node1" presStyleIdx="2" presStyleCnt="3">
        <dgm:presLayoutVars>
          <dgm:bulletEnabled val="1"/>
        </dgm:presLayoutVars>
      </dgm:prSet>
      <dgm:spPr/>
    </dgm:pt>
  </dgm:ptLst>
  <dgm:cxnLst>
    <dgm:cxn modelId="{D5B6390A-1B77-4BF5-B149-42090B1D2F70}" type="presOf" srcId="{43330E3C-8A5C-4675-9DC0-A5F5D61185DC}" destId="{C28098D6-91CF-4821-B962-9B78FBF8701E}" srcOrd="0" destOrd="0" presId="urn:microsoft.com/office/officeart/2005/8/layout/hProcess7"/>
    <dgm:cxn modelId="{CD37EF0E-14E8-4367-8204-6FAFD0FD3BEB}" srcId="{D2D9DE98-35B5-4B84-9478-DA6B40A3B1DD}" destId="{9060550F-EAD7-4021-89C2-35730AEBFAC2}" srcOrd="1" destOrd="0" parTransId="{B5D45301-C540-4562-A6BE-41A923F31AD0}" sibTransId="{230214D6-9F13-4EED-8EC0-461C70B39059}"/>
    <dgm:cxn modelId="{D4DA6B14-6B10-4B01-AED5-908B726DC1A4}" type="presOf" srcId="{CA6F3438-D18E-41B7-88D1-12976A719256}" destId="{ACF22CA2-57C9-4D19-88C0-7A8CA4908FB1}" srcOrd="0" destOrd="2" presId="urn:microsoft.com/office/officeart/2005/8/layout/hProcess7"/>
    <dgm:cxn modelId="{557D5521-A4B7-461A-A24C-AC5DF5590AC0}" type="presOf" srcId="{A06A1D93-DEDA-430E-BEEA-9D4487C4F71B}" destId="{ACF22CA2-57C9-4D19-88C0-7A8CA4908FB1}" srcOrd="0" destOrd="1" presId="urn:microsoft.com/office/officeart/2005/8/layout/hProcess7"/>
    <dgm:cxn modelId="{BEEFBD32-B454-46B0-B38F-F7501B3944EB}" type="presOf" srcId="{319F9EB1-1707-4595-A3E6-CACBAD41E987}" destId="{52D00F53-0FF8-4AA8-AE67-0829025CEE52}" srcOrd="0" destOrd="2" presId="urn:microsoft.com/office/officeart/2005/8/layout/hProcess7"/>
    <dgm:cxn modelId="{A7822433-119F-4F90-AAC0-90866209F612}" srcId="{4BBD8DA0-C4B8-4617-B45D-FB05526A67E2}" destId="{5DF1F774-CDF3-40E0-A6B4-BE05A5F42868}" srcOrd="3" destOrd="0" parTransId="{A1BF63B2-48D6-4D6C-AB99-8FF211EDF54E}" sibTransId="{F5E406CD-9B1E-42D1-9AE8-364BEEDBB2B6}"/>
    <dgm:cxn modelId="{E1DCC934-452A-4D9B-8EA1-9626D20F74EE}" srcId="{D2D9DE98-35B5-4B84-9478-DA6B40A3B1DD}" destId="{9D4C4C12-4FE8-4758-AD97-57A0C12F3857}" srcOrd="0" destOrd="0" parTransId="{A1C81E1B-F6C7-43E8-89DF-13965892397C}" sibTransId="{DB2FF830-0730-4E97-A103-68EE80D532A4}"/>
    <dgm:cxn modelId="{9F6D333A-2D82-47B9-92FC-545282C89745}" type="presOf" srcId="{D77CD734-8AFC-4A33-A046-0B40399C032D}" destId="{52D00F53-0FF8-4AA8-AE67-0829025CEE52}" srcOrd="0" destOrd="6" presId="urn:microsoft.com/office/officeart/2005/8/layout/hProcess7"/>
    <dgm:cxn modelId="{A8A60544-4ED6-4E23-9064-C9A078AD6D59}" type="presOf" srcId="{004F504C-F2E2-49E7-9BB4-E275FEBF9484}" destId="{0BD4A106-63D7-471F-978B-5A8A4DEF0D9F}" srcOrd="0" destOrd="8" presId="urn:microsoft.com/office/officeart/2005/8/layout/hProcess7"/>
    <dgm:cxn modelId="{55CAB265-63C1-4D2E-AC57-EC8A76D3E787}" type="presOf" srcId="{5B65E039-5FB2-4A4C-B7B1-5F42561B8E6C}" destId="{004E90B0-3B56-406B-8E26-1813E30E2E87}" srcOrd="1" destOrd="0" presId="urn:microsoft.com/office/officeart/2005/8/layout/hProcess7"/>
    <dgm:cxn modelId="{307D8E66-A0DB-4839-B366-CAE64900C36D}" type="presOf" srcId="{CA508C1B-BFB3-491D-BBB9-B07347B7DD30}" destId="{ACF22CA2-57C9-4D19-88C0-7A8CA4908FB1}" srcOrd="0" destOrd="9" presId="urn:microsoft.com/office/officeart/2005/8/layout/hProcess7"/>
    <dgm:cxn modelId="{323DA167-D34D-40A3-9196-B27CB4B8170A}" srcId="{4BBD8DA0-C4B8-4617-B45D-FB05526A67E2}" destId="{55BF3AB0-F3D8-466B-B9BC-988F118B6E79}" srcOrd="0" destOrd="0" parTransId="{328A24E2-643A-4F46-B597-CED4296124BC}" sibTransId="{0185AD14-9179-4455-8C56-9644452D92AC}"/>
    <dgm:cxn modelId="{3F2CD868-F3A8-4A42-B128-E1F68FAD9BD4}" type="presOf" srcId="{3B3DEF8E-B7B7-4FB6-BDE1-1CEF3DDE36FA}" destId="{ACF22CA2-57C9-4D19-88C0-7A8CA4908FB1}" srcOrd="0" destOrd="0" presId="urn:microsoft.com/office/officeart/2005/8/layout/hProcess7"/>
    <dgm:cxn modelId="{F344006B-0101-4EDB-98B7-FC5E84CEB9E2}" type="presOf" srcId="{9D4C4C12-4FE8-4758-AD97-57A0C12F3857}" destId="{0BD4A106-63D7-471F-978B-5A8A4DEF0D9F}" srcOrd="0" destOrd="2" presId="urn:microsoft.com/office/officeart/2005/8/layout/hProcess7"/>
    <dgm:cxn modelId="{74D0564B-0712-4165-B9C3-BDF3CF33C4B9}" type="presOf" srcId="{2147C738-1157-4826-B9D4-CD47F99BB037}" destId="{0BD4A106-63D7-471F-978B-5A8A4DEF0D9F}" srcOrd="0" destOrd="5" presId="urn:microsoft.com/office/officeart/2005/8/layout/hProcess7"/>
    <dgm:cxn modelId="{6558806B-B310-4DFE-9181-C949FE967B57}" srcId="{2147C738-1157-4826-B9D4-CD47F99BB037}" destId="{E4489D22-3B94-4382-BEE9-DBCEDD08EFED}" srcOrd="0" destOrd="0" parTransId="{E7C80514-6F11-44BC-B3C2-927D9365D6FF}" sibTransId="{0802D434-C57B-49BB-AB40-338D757D50C8}"/>
    <dgm:cxn modelId="{F823914B-C0E8-4ABD-943E-8123A85106BF}" type="presOf" srcId="{4BBD8DA0-C4B8-4617-B45D-FB05526A67E2}" destId="{DCFD2AF7-FA43-4C48-A51F-1F0927C5D0E7}" srcOrd="0" destOrd="0" presId="urn:microsoft.com/office/officeart/2005/8/layout/hProcess7"/>
    <dgm:cxn modelId="{9F48B76B-B7A1-459D-874D-118B0AA9D5CD}" type="presOf" srcId="{55BF3AB0-F3D8-466B-B9BC-988F118B6E79}" destId="{52D00F53-0FF8-4AA8-AE67-0829025CEE52}" srcOrd="0" destOrd="0" presId="urn:microsoft.com/office/officeart/2005/8/layout/hProcess7"/>
    <dgm:cxn modelId="{39618F4C-D2A8-46E0-B12A-97BBA6254FF3}" type="presOf" srcId="{5DF1F774-CDF3-40E0-A6B4-BE05A5F42868}" destId="{52D00F53-0FF8-4AA8-AE67-0829025CEE52}" srcOrd="0" destOrd="9" presId="urn:microsoft.com/office/officeart/2005/8/layout/hProcess7"/>
    <dgm:cxn modelId="{5FB7956C-E30C-4319-AFD5-595D3F16FC7A}" srcId="{AD964C9E-F929-4414-9171-AEEB08B1FC61}" destId="{D2D9DE98-35B5-4B84-9478-DA6B40A3B1DD}" srcOrd="1" destOrd="0" parTransId="{1AC985F6-2777-4397-9B2C-AFB85F7111CD}" sibTransId="{47D2150C-D30C-47DA-83A1-FA9416BE9A88}"/>
    <dgm:cxn modelId="{BEA6BB4C-4B08-428C-B569-AEB5EC81D7F0}" srcId="{510ED512-6D4A-4925-8D54-93FD135F8F97}" destId="{12F8FF84-2A79-4C94-A08B-793FECE41CD4}" srcOrd="1" destOrd="0" parTransId="{EFDA4F08-469C-4440-8F4E-67E2CC25ECFB}" sibTransId="{FED607EA-972C-45D7-AD30-8C9D7220AB91}"/>
    <dgm:cxn modelId="{7913716D-4278-4B3F-A318-0B248B27CA9B}" type="presOf" srcId="{FB8288B5-5509-46CF-9851-E499E7687D19}" destId="{52D00F53-0FF8-4AA8-AE67-0829025CEE52}" srcOrd="0" destOrd="10" presId="urn:microsoft.com/office/officeart/2005/8/layout/hProcess7"/>
    <dgm:cxn modelId="{B030BC4D-CEF5-441C-93E4-2DDED8A460F4}" srcId="{4BBD8DA0-C4B8-4617-B45D-FB05526A67E2}" destId="{D77CD734-8AFC-4A33-A046-0B40399C032D}" srcOrd="2" destOrd="0" parTransId="{1177E654-6EBE-4574-B5D7-D2275DAD63AA}" sibTransId="{3AF1763C-1D2F-4A47-9ECB-BBA7F6C5A2F5}"/>
    <dgm:cxn modelId="{1F27C26E-8595-4729-BD55-BB44A1B9C9E3}" type="presOf" srcId="{BB46A566-82A8-41F1-B1F0-3BDCE0A5E4AB}" destId="{0BD4A106-63D7-471F-978B-5A8A4DEF0D9F}" srcOrd="0" destOrd="11" presId="urn:microsoft.com/office/officeart/2005/8/layout/hProcess7"/>
    <dgm:cxn modelId="{7CD4CC6F-7F46-44BB-98CD-E0613A2D6203}" type="presOf" srcId="{46A94910-FA74-4822-90CD-101087F216B4}" destId="{ACF22CA2-57C9-4D19-88C0-7A8CA4908FB1}" srcOrd="0" destOrd="3" presId="urn:microsoft.com/office/officeart/2005/8/layout/hProcess7"/>
    <dgm:cxn modelId="{57783750-3537-43C7-94C5-073269835F18}" srcId="{5B65E039-5FB2-4A4C-B7B1-5F42561B8E6C}" destId="{3B3DEF8E-B7B7-4FB6-BDE1-1CEF3DDE36FA}" srcOrd="0" destOrd="0" parTransId="{7E2AA1BA-49B6-4E0C-887E-A215B8B92291}" sibTransId="{044347ED-04C1-44DE-BDA8-615A04046EA4}"/>
    <dgm:cxn modelId="{7AC45870-3360-45AF-A767-F7D99B3BF1BE}" type="presOf" srcId="{61326406-DCBD-421F-BB51-3E61E6C4B8C6}" destId="{ACF22CA2-57C9-4D19-88C0-7A8CA4908FB1}" srcOrd="0" destOrd="8" presId="urn:microsoft.com/office/officeart/2005/8/layout/hProcess7"/>
    <dgm:cxn modelId="{3A64E650-D5A9-421C-9564-886BD5AC0B8D}" srcId="{46A94910-FA74-4822-90CD-101087F216B4}" destId="{C2BA4AAB-63C0-4431-AB09-72731563B67B}" srcOrd="0" destOrd="0" parTransId="{35AD7820-0259-43EC-A93D-FA3F9FB04C91}" sibTransId="{4D760B3E-5C4A-46B6-9C8A-A17A5AD79A13}"/>
    <dgm:cxn modelId="{FD6C4472-D230-43ED-96D6-A31CA9B300D7}" srcId="{61326406-DCBD-421F-BB51-3E61E6C4B8C6}" destId="{CA508C1B-BFB3-491D-BBB9-B07347B7DD30}" srcOrd="0" destOrd="0" parTransId="{24093C95-35C9-404A-A75D-E49419FA7A8A}" sibTransId="{3160723F-56F2-4FA9-9F50-A9DBB77A7479}"/>
    <dgm:cxn modelId="{DFD6DA72-C52A-4DA0-B508-B006B3D3F2A2}" srcId="{AD964C9E-F929-4414-9171-AEEB08B1FC61}" destId="{2147C738-1157-4826-B9D4-CD47F99BB037}" srcOrd="2" destOrd="0" parTransId="{753B2D44-D718-4629-ABA9-BB47428AFE01}" sibTransId="{ECDABC6F-5971-4F3C-B405-F4A933A0F09A}"/>
    <dgm:cxn modelId="{7DB4F453-47BC-4416-8C7E-AF9732765BFB}" srcId="{0861A0A6-7DAC-4E0A-9FF8-B7B681BC4078}" destId="{392F30D5-7EE9-422C-8EA2-BCCDE9A7D698}" srcOrd="0" destOrd="0" parTransId="{C63E84BA-A9D5-4AFE-9AEB-0282296EF35A}" sibTransId="{217F53E1-E725-4258-9E92-4D25E360C126}"/>
    <dgm:cxn modelId="{86AF5155-6EAA-4737-8E51-9CF99DBF14AB}" type="presOf" srcId="{08A47095-A0CF-4C49-8C8A-18B701F76FA8}" destId="{52D00F53-0FF8-4AA8-AE67-0829025CEE52}" srcOrd="0" destOrd="1" presId="urn:microsoft.com/office/officeart/2005/8/layout/hProcess7"/>
    <dgm:cxn modelId="{E9103877-8FAD-4FFD-9F46-E45D74E2820F}" srcId="{B3381098-B8AE-4F4A-8CCA-8863CBD217B3}" destId="{DD193868-3C42-4CE9-9AC6-885D0EE3861C}" srcOrd="0" destOrd="0" parTransId="{255F506D-6FE2-4528-B7ED-0913D32F69D6}" sibTransId="{3EF27473-BE56-4027-960D-893054F17469}"/>
    <dgm:cxn modelId="{4E654679-9EC0-4273-9321-D6498278CBF5}" srcId="{B3381098-B8AE-4F4A-8CCA-8863CBD217B3}" destId="{F83BDE47-9ECF-4499-B446-1C3C069DE323}" srcOrd="1" destOrd="0" parTransId="{9BA2036C-EE19-4AB9-90FC-235599264D53}" sibTransId="{98937540-9AF6-419C-8B49-19D52EE9925F}"/>
    <dgm:cxn modelId="{D262E159-A083-44BA-9BC6-F6B26C49F469}" type="presOf" srcId="{4BBD8DA0-C4B8-4617-B45D-FB05526A67E2}" destId="{654D2CCD-5E5D-4BD7-9F04-8D75C2E08502}" srcOrd="1" destOrd="0" presId="urn:microsoft.com/office/officeart/2005/8/layout/hProcess7"/>
    <dgm:cxn modelId="{1019D17A-7F44-448A-909C-775AC93F7265}" type="presOf" srcId="{E4489D22-3B94-4382-BEE9-DBCEDD08EFED}" destId="{0BD4A106-63D7-471F-978B-5A8A4DEF0D9F}" srcOrd="0" destOrd="6" presId="urn:microsoft.com/office/officeart/2005/8/layout/hProcess7"/>
    <dgm:cxn modelId="{E126367C-936B-4718-8823-C1694327C922}" srcId="{2147C738-1157-4826-B9D4-CD47F99BB037}" destId="{DE513C36-49CF-43AF-898C-DC94CAF8BDFA}" srcOrd="1" destOrd="0" parTransId="{B4EB3D64-6E71-4118-BD7E-5928556C2A77}" sibTransId="{9B4FD4F5-F4C0-4524-8D42-AA9018EE72CA}"/>
    <dgm:cxn modelId="{ABCDEE7D-C15B-485B-B8A5-F6510CA1EC28}" type="presOf" srcId="{510ED512-6D4A-4925-8D54-93FD135F8F97}" destId="{ACF22CA2-57C9-4D19-88C0-7A8CA4908FB1}" srcOrd="0" destOrd="5" presId="urn:microsoft.com/office/officeart/2005/8/layout/hProcess7"/>
    <dgm:cxn modelId="{529AF87D-45BE-4D77-BD62-219990C68826}" type="presOf" srcId="{DD7A2A63-FC27-4B26-AC61-E95CD49AE5DE}" destId="{0BD4A106-63D7-471F-978B-5A8A4DEF0D9F}" srcOrd="0" destOrd="0" presId="urn:microsoft.com/office/officeart/2005/8/layout/hProcess7"/>
    <dgm:cxn modelId="{CCAF8880-5534-4C88-A2FE-6647AFFADFB8}" srcId="{5DF1F774-CDF3-40E0-A6B4-BE05A5F42868}" destId="{1A99C605-0C2C-42E5-8A33-F01C3B5B2E05}" srcOrd="1" destOrd="0" parTransId="{A4E36FEB-B26E-40BF-8EB9-2CE626597DB4}" sibTransId="{3A8602E3-FDE9-425A-86FA-27748EEDBB12}"/>
    <dgm:cxn modelId="{F3764481-9A2A-4CAC-9C5C-823FA3C5CDCE}" type="presOf" srcId="{31E0B8AA-19A7-499A-B539-1F9B83D45E9E}" destId="{52D00F53-0FF8-4AA8-AE67-0829025CEE52}" srcOrd="0" destOrd="8" presId="urn:microsoft.com/office/officeart/2005/8/layout/hProcess7"/>
    <dgm:cxn modelId="{D1E15984-5B17-4C71-BDFB-C5592450A2A5}" srcId="{5B65E039-5FB2-4A4C-B7B1-5F42561B8E6C}" destId="{46A94910-FA74-4822-90CD-101087F216B4}" srcOrd="1" destOrd="0" parTransId="{1031C824-E2E6-4081-AF51-2D4CD4B4D0F0}" sibTransId="{C0791CE6-F2C2-489B-A746-279C238C78E3}"/>
    <dgm:cxn modelId="{1105788A-F329-4538-AA64-CA3283435464}" type="presOf" srcId="{DD193868-3C42-4CE9-9AC6-885D0EE3861C}" destId="{52D00F53-0FF8-4AA8-AE67-0829025CEE52}" srcOrd="0" destOrd="4" presId="urn:microsoft.com/office/officeart/2005/8/layout/hProcess7"/>
    <dgm:cxn modelId="{2CBB9893-0273-46F3-B43F-56DC0F732F02}" srcId="{5B65E039-5FB2-4A4C-B7B1-5F42561B8E6C}" destId="{61326406-DCBD-421F-BB51-3E61E6C4B8C6}" srcOrd="3" destOrd="0" parTransId="{87CBDF3E-2C2A-4DA9-8182-AE124E826ECF}" sibTransId="{D3541C2A-BAC9-4867-9A39-9ACD8A23AEC9}"/>
    <dgm:cxn modelId="{A40E0294-ED7F-4027-95D5-FB6649DB8E1B}" type="presOf" srcId="{12F8FF84-2A79-4C94-A08B-793FECE41CD4}" destId="{ACF22CA2-57C9-4D19-88C0-7A8CA4908FB1}" srcOrd="0" destOrd="7" presId="urn:microsoft.com/office/officeart/2005/8/layout/hProcess7"/>
    <dgm:cxn modelId="{818D6E99-4317-450F-8085-22B66B4C536C}" type="presOf" srcId="{5B65E039-5FB2-4A4C-B7B1-5F42561B8E6C}" destId="{20097E4C-9B92-4721-9C5B-F505EEE078A7}" srcOrd="0" destOrd="0" presId="urn:microsoft.com/office/officeart/2005/8/layout/hProcess7"/>
    <dgm:cxn modelId="{DD62CD9A-B3E7-4D90-8B1B-A6550C91F707}" srcId="{5B65E039-5FB2-4A4C-B7B1-5F42561B8E6C}" destId="{510ED512-6D4A-4925-8D54-93FD135F8F97}" srcOrd="2" destOrd="0" parTransId="{F6863987-8A99-4575-BFB1-688FCDB0D9F2}" sibTransId="{457845C4-15EB-4E8A-AC4C-0104A5BFFE1F}"/>
    <dgm:cxn modelId="{F39BEF9A-8665-4BAC-9DBE-3452E8DFDC91}" srcId="{3B3DEF8E-B7B7-4FB6-BDE1-1CEF3DDE36FA}" destId="{CA6F3438-D18E-41B7-88D1-12976A719256}" srcOrd="1" destOrd="0" parTransId="{632FA3F1-C8A6-436B-8ABD-C5F7D83A03B6}" sibTransId="{C866A824-9B62-4073-AA18-E03E30EAE5B5}"/>
    <dgm:cxn modelId="{C9A579A5-0378-46ED-B9CC-D0DB99B54C71}" type="presOf" srcId="{D2D9DE98-35B5-4B84-9478-DA6B40A3B1DD}" destId="{0BD4A106-63D7-471F-978B-5A8A4DEF0D9F}" srcOrd="0" destOrd="1" presId="urn:microsoft.com/office/officeart/2005/8/layout/hProcess7"/>
    <dgm:cxn modelId="{F899AAAF-48A1-45FD-AFE9-41709F431EF4}" type="presOf" srcId="{1A99C605-0C2C-42E5-8A33-F01C3B5B2E05}" destId="{52D00F53-0FF8-4AA8-AE67-0829025CEE52}" srcOrd="0" destOrd="11" presId="urn:microsoft.com/office/officeart/2005/8/layout/hProcess7"/>
    <dgm:cxn modelId="{5C005BB8-78EB-4377-B577-24C011250C1A}" srcId="{43330E3C-8A5C-4675-9DC0-A5F5D61185DC}" destId="{4BBD8DA0-C4B8-4617-B45D-FB05526A67E2}" srcOrd="1" destOrd="0" parTransId="{770A5D13-D354-4FF0-B4F5-DEEEC9086758}" sibTransId="{3EE432FF-4D89-482C-BF34-3EEDACF82712}"/>
    <dgm:cxn modelId="{A3555DB9-9718-4C53-BAFA-8BD5A18B1956}" type="presOf" srcId="{28287E03-A9A3-4C06-92E0-75B300B727BD}" destId="{0BD4A106-63D7-471F-978B-5A8A4DEF0D9F}" srcOrd="0" destOrd="4" presId="urn:microsoft.com/office/officeart/2005/8/layout/hProcess7"/>
    <dgm:cxn modelId="{6AE799B9-41D6-4A19-8B57-3BEC771FBD72}" srcId="{AD964C9E-F929-4414-9171-AEEB08B1FC61}" destId="{DD7A2A63-FC27-4B26-AC61-E95CD49AE5DE}" srcOrd="0" destOrd="0" parTransId="{768701F6-B445-4BDC-8623-2AD674C332E6}" sibTransId="{0A2678C8-0457-4EBF-AF65-525437A36DB4}"/>
    <dgm:cxn modelId="{325E9ABC-2204-4606-B0A4-0B258917055F}" type="presOf" srcId="{C2BA4AAB-63C0-4431-AB09-72731563B67B}" destId="{ACF22CA2-57C9-4D19-88C0-7A8CA4908FB1}" srcOrd="0" destOrd="4" presId="urn:microsoft.com/office/officeart/2005/8/layout/hProcess7"/>
    <dgm:cxn modelId="{9EF815BE-CA3B-4EFB-AF64-4BC565A44CC9}" srcId="{D77CD734-8AFC-4A33-A046-0B40399C032D}" destId="{58E2832E-AC79-4563-820C-C3B0C019D6CD}" srcOrd="0" destOrd="0" parTransId="{89297E93-FE74-47E4-A073-3CB027D1AD2D}" sibTransId="{1873B612-A26C-42DD-8AFD-58FB61CECEBC}"/>
    <dgm:cxn modelId="{B00C52C0-4435-4B59-B7F6-791468B75EBC}" srcId="{2147C738-1157-4826-B9D4-CD47F99BB037}" destId="{004F504C-F2E2-49E7-9BB4-E275FEBF9484}" srcOrd="2" destOrd="0" parTransId="{386EF6EC-DFFD-4008-9DD8-90D30CD308F2}" sibTransId="{4FBC2E40-0E92-4EA4-83C9-E3EA8F3F9CF1}"/>
    <dgm:cxn modelId="{3B6262C2-4922-499E-9307-664EFD0D37FD}" srcId="{4BBD8DA0-C4B8-4617-B45D-FB05526A67E2}" destId="{B3381098-B8AE-4F4A-8CCA-8863CBD217B3}" srcOrd="1" destOrd="0" parTransId="{C9C1E9ED-7035-48B8-BCA1-3196E6B7014B}" sibTransId="{A942955E-2DD4-4D54-916A-269B52BA54D3}"/>
    <dgm:cxn modelId="{47E7EFC8-B84C-452D-ABBE-EA0D7DCD0BE9}" srcId="{D2D9DE98-35B5-4B84-9478-DA6B40A3B1DD}" destId="{28287E03-A9A3-4C06-92E0-75B300B727BD}" srcOrd="2" destOrd="0" parTransId="{11CC094F-24B3-408D-86D2-E7C3E9C0390F}" sibTransId="{97E93B35-5C44-40B8-8470-8D8F4CD24466}"/>
    <dgm:cxn modelId="{34CAC8C9-4506-40F4-B5C5-4376180BA228}" type="presOf" srcId="{F83BDE47-9ECF-4499-B446-1C3C069DE323}" destId="{52D00F53-0FF8-4AA8-AE67-0829025CEE52}" srcOrd="0" destOrd="5" presId="urn:microsoft.com/office/officeart/2005/8/layout/hProcess7"/>
    <dgm:cxn modelId="{767268CA-3272-4BD5-A9D8-63D9E5ABD66B}" srcId="{55BF3AB0-F3D8-466B-B9BC-988F118B6E79}" destId="{319F9EB1-1707-4595-A3E6-CACBAD41E987}" srcOrd="1" destOrd="0" parTransId="{99570F27-322C-4B5B-B35B-2C73FC64DD63}" sibTransId="{0E2CF4CB-E320-49C5-A907-ECD612C88402}"/>
    <dgm:cxn modelId="{0ECA0DCB-ED40-4751-AC60-3B0AAD15E0B5}" type="presOf" srcId="{AD964C9E-F929-4414-9171-AEEB08B1FC61}" destId="{BDB806D5-715B-4BB2-BB4F-B337B0B219CF}" srcOrd="1" destOrd="0" presId="urn:microsoft.com/office/officeart/2005/8/layout/hProcess7"/>
    <dgm:cxn modelId="{4C04A1CB-8613-4B54-A44A-96B401D7EAB9}" type="presOf" srcId="{AD964C9E-F929-4414-9171-AEEB08B1FC61}" destId="{45E818F6-CA85-44B7-8F10-016CBFC6B225}" srcOrd="0" destOrd="0" presId="urn:microsoft.com/office/officeart/2005/8/layout/hProcess7"/>
    <dgm:cxn modelId="{710A9FCF-8B84-4F49-B542-734ED62C0F7B}" srcId="{61326406-DCBD-421F-BB51-3E61E6C4B8C6}" destId="{74A6DFC0-4580-466D-B758-63A3AE89D0C4}" srcOrd="1" destOrd="0" parTransId="{CD2C4698-13F6-428E-AF0D-9ABBBF195699}" sibTransId="{DC4DF43B-2873-4612-A4DD-8D1CA4A2A21C}"/>
    <dgm:cxn modelId="{FEEA1CD0-D82F-405D-98FF-F7CE09023D93}" type="presOf" srcId="{74A6DFC0-4580-466D-B758-63A3AE89D0C4}" destId="{ACF22CA2-57C9-4D19-88C0-7A8CA4908FB1}" srcOrd="0" destOrd="10" presId="urn:microsoft.com/office/officeart/2005/8/layout/hProcess7"/>
    <dgm:cxn modelId="{5D0791D0-C16F-48E0-8525-2ACD1DED43B8}" srcId="{510ED512-6D4A-4925-8D54-93FD135F8F97}" destId="{333D371C-AE18-41C3-AB74-EB8D03A7C8B3}" srcOrd="0" destOrd="0" parTransId="{1207E158-0AC7-4AEC-95F4-8911031A0F19}" sibTransId="{42CC3438-40D4-4430-99B2-2A481E9CFF4E}"/>
    <dgm:cxn modelId="{8EDCAAD3-2C10-4166-B4C0-EBCA1B51B5F2}" type="presOf" srcId="{333D371C-AE18-41C3-AB74-EB8D03A7C8B3}" destId="{ACF22CA2-57C9-4D19-88C0-7A8CA4908FB1}" srcOrd="0" destOrd="6" presId="urn:microsoft.com/office/officeart/2005/8/layout/hProcess7"/>
    <dgm:cxn modelId="{6F06CED9-1716-40F7-94AE-C13FC5044C07}" srcId="{43330E3C-8A5C-4675-9DC0-A5F5D61185DC}" destId="{AD964C9E-F929-4414-9171-AEEB08B1FC61}" srcOrd="0" destOrd="0" parTransId="{E5AD28CB-7F94-4AFE-9EC8-C3CC7CC51BA5}" sibTransId="{EF17742E-16BB-4F43-8D11-9BD04F025DAC}"/>
    <dgm:cxn modelId="{4B711CDE-C5A3-442D-9338-7AEAD0A1D65A}" srcId="{5DF1F774-CDF3-40E0-A6B4-BE05A5F42868}" destId="{FB8288B5-5509-46CF-9851-E499E7687D19}" srcOrd="0" destOrd="0" parTransId="{9D3974A2-0AC6-4592-AB63-15EBEC202D73}" sibTransId="{7B4A56BA-5315-493F-A40D-E91B4BD0CAB7}"/>
    <dgm:cxn modelId="{127E15E0-5302-416C-87EC-63D6E404C4FB}" srcId="{0861A0A6-7DAC-4E0A-9FF8-B7B681BC4078}" destId="{BB46A566-82A8-41F1-B1F0-3BDCE0A5E4AB}" srcOrd="1" destOrd="0" parTransId="{36E2B7EF-5305-4845-B62D-3D7446D9025F}" sibTransId="{EF547B93-0007-483F-889A-8425C8D9C694}"/>
    <dgm:cxn modelId="{86EF1AE0-1823-4935-96B5-3670514D5E0D}" srcId="{D77CD734-8AFC-4A33-A046-0B40399C032D}" destId="{31E0B8AA-19A7-499A-B539-1F9B83D45E9E}" srcOrd="1" destOrd="0" parTransId="{D1C76708-E365-4A6E-B1FE-2BDD972D140A}" sibTransId="{BE4FF4D4-6C8C-4141-B10B-22886B81A557}"/>
    <dgm:cxn modelId="{1056E1E1-8D80-46D3-90F7-323C299BBD14}" type="presOf" srcId="{DE513C36-49CF-43AF-898C-DC94CAF8BDFA}" destId="{0BD4A106-63D7-471F-978B-5A8A4DEF0D9F}" srcOrd="0" destOrd="7" presId="urn:microsoft.com/office/officeart/2005/8/layout/hProcess7"/>
    <dgm:cxn modelId="{A52E4FE4-898B-4D98-909D-DBC8A48ABC02}" type="presOf" srcId="{0861A0A6-7DAC-4E0A-9FF8-B7B681BC4078}" destId="{0BD4A106-63D7-471F-978B-5A8A4DEF0D9F}" srcOrd="0" destOrd="9" presId="urn:microsoft.com/office/officeart/2005/8/layout/hProcess7"/>
    <dgm:cxn modelId="{074C50E7-C5F1-4BCB-B01B-FC782009E369}" srcId="{AD964C9E-F929-4414-9171-AEEB08B1FC61}" destId="{0861A0A6-7DAC-4E0A-9FF8-B7B681BC4078}" srcOrd="3" destOrd="0" parTransId="{B776DBD3-E107-4491-8823-2313C268ECB8}" sibTransId="{B9C06C03-9FF5-4E87-8F9E-37E9B28C1D4B}"/>
    <dgm:cxn modelId="{E89083EC-E752-4CFF-9031-981AA195D74E}" type="presOf" srcId="{58E2832E-AC79-4563-820C-C3B0C019D6CD}" destId="{52D00F53-0FF8-4AA8-AE67-0829025CEE52}" srcOrd="0" destOrd="7" presId="urn:microsoft.com/office/officeart/2005/8/layout/hProcess7"/>
    <dgm:cxn modelId="{D64857F0-A497-4993-8CDF-8DCFA42BD1C0}" type="presOf" srcId="{392F30D5-7EE9-422C-8EA2-BCCDE9A7D698}" destId="{0BD4A106-63D7-471F-978B-5A8A4DEF0D9F}" srcOrd="0" destOrd="10" presId="urn:microsoft.com/office/officeart/2005/8/layout/hProcess7"/>
    <dgm:cxn modelId="{612B08F1-6E8D-4C76-9AC6-68E1402AC139}" srcId="{55BF3AB0-F3D8-466B-B9BC-988F118B6E79}" destId="{08A47095-A0CF-4C49-8C8A-18B701F76FA8}" srcOrd="0" destOrd="0" parTransId="{217D391B-8FAB-4155-97DA-2B701C5413E1}" sibTransId="{A72051E1-9636-468D-B4D6-6E6550463C61}"/>
    <dgm:cxn modelId="{68CF4EFA-887D-4A24-AE3B-79E3A1B9ED7A}" srcId="{43330E3C-8A5C-4675-9DC0-A5F5D61185DC}" destId="{5B65E039-5FB2-4A4C-B7B1-5F42561B8E6C}" srcOrd="2" destOrd="0" parTransId="{669E96AF-C137-45F0-8807-1832102FD4DB}" sibTransId="{9E7C21BE-AA79-4CDF-B5D8-5D9B85621A72}"/>
    <dgm:cxn modelId="{512BC1FB-CCE1-415E-AA1E-951A6F7D6D40}" srcId="{3B3DEF8E-B7B7-4FB6-BDE1-1CEF3DDE36FA}" destId="{A06A1D93-DEDA-430E-BEEA-9D4487C4F71B}" srcOrd="0" destOrd="0" parTransId="{B37F8697-752F-4195-85F7-6B8AFEA96FD5}" sibTransId="{43961366-0166-4FF9-999E-DAE4F60FFBA5}"/>
    <dgm:cxn modelId="{936EDFFD-640F-4C5F-8172-7BB91F2EF8B5}" type="presOf" srcId="{9060550F-EAD7-4021-89C2-35730AEBFAC2}" destId="{0BD4A106-63D7-471F-978B-5A8A4DEF0D9F}" srcOrd="0" destOrd="3" presId="urn:microsoft.com/office/officeart/2005/8/layout/hProcess7"/>
    <dgm:cxn modelId="{6CB497FE-9C5F-4240-94B1-64C0989BE9E9}" type="presOf" srcId="{B3381098-B8AE-4F4A-8CCA-8863CBD217B3}" destId="{52D00F53-0FF8-4AA8-AE67-0829025CEE52}" srcOrd="0" destOrd="3" presId="urn:microsoft.com/office/officeart/2005/8/layout/hProcess7"/>
    <dgm:cxn modelId="{2199AF48-E4FD-492D-9F37-DC7D6523E6B5}" type="presParOf" srcId="{C28098D6-91CF-4821-B962-9B78FBF8701E}" destId="{1AC7C6EC-421B-4B78-80A9-C7FBBE1D8973}" srcOrd="0" destOrd="0" presId="urn:microsoft.com/office/officeart/2005/8/layout/hProcess7"/>
    <dgm:cxn modelId="{597168C2-A0F8-4F44-B5C9-98E367D95539}" type="presParOf" srcId="{1AC7C6EC-421B-4B78-80A9-C7FBBE1D8973}" destId="{45E818F6-CA85-44B7-8F10-016CBFC6B225}" srcOrd="0" destOrd="0" presId="urn:microsoft.com/office/officeart/2005/8/layout/hProcess7"/>
    <dgm:cxn modelId="{099D6452-2782-40A1-9E12-818484770B74}" type="presParOf" srcId="{1AC7C6EC-421B-4B78-80A9-C7FBBE1D8973}" destId="{BDB806D5-715B-4BB2-BB4F-B337B0B219CF}" srcOrd="1" destOrd="0" presId="urn:microsoft.com/office/officeart/2005/8/layout/hProcess7"/>
    <dgm:cxn modelId="{B2CD7EBE-DB40-45DA-919A-3CD28654FFA4}" type="presParOf" srcId="{1AC7C6EC-421B-4B78-80A9-C7FBBE1D8973}" destId="{0BD4A106-63D7-471F-978B-5A8A4DEF0D9F}" srcOrd="2" destOrd="0" presId="urn:microsoft.com/office/officeart/2005/8/layout/hProcess7"/>
    <dgm:cxn modelId="{5E3F2E35-5D35-45E7-B600-582FFE5F2B5E}" type="presParOf" srcId="{C28098D6-91CF-4821-B962-9B78FBF8701E}" destId="{8F81971E-1101-42E5-A054-FD8453331DDF}" srcOrd="1" destOrd="0" presId="urn:microsoft.com/office/officeart/2005/8/layout/hProcess7"/>
    <dgm:cxn modelId="{090E74D5-9DEF-43A9-B933-DB8BAED3AF60}" type="presParOf" srcId="{C28098D6-91CF-4821-B962-9B78FBF8701E}" destId="{0502259B-0BCC-496C-8930-64016475B758}" srcOrd="2" destOrd="0" presId="urn:microsoft.com/office/officeart/2005/8/layout/hProcess7"/>
    <dgm:cxn modelId="{0D573E95-84A6-4E9C-9DCA-A93A6D4DD0CC}" type="presParOf" srcId="{0502259B-0BCC-496C-8930-64016475B758}" destId="{8451126B-0511-464B-B4EB-66A76C69BC61}" srcOrd="0" destOrd="0" presId="urn:microsoft.com/office/officeart/2005/8/layout/hProcess7"/>
    <dgm:cxn modelId="{7DB09DDD-76BC-42B1-9D9C-289214CFC85E}" type="presParOf" srcId="{0502259B-0BCC-496C-8930-64016475B758}" destId="{4ECF6A6E-2910-40FC-9224-BCB79619787C}" srcOrd="1" destOrd="0" presId="urn:microsoft.com/office/officeart/2005/8/layout/hProcess7"/>
    <dgm:cxn modelId="{F5CDC0AA-0960-4A86-AD63-09D63E4696F9}" type="presParOf" srcId="{0502259B-0BCC-496C-8930-64016475B758}" destId="{69AA8FE2-6A60-494E-8F22-7FC5F5C85185}" srcOrd="2" destOrd="0" presId="urn:microsoft.com/office/officeart/2005/8/layout/hProcess7"/>
    <dgm:cxn modelId="{59764159-1ADC-4ADB-A7E8-7F4F7E63EA28}" type="presParOf" srcId="{C28098D6-91CF-4821-B962-9B78FBF8701E}" destId="{1B75A07E-9DBC-454D-B215-3CFE1C382518}" srcOrd="3" destOrd="0" presId="urn:microsoft.com/office/officeart/2005/8/layout/hProcess7"/>
    <dgm:cxn modelId="{93416C5E-B0AD-477F-8E91-72EF55F06982}" type="presParOf" srcId="{C28098D6-91CF-4821-B962-9B78FBF8701E}" destId="{F25ED221-F66F-4EDA-9D65-AD0717F55266}" srcOrd="4" destOrd="0" presId="urn:microsoft.com/office/officeart/2005/8/layout/hProcess7"/>
    <dgm:cxn modelId="{0C03E9F2-6F57-4675-BD02-FABA54C5DB80}" type="presParOf" srcId="{F25ED221-F66F-4EDA-9D65-AD0717F55266}" destId="{DCFD2AF7-FA43-4C48-A51F-1F0927C5D0E7}" srcOrd="0" destOrd="0" presId="urn:microsoft.com/office/officeart/2005/8/layout/hProcess7"/>
    <dgm:cxn modelId="{722C496A-39CE-45C3-A9E9-7D74FF8F488A}" type="presParOf" srcId="{F25ED221-F66F-4EDA-9D65-AD0717F55266}" destId="{654D2CCD-5E5D-4BD7-9F04-8D75C2E08502}" srcOrd="1" destOrd="0" presId="urn:microsoft.com/office/officeart/2005/8/layout/hProcess7"/>
    <dgm:cxn modelId="{9DE298B5-4DC0-4839-91B4-E3AFB90B3884}" type="presParOf" srcId="{F25ED221-F66F-4EDA-9D65-AD0717F55266}" destId="{52D00F53-0FF8-4AA8-AE67-0829025CEE52}" srcOrd="2" destOrd="0" presId="urn:microsoft.com/office/officeart/2005/8/layout/hProcess7"/>
    <dgm:cxn modelId="{54ED36D3-3558-4BA3-B37F-E96B70741085}" type="presParOf" srcId="{C28098D6-91CF-4821-B962-9B78FBF8701E}" destId="{5366A0F5-80FD-4BF2-B8FE-410348C113E0}" srcOrd="5" destOrd="0" presId="urn:microsoft.com/office/officeart/2005/8/layout/hProcess7"/>
    <dgm:cxn modelId="{C1E4310F-36E7-4DC3-93ED-8E70C5BB554F}" type="presParOf" srcId="{C28098D6-91CF-4821-B962-9B78FBF8701E}" destId="{2CC0F301-2C83-4873-94F1-0EF668157ADD}" srcOrd="6" destOrd="0" presId="urn:microsoft.com/office/officeart/2005/8/layout/hProcess7"/>
    <dgm:cxn modelId="{651DEB84-53A4-4E76-907D-B8E5321A808D}" type="presParOf" srcId="{2CC0F301-2C83-4873-94F1-0EF668157ADD}" destId="{B57AD8B2-1299-4EA2-8BF5-C2DA2FB3AF9B}" srcOrd="0" destOrd="0" presId="urn:microsoft.com/office/officeart/2005/8/layout/hProcess7"/>
    <dgm:cxn modelId="{71CE5773-AAFA-4547-A1E8-A97DCD30EB84}" type="presParOf" srcId="{2CC0F301-2C83-4873-94F1-0EF668157ADD}" destId="{AA4EAF25-F918-4468-B89A-E9240B08E200}" srcOrd="1" destOrd="0" presId="urn:microsoft.com/office/officeart/2005/8/layout/hProcess7"/>
    <dgm:cxn modelId="{B5720843-C1DF-43F1-ABE7-C55E6B2A1D9D}" type="presParOf" srcId="{2CC0F301-2C83-4873-94F1-0EF668157ADD}" destId="{5F4C5F1E-562F-4CAE-9B77-E6E1B4431742}" srcOrd="2" destOrd="0" presId="urn:microsoft.com/office/officeart/2005/8/layout/hProcess7"/>
    <dgm:cxn modelId="{A6518AEF-0011-4BB5-A03A-3F9A26A706D2}" type="presParOf" srcId="{C28098D6-91CF-4821-B962-9B78FBF8701E}" destId="{F644799F-A296-44DA-8D7C-921B8665EAA6}" srcOrd="7" destOrd="0" presId="urn:microsoft.com/office/officeart/2005/8/layout/hProcess7"/>
    <dgm:cxn modelId="{36D2E271-2F76-4085-8D18-D8EC536F813E}" type="presParOf" srcId="{C28098D6-91CF-4821-B962-9B78FBF8701E}" destId="{3ED2D88B-6F2F-44B9-A346-ED4B24DFE874}" srcOrd="8" destOrd="0" presId="urn:microsoft.com/office/officeart/2005/8/layout/hProcess7"/>
    <dgm:cxn modelId="{06BA0706-F492-4E8C-88DF-6F208F37E2D2}" type="presParOf" srcId="{3ED2D88B-6F2F-44B9-A346-ED4B24DFE874}" destId="{20097E4C-9B92-4721-9C5B-F505EEE078A7}" srcOrd="0" destOrd="0" presId="urn:microsoft.com/office/officeart/2005/8/layout/hProcess7"/>
    <dgm:cxn modelId="{844C427F-6F84-4992-BA50-FC43D035DA42}" type="presParOf" srcId="{3ED2D88B-6F2F-44B9-A346-ED4B24DFE874}" destId="{004E90B0-3B56-406B-8E26-1813E30E2E87}" srcOrd="1" destOrd="0" presId="urn:microsoft.com/office/officeart/2005/8/layout/hProcess7"/>
    <dgm:cxn modelId="{3C59FE33-995C-4A34-9ECC-7BB323DBD49E}" type="presParOf" srcId="{3ED2D88B-6F2F-44B9-A346-ED4B24DFE874}" destId="{ACF22CA2-57C9-4D19-88C0-7A8CA4908FB1}" srcOrd="2" destOrd="0" presId="urn:microsoft.com/office/officeart/2005/8/layout/hProcess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5A16FF-4912-45C7-9E29-62627EAA27AC}">
      <dsp:nvSpPr>
        <dsp:cNvPr id="0" name=""/>
        <dsp:cNvSpPr/>
      </dsp:nvSpPr>
      <dsp:spPr>
        <a:xfrm>
          <a:off x="844501" y="0"/>
          <a:ext cx="9571013" cy="4339143"/>
        </a:xfrm>
        <a:prstGeom prst="rightArrow">
          <a:avLst/>
        </a:prstGeom>
        <a:solidFill>
          <a:srgbClr val="42C5A5"/>
        </a:solidFill>
        <a:ln>
          <a:noFill/>
        </a:ln>
        <a:effectLst/>
      </dsp:spPr>
      <dsp:style>
        <a:lnRef idx="0">
          <a:scrgbClr r="0" g="0" b="0"/>
        </a:lnRef>
        <a:fillRef idx="1">
          <a:scrgbClr r="0" g="0" b="0"/>
        </a:fillRef>
        <a:effectRef idx="0">
          <a:scrgbClr r="0" g="0" b="0"/>
        </a:effectRef>
        <a:fontRef idx="minor"/>
      </dsp:style>
    </dsp:sp>
    <dsp:sp modelId="{B223714E-B095-436B-BBC0-E18DD2AED1E6}">
      <dsp:nvSpPr>
        <dsp:cNvPr id="0" name=""/>
        <dsp:cNvSpPr/>
      </dsp:nvSpPr>
      <dsp:spPr>
        <a:xfrm>
          <a:off x="5498" y="1301742"/>
          <a:ext cx="3397797" cy="1735657"/>
        </a:xfrm>
        <a:prstGeom prst="roundRect">
          <a:avLst/>
        </a:prstGeom>
        <a:solidFill>
          <a:srgbClr val="09253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fr-FR" sz="2000" kern="1200" dirty="0">
              <a:solidFill>
                <a:srgbClr val="42C5A5"/>
              </a:solidFill>
            </a:rPr>
            <a:t>1. Cryptographie asymétrique</a:t>
          </a:r>
        </a:p>
        <a:p>
          <a:pPr marL="114300" lvl="1" indent="-114300" algn="l" defTabSz="622300">
            <a:lnSpc>
              <a:spcPct val="90000"/>
            </a:lnSpc>
            <a:spcBef>
              <a:spcPct val="0"/>
            </a:spcBef>
            <a:spcAft>
              <a:spcPct val="15000"/>
            </a:spcAft>
            <a:buChar char="•"/>
          </a:pPr>
          <a:r>
            <a:rPr lang="fr-FR" sz="1400" kern="1200" dirty="0"/>
            <a:t>Le signataire utilise sa clé privée pour signer une donnée</a:t>
          </a:r>
        </a:p>
        <a:p>
          <a:pPr marL="114300" lvl="1" indent="-114300" algn="l" defTabSz="622300">
            <a:lnSpc>
              <a:spcPct val="90000"/>
            </a:lnSpc>
            <a:spcBef>
              <a:spcPct val="0"/>
            </a:spcBef>
            <a:spcAft>
              <a:spcPct val="15000"/>
            </a:spcAft>
            <a:buChar char="•"/>
          </a:pPr>
          <a:r>
            <a:rPr lang="fr-FR" sz="1400" kern="1200" dirty="0"/>
            <a:t>Toute personne peut vérifier la signature avec la clé publique correspondante</a:t>
          </a:r>
        </a:p>
      </dsp:txBody>
      <dsp:txXfrm>
        <a:off x="90226" y="1386470"/>
        <a:ext cx="3228341" cy="1566201"/>
      </dsp:txXfrm>
    </dsp:sp>
    <dsp:sp modelId="{F15F5E2A-A752-4E2E-9B43-E51463CC1C9F}">
      <dsp:nvSpPr>
        <dsp:cNvPr id="0" name=""/>
        <dsp:cNvSpPr/>
      </dsp:nvSpPr>
      <dsp:spPr>
        <a:xfrm>
          <a:off x="3931109" y="1301742"/>
          <a:ext cx="3397797" cy="1735657"/>
        </a:xfrm>
        <a:prstGeom prst="roundRect">
          <a:avLst/>
        </a:prstGeom>
        <a:solidFill>
          <a:srgbClr val="09253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fr-FR" sz="2000" kern="1200" dirty="0">
              <a:solidFill>
                <a:srgbClr val="42C5A5"/>
              </a:solidFill>
            </a:rPr>
            <a:t>2. Hachage du message</a:t>
          </a:r>
        </a:p>
        <a:p>
          <a:pPr marL="114300" lvl="1" indent="-114300" algn="l" defTabSz="622300">
            <a:lnSpc>
              <a:spcPct val="90000"/>
            </a:lnSpc>
            <a:spcBef>
              <a:spcPct val="0"/>
            </a:spcBef>
            <a:spcAft>
              <a:spcPct val="15000"/>
            </a:spcAft>
            <a:buChar char="•"/>
          </a:pPr>
          <a:r>
            <a:rPr lang="fr-FR" sz="1400" kern="1200" dirty="0"/>
            <a:t>On ne signe pas la donnée brute, mais son empreinte (hachage)</a:t>
          </a:r>
        </a:p>
        <a:p>
          <a:pPr marL="114300" lvl="1" indent="-114300" algn="l" defTabSz="622300">
            <a:lnSpc>
              <a:spcPct val="90000"/>
            </a:lnSpc>
            <a:spcBef>
              <a:spcPct val="0"/>
            </a:spcBef>
            <a:spcAft>
              <a:spcPct val="15000"/>
            </a:spcAft>
            <a:buChar char="•"/>
          </a:pPr>
          <a:r>
            <a:rPr lang="fr-FR" sz="1400" kern="1200"/>
            <a:t>Cela garantit l’intégrité : toute modification du contenu rend la signature invalide</a:t>
          </a:r>
        </a:p>
      </dsp:txBody>
      <dsp:txXfrm>
        <a:off x="4015837" y="1386470"/>
        <a:ext cx="3228341" cy="1566201"/>
      </dsp:txXfrm>
    </dsp:sp>
    <dsp:sp modelId="{4AE67413-D695-48FD-BFC8-39BA7A0F6845}">
      <dsp:nvSpPr>
        <dsp:cNvPr id="0" name=""/>
        <dsp:cNvSpPr/>
      </dsp:nvSpPr>
      <dsp:spPr>
        <a:xfrm>
          <a:off x="7856720" y="1301742"/>
          <a:ext cx="3397797" cy="1735657"/>
        </a:xfrm>
        <a:prstGeom prst="roundRect">
          <a:avLst/>
        </a:prstGeom>
        <a:solidFill>
          <a:srgbClr val="09253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fr-FR" sz="2000" kern="1200" dirty="0">
              <a:solidFill>
                <a:srgbClr val="42C5A5"/>
              </a:solidFill>
            </a:rPr>
            <a:t>3.Non-répudiation</a:t>
          </a:r>
        </a:p>
        <a:p>
          <a:pPr marL="114300" lvl="1" indent="-114300" algn="l" defTabSz="622300">
            <a:lnSpc>
              <a:spcPct val="90000"/>
            </a:lnSpc>
            <a:spcBef>
              <a:spcPct val="0"/>
            </a:spcBef>
            <a:spcAft>
              <a:spcPct val="15000"/>
            </a:spcAft>
            <a:buChar char="•"/>
          </a:pPr>
          <a:r>
            <a:rPr lang="fr-FR" sz="1400" kern="1200" dirty="0"/>
            <a:t>Seul le détenteur de la clé privée peut produire une signature valide</a:t>
          </a:r>
        </a:p>
        <a:p>
          <a:pPr marL="114300" lvl="1" indent="-114300" algn="l" defTabSz="622300">
            <a:lnSpc>
              <a:spcPct val="90000"/>
            </a:lnSpc>
            <a:spcBef>
              <a:spcPct val="0"/>
            </a:spcBef>
            <a:spcAft>
              <a:spcPct val="15000"/>
            </a:spcAft>
            <a:buChar char="•"/>
          </a:pPr>
          <a:r>
            <a:rPr lang="fr-FR" sz="1400" kern="1200"/>
            <a:t>Cela engage le signataire : il ne peut pas nier être à l’origine de la signature</a:t>
          </a:r>
        </a:p>
      </dsp:txBody>
      <dsp:txXfrm>
        <a:off x="7941448" y="1386470"/>
        <a:ext cx="3228341" cy="15662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523219-5C83-4033-A764-5C39BE7DCCCA}">
      <dsp:nvSpPr>
        <dsp:cNvPr id="0" name=""/>
        <dsp:cNvSpPr/>
      </dsp:nvSpPr>
      <dsp:spPr>
        <a:xfrm>
          <a:off x="338532" y="0"/>
          <a:ext cx="2066136" cy="1147853"/>
        </a:xfrm>
        <a:prstGeom prst="roundRect">
          <a:avLst>
            <a:gd name="adj" fmla="val 10000"/>
          </a:avLst>
        </a:prstGeom>
        <a:solidFill>
          <a:srgbClr val="09253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fr-FR" sz="2600" kern="1200" dirty="0">
              <a:solidFill>
                <a:srgbClr val="42C5A5"/>
              </a:solidFill>
            </a:rPr>
            <a:t>1</a:t>
          </a:r>
        </a:p>
        <a:p>
          <a:pPr marL="0" lvl="0" indent="0" algn="ctr" defTabSz="1155700">
            <a:lnSpc>
              <a:spcPct val="90000"/>
            </a:lnSpc>
            <a:spcBef>
              <a:spcPct val="0"/>
            </a:spcBef>
            <a:spcAft>
              <a:spcPct val="35000"/>
            </a:spcAft>
            <a:buNone/>
          </a:pPr>
          <a:r>
            <a:rPr lang="fr-FR" sz="2600" kern="1200" dirty="0"/>
            <a:t>Connexion</a:t>
          </a:r>
        </a:p>
      </dsp:txBody>
      <dsp:txXfrm>
        <a:off x="372151" y="33619"/>
        <a:ext cx="1998898" cy="1080615"/>
      </dsp:txXfrm>
    </dsp:sp>
    <dsp:sp modelId="{D0336B42-F283-40AC-A406-25A3269E06A4}">
      <dsp:nvSpPr>
        <dsp:cNvPr id="0" name=""/>
        <dsp:cNvSpPr/>
      </dsp:nvSpPr>
      <dsp:spPr>
        <a:xfrm rot="5400000">
          <a:off x="1156377" y="1176550"/>
          <a:ext cx="430445" cy="516534"/>
        </a:xfrm>
        <a:prstGeom prst="rightArrow">
          <a:avLst>
            <a:gd name="adj1" fmla="val 60000"/>
            <a:gd name="adj2" fmla="val 50000"/>
          </a:avLst>
        </a:prstGeom>
        <a:solidFill>
          <a:srgbClr val="42C5A5"/>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fr-FR" sz="2100" kern="1200"/>
        </a:p>
      </dsp:txBody>
      <dsp:txXfrm rot="-5400000">
        <a:off x="1216640" y="1219595"/>
        <a:ext cx="309920" cy="301312"/>
      </dsp:txXfrm>
    </dsp:sp>
    <dsp:sp modelId="{3FA68E4A-1CF8-4F99-9EA6-7FF1B102E8C8}">
      <dsp:nvSpPr>
        <dsp:cNvPr id="0" name=""/>
        <dsp:cNvSpPr/>
      </dsp:nvSpPr>
      <dsp:spPr>
        <a:xfrm>
          <a:off x="338532" y="1721780"/>
          <a:ext cx="2066136" cy="1147853"/>
        </a:xfrm>
        <a:prstGeom prst="roundRect">
          <a:avLst>
            <a:gd name="adj" fmla="val 10000"/>
          </a:avLst>
        </a:prstGeom>
        <a:solidFill>
          <a:srgbClr val="09253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fr-FR" sz="2600" kern="1200" dirty="0">
              <a:solidFill>
                <a:srgbClr val="42C5A5"/>
              </a:solidFill>
            </a:rPr>
            <a:t>2</a:t>
          </a:r>
        </a:p>
        <a:p>
          <a:pPr marL="0" lvl="0" indent="0" algn="ctr" defTabSz="1155700">
            <a:lnSpc>
              <a:spcPct val="90000"/>
            </a:lnSpc>
            <a:spcBef>
              <a:spcPct val="0"/>
            </a:spcBef>
            <a:spcAft>
              <a:spcPct val="35000"/>
            </a:spcAft>
            <a:buNone/>
          </a:pPr>
          <a:r>
            <a:rPr lang="fr-FR" sz="2600" kern="1200" dirty="0"/>
            <a:t>Certificat</a:t>
          </a:r>
        </a:p>
      </dsp:txBody>
      <dsp:txXfrm>
        <a:off x="372151" y="1755399"/>
        <a:ext cx="1998898" cy="1080615"/>
      </dsp:txXfrm>
    </dsp:sp>
    <dsp:sp modelId="{BB28A321-8F8B-4642-B5BC-E312876D9F63}">
      <dsp:nvSpPr>
        <dsp:cNvPr id="0" name=""/>
        <dsp:cNvSpPr/>
      </dsp:nvSpPr>
      <dsp:spPr>
        <a:xfrm rot="5400000">
          <a:off x="1156377" y="2898330"/>
          <a:ext cx="430445" cy="516534"/>
        </a:xfrm>
        <a:prstGeom prst="rightArrow">
          <a:avLst>
            <a:gd name="adj1" fmla="val 60000"/>
            <a:gd name="adj2" fmla="val 50000"/>
          </a:avLst>
        </a:prstGeom>
        <a:solidFill>
          <a:srgbClr val="42C5A5"/>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fr-FR" sz="2100" kern="1200"/>
        </a:p>
      </dsp:txBody>
      <dsp:txXfrm rot="-5400000">
        <a:off x="1216640" y="2941375"/>
        <a:ext cx="309920" cy="301312"/>
      </dsp:txXfrm>
    </dsp:sp>
    <dsp:sp modelId="{71FA92A8-7A07-4C21-8320-AF0D7CC80050}">
      <dsp:nvSpPr>
        <dsp:cNvPr id="0" name=""/>
        <dsp:cNvSpPr/>
      </dsp:nvSpPr>
      <dsp:spPr>
        <a:xfrm>
          <a:off x="338532" y="3443561"/>
          <a:ext cx="2066136" cy="1147853"/>
        </a:xfrm>
        <a:prstGeom prst="roundRect">
          <a:avLst>
            <a:gd name="adj" fmla="val 10000"/>
          </a:avLst>
        </a:prstGeom>
        <a:solidFill>
          <a:srgbClr val="09253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fr-FR" sz="2600" kern="1200" dirty="0">
              <a:solidFill>
                <a:srgbClr val="42C5A5"/>
              </a:solidFill>
            </a:rPr>
            <a:t>3</a:t>
          </a:r>
        </a:p>
        <a:p>
          <a:pPr marL="0" lvl="0" indent="0" algn="ctr" defTabSz="1155700">
            <a:lnSpc>
              <a:spcPct val="90000"/>
            </a:lnSpc>
            <a:spcBef>
              <a:spcPct val="0"/>
            </a:spcBef>
            <a:spcAft>
              <a:spcPct val="35000"/>
            </a:spcAft>
            <a:buNone/>
          </a:pPr>
          <a:r>
            <a:rPr lang="fr-FR" sz="2600" kern="1200" dirty="0"/>
            <a:t>CRL</a:t>
          </a:r>
        </a:p>
      </dsp:txBody>
      <dsp:txXfrm>
        <a:off x="372151" y="3477180"/>
        <a:ext cx="1998898" cy="10806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523219-5C83-4033-A764-5C39BE7DCCCA}">
      <dsp:nvSpPr>
        <dsp:cNvPr id="0" name=""/>
        <dsp:cNvSpPr/>
      </dsp:nvSpPr>
      <dsp:spPr>
        <a:xfrm>
          <a:off x="338532" y="0"/>
          <a:ext cx="2066136" cy="1147853"/>
        </a:xfrm>
        <a:prstGeom prst="roundRect">
          <a:avLst>
            <a:gd name="adj" fmla="val 10000"/>
          </a:avLst>
        </a:prstGeom>
        <a:solidFill>
          <a:srgbClr val="09253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a:solidFill>
                <a:srgbClr val="42C5A5"/>
              </a:solidFill>
            </a:rPr>
            <a:t>1</a:t>
          </a:r>
        </a:p>
        <a:p>
          <a:pPr marL="0" lvl="0" indent="0" algn="ctr" defTabSz="800100">
            <a:lnSpc>
              <a:spcPct val="90000"/>
            </a:lnSpc>
            <a:spcBef>
              <a:spcPct val="0"/>
            </a:spcBef>
            <a:spcAft>
              <a:spcPct val="35000"/>
            </a:spcAft>
            <a:buNone/>
          </a:pPr>
          <a:r>
            <a:rPr lang="fr-FR" sz="1800" kern="1200" dirty="0"/>
            <a:t>Numéro de série du certificat</a:t>
          </a:r>
        </a:p>
      </dsp:txBody>
      <dsp:txXfrm>
        <a:off x="372151" y="33619"/>
        <a:ext cx="1998898" cy="1080615"/>
      </dsp:txXfrm>
    </dsp:sp>
    <dsp:sp modelId="{D0336B42-F283-40AC-A406-25A3269E06A4}">
      <dsp:nvSpPr>
        <dsp:cNvPr id="0" name=""/>
        <dsp:cNvSpPr/>
      </dsp:nvSpPr>
      <dsp:spPr>
        <a:xfrm rot="5400000">
          <a:off x="1156377" y="1176550"/>
          <a:ext cx="430445" cy="516534"/>
        </a:xfrm>
        <a:prstGeom prst="rightArrow">
          <a:avLst>
            <a:gd name="adj1" fmla="val 60000"/>
            <a:gd name="adj2" fmla="val 50000"/>
          </a:avLst>
        </a:prstGeom>
        <a:solidFill>
          <a:srgbClr val="42C5A5"/>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fr-FR" sz="1400" kern="1200"/>
        </a:p>
      </dsp:txBody>
      <dsp:txXfrm rot="-5400000">
        <a:off x="1216640" y="1219595"/>
        <a:ext cx="309920" cy="301312"/>
      </dsp:txXfrm>
    </dsp:sp>
    <dsp:sp modelId="{3FA68E4A-1CF8-4F99-9EA6-7FF1B102E8C8}">
      <dsp:nvSpPr>
        <dsp:cNvPr id="0" name=""/>
        <dsp:cNvSpPr/>
      </dsp:nvSpPr>
      <dsp:spPr>
        <a:xfrm>
          <a:off x="338532" y="1721780"/>
          <a:ext cx="2066136" cy="1147853"/>
        </a:xfrm>
        <a:prstGeom prst="roundRect">
          <a:avLst>
            <a:gd name="adj" fmla="val 10000"/>
          </a:avLst>
        </a:prstGeom>
        <a:solidFill>
          <a:srgbClr val="09253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a:solidFill>
                <a:srgbClr val="42C5A5"/>
              </a:solidFill>
            </a:rPr>
            <a:t>2</a:t>
          </a:r>
        </a:p>
        <a:p>
          <a:pPr marL="0" lvl="0" indent="0" algn="ctr" defTabSz="800100">
            <a:lnSpc>
              <a:spcPct val="90000"/>
            </a:lnSpc>
            <a:spcBef>
              <a:spcPct val="0"/>
            </a:spcBef>
            <a:spcAft>
              <a:spcPct val="35000"/>
            </a:spcAft>
            <a:buNone/>
          </a:pPr>
          <a:r>
            <a:rPr lang="fr-FR" sz="1800" kern="1200" dirty="0"/>
            <a:t>Transmission au serveur OCSP</a:t>
          </a:r>
        </a:p>
      </dsp:txBody>
      <dsp:txXfrm>
        <a:off x="372151" y="1755399"/>
        <a:ext cx="1998898" cy="1080615"/>
      </dsp:txXfrm>
    </dsp:sp>
    <dsp:sp modelId="{BB28A321-8F8B-4642-B5BC-E312876D9F63}">
      <dsp:nvSpPr>
        <dsp:cNvPr id="0" name=""/>
        <dsp:cNvSpPr/>
      </dsp:nvSpPr>
      <dsp:spPr>
        <a:xfrm rot="5400000">
          <a:off x="1156377" y="2898330"/>
          <a:ext cx="430445" cy="516534"/>
        </a:xfrm>
        <a:prstGeom prst="rightArrow">
          <a:avLst>
            <a:gd name="adj1" fmla="val 60000"/>
            <a:gd name="adj2" fmla="val 50000"/>
          </a:avLst>
        </a:prstGeom>
        <a:solidFill>
          <a:srgbClr val="42C5A5"/>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fr-FR" sz="1400" kern="1200"/>
        </a:p>
      </dsp:txBody>
      <dsp:txXfrm rot="-5400000">
        <a:off x="1216640" y="2941375"/>
        <a:ext cx="309920" cy="301312"/>
      </dsp:txXfrm>
    </dsp:sp>
    <dsp:sp modelId="{71FA92A8-7A07-4C21-8320-AF0D7CC80050}">
      <dsp:nvSpPr>
        <dsp:cNvPr id="0" name=""/>
        <dsp:cNvSpPr/>
      </dsp:nvSpPr>
      <dsp:spPr>
        <a:xfrm>
          <a:off x="338532" y="3443561"/>
          <a:ext cx="2066136" cy="1147853"/>
        </a:xfrm>
        <a:prstGeom prst="roundRect">
          <a:avLst>
            <a:gd name="adj" fmla="val 10000"/>
          </a:avLst>
        </a:prstGeom>
        <a:solidFill>
          <a:srgbClr val="09253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a:solidFill>
                <a:srgbClr val="42C5A5"/>
              </a:solidFill>
            </a:rPr>
            <a:t>3</a:t>
          </a:r>
        </a:p>
        <a:p>
          <a:pPr marL="0" lvl="0" indent="0" algn="ctr" defTabSz="800100">
            <a:lnSpc>
              <a:spcPct val="90000"/>
            </a:lnSpc>
            <a:spcBef>
              <a:spcPct val="0"/>
            </a:spcBef>
            <a:spcAft>
              <a:spcPct val="35000"/>
            </a:spcAft>
            <a:buNone/>
          </a:pPr>
          <a:r>
            <a:rPr lang="fr-FR" sz="1800" kern="1200" dirty="0"/>
            <a:t>Réponse contenant le statut </a:t>
          </a:r>
        </a:p>
      </dsp:txBody>
      <dsp:txXfrm>
        <a:off x="372151" y="3477180"/>
        <a:ext cx="1998898" cy="108061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523219-5C83-4033-A764-5C39BE7DCCCA}">
      <dsp:nvSpPr>
        <dsp:cNvPr id="0" name=""/>
        <dsp:cNvSpPr/>
      </dsp:nvSpPr>
      <dsp:spPr>
        <a:xfrm>
          <a:off x="338532" y="0"/>
          <a:ext cx="2066136" cy="1147853"/>
        </a:xfrm>
        <a:prstGeom prst="roundRect">
          <a:avLst>
            <a:gd name="adj" fmla="val 10000"/>
          </a:avLst>
        </a:prstGeom>
        <a:solidFill>
          <a:srgbClr val="09253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kern="1200" dirty="0">
              <a:solidFill>
                <a:srgbClr val="42C5A5"/>
              </a:solidFill>
            </a:rPr>
            <a:t>1</a:t>
          </a:r>
        </a:p>
        <a:p>
          <a:pPr marL="0" lvl="0" indent="0" algn="ctr" defTabSz="666750">
            <a:lnSpc>
              <a:spcPct val="90000"/>
            </a:lnSpc>
            <a:spcBef>
              <a:spcPct val="0"/>
            </a:spcBef>
            <a:spcAft>
              <a:spcPct val="35000"/>
            </a:spcAft>
            <a:buNone/>
          </a:pPr>
          <a:r>
            <a:rPr lang="fr-FR" sz="1500" kern="1200" dirty="0"/>
            <a:t>Serveur Web contacte périodiquement la CA</a:t>
          </a:r>
        </a:p>
      </dsp:txBody>
      <dsp:txXfrm>
        <a:off x="372151" y="33619"/>
        <a:ext cx="1998898" cy="1080615"/>
      </dsp:txXfrm>
    </dsp:sp>
    <dsp:sp modelId="{D0336B42-F283-40AC-A406-25A3269E06A4}">
      <dsp:nvSpPr>
        <dsp:cNvPr id="0" name=""/>
        <dsp:cNvSpPr/>
      </dsp:nvSpPr>
      <dsp:spPr>
        <a:xfrm rot="5400000">
          <a:off x="1156377" y="1176550"/>
          <a:ext cx="430445" cy="516534"/>
        </a:xfrm>
        <a:prstGeom prst="rightArrow">
          <a:avLst>
            <a:gd name="adj1" fmla="val 60000"/>
            <a:gd name="adj2" fmla="val 50000"/>
          </a:avLst>
        </a:prstGeom>
        <a:solidFill>
          <a:srgbClr val="42C5A5"/>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rot="-5400000">
        <a:off x="1216640" y="1219595"/>
        <a:ext cx="309920" cy="301312"/>
      </dsp:txXfrm>
    </dsp:sp>
    <dsp:sp modelId="{3FA68E4A-1CF8-4F99-9EA6-7FF1B102E8C8}">
      <dsp:nvSpPr>
        <dsp:cNvPr id="0" name=""/>
        <dsp:cNvSpPr/>
      </dsp:nvSpPr>
      <dsp:spPr>
        <a:xfrm>
          <a:off x="338532" y="1721780"/>
          <a:ext cx="2066136" cy="1147853"/>
        </a:xfrm>
        <a:prstGeom prst="roundRect">
          <a:avLst>
            <a:gd name="adj" fmla="val 10000"/>
          </a:avLst>
        </a:prstGeom>
        <a:solidFill>
          <a:srgbClr val="09253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kern="1200" dirty="0">
              <a:solidFill>
                <a:srgbClr val="42C5A5"/>
              </a:solidFill>
            </a:rPr>
            <a:t>2</a:t>
          </a:r>
        </a:p>
        <a:p>
          <a:pPr marL="0" lvl="0" indent="0" algn="ctr" defTabSz="666750">
            <a:lnSpc>
              <a:spcPct val="90000"/>
            </a:lnSpc>
            <a:spcBef>
              <a:spcPct val="0"/>
            </a:spcBef>
            <a:spcAft>
              <a:spcPct val="35000"/>
            </a:spcAft>
            <a:buNone/>
          </a:pPr>
          <a:r>
            <a:rPr lang="fr-FR" sz="1500" kern="1200" dirty="0"/>
            <a:t>Mise en cache de la réponse OSCP par le serveur Web</a:t>
          </a:r>
        </a:p>
      </dsp:txBody>
      <dsp:txXfrm>
        <a:off x="372151" y="1755399"/>
        <a:ext cx="1998898" cy="1080615"/>
      </dsp:txXfrm>
    </dsp:sp>
    <dsp:sp modelId="{BB28A321-8F8B-4642-B5BC-E312876D9F63}">
      <dsp:nvSpPr>
        <dsp:cNvPr id="0" name=""/>
        <dsp:cNvSpPr/>
      </dsp:nvSpPr>
      <dsp:spPr>
        <a:xfrm rot="5400000">
          <a:off x="1156377" y="2898330"/>
          <a:ext cx="430445" cy="516534"/>
        </a:xfrm>
        <a:prstGeom prst="rightArrow">
          <a:avLst>
            <a:gd name="adj1" fmla="val 60000"/>
            <a:gd name="adj2" fmla="val 50000"/>
          </a:avLst>
        </a:prstGeom>
        <a:solidFill>
          <a:srgbClr val="42C5A5"/>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fr-FR" sz="1200" kern="1200"/>
        </a:p>
      </dsp:txBody>
      <dsp:txXfrm rot="-5400000">
        <a:off x="1216640" y="2941375"/>
        <a:ext cx="309920" cy="301312"/>
      </dsp:txXfrm>
    </dsp:sp>
    <dsp:sp modelId="{71FA92A8-7A07-4C21-8320-AF0D7CC80050}">
      <dsp:nvSpPr>
        <dsp:cNvPr id="0" name=""/>
        <dsp:cNvSpPr/>
      </dsp:nvSpPr>
      <dsp:spPr>
        <a:xfrm>
          <a:off x="338532" y="3443561"/>
          <a:ext cx="2066136" cy="1147853"/>
        </a:xfrm>
        <a:prstGeom prst="roundRect">
          <a:avLst>
            <a:gd name="adj" fmla="val 10000"/>
          </a:avLst>
        </a:prstGeom>
        <a:solidFill>
          <a:srgbClr val="09253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kern="1200" dirty="0">
              <a:solidFill>
                <a:srgbClr val="42C5A5"/>
              </a:solidFill>
            </a:rPr>
            <a:t>3</a:t>
          </a:r>
        </a:p>
        <a:p>
          <a:pPr marL="0" lvl="0" indent="0" algn="ctr" defTabSz="666750">
            <a:lnSpc>
              <a:spcPct val="90000"/>
            </a:lnSpc>
            <a:spcBef>
              <a:spcPct val="0"/>
            </a:spcBef>
            <a:spcAft>
              <a:spcPct val="35000"/>
            </a:spcAft>
            <a:buNone/>
          </a:pPr>
          <a:r>
            <a:rPr lang="fr-FR" sz="1500" kern="1200" dirty="0"/>
            <a:t>Agrafage de la réponse OSCP pour chaque connexion SSL/TLS </a:t>
          </a:r>
        </a:p>
      </dsp:txBody>
      <dsp:txXfrm>
        <a:off x="372151" y="3477180"/>
        <a:ext cx="1998898" cy="108061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7AC97B-0C9C-4A75-8DE7-9BBF22F88959}">
      <dsp:nvSpPr>
        <dsp:cNvPr id="0" name=""/>
        <dsp:cNvSpPr/>
      </dsp:nvSpPr>
      <dsp:spPr>
        <a:xfrm>
          <a:off x="5058734" y="2469974"/>
          <a:ext cx="306120" cy="2387739"/>
        </a:xfrm>
        <a:custGeom>
          <a:avLst/>
          <a:gdLst/>
          <a:ahLst/>
          <a:cxnLst/>
          <a:rect l="0" t="0" r="0" b="0"/>
          <a:pathLst>
            <a:path>
              <a:moveTo>
                <a:pt x="0" y="0"/>
              </a:moveTo>
              <a:lnTo>
                <a:pt x="0" y="2387739"/>
              </a:lnTo>
              <a:lnTo>
                <a:pt x="306120" y="2387739"/>
              </a:lnTo>
            </a:path>
          </a:pathLst>
        </a:custGeom>
        <a:noFill/>
        <a:ln w="12700" cap="flat" cmpd="sng" algn="ctr">
          <a:solidFill>
            <a:srgbClr val="09253D"/>
          </a:solidFill>
          <a:prstDash val="solid"/>
          <a:miter lim="800000"/>
        </a:ln>
        <a:effectLst/>
      </dsp:spPr>
      <dsp:style>
        <a:lnRef idx="2">
          <a:scrgbClr r="0" g="0" b="0"/>
        </a:lnRef>
        <a:fillRef idx="0">
          <a:scrgbClr r="0" g="0" b="0"/>
        </a:fillRef>
        <a:effectRef idx="0">
          <a:scrgbClr r="0" g="0" b="0"/>
        </a:effectRef>
        <a:fontRef idx="minor"/>
      </dsp:style>
    </dsp:sp>
    <dsp:sp modelId="{7CC84404-D4B8-4F86-8AEB-B2121CA72916}">
      <dsp:nvSpPr>
        <dsp:cNvPr id="0" name=""/>
        <dsp:cNvSpPr/>
      </dsp:nvSpPr>
      <dsp:spPr>
        <a:xfrm>
          <a:off x="5058734" y="2469974"/>
          <a:ext cx="306120" cy="938769"/>
        </a:xfrm>
        <a:custGeom>
          <a:avLst/>
          <a:gdLst/>
          <a:ahLst/>
          <a:cxnLst/>
          <a:rect l="0" t="0" r="0" b="0"/>
          <a:pathLst>
            <a:path>
              <a:moveTo>
                <a:pt x="0" y="0"/>
              </a:moveTo>
              <a:lnTo>
                <a:pt x="0" y="938769"/>
              </a:lnTo>
              <a:lnTo>
                <a:pt x="306120" y="938769"/>
              </a:lnTo>
            </a:path>
          </a:pathLst>
        </a:custGeom>
        <a:noFill/>
        <a:ln w="12700" cap="flat" cmpd="sng" algn="ctr">
          <a:solidFill>
            <a:srgbClr val="09253D"/>
          </a:solidFill>
          <a:prstDash val="solid"/>
          <a:miter lim="800000"/>
        </a:ln>
        <a:effectLst/>
      </dsp:spPr>
      <dsp:style>
        <a:lnRef idx="2">
          <a:scrgbClr r="0" g="0" b="0"/>
        </a:lnRef>
        <a:fillRef idx="0">
          <a:scrgbClr r="0" g="0" b="0"/>
        </a:fillRef>
        <a:effectRef idx="0">
          <a:scrgbClr r="0" g="0" b="0"/>
        </a:effectRef>
        <a:fontRef idx="minor"/>
      </dsp:style>
    </dsp:sp>
    <dsp:sp modelId="{AEF5E7C3-7654-4A48-AB97-0DD357ED830E}">
      <dsp:nvSpPr>
        <dsp:cNvPr id="0" name=""/>
        <dsp:cNvSpPr/>
      </dsp:nvSpPr>
      <dsp:spPr>
        <a:xfrm>
          <a:off x="3824048" y="1021004"/>
          <a:ext cx="214284" cy="938769"/>
        </a:xfrm>
        <a:custGeom>
          <a:avLst/>
          <a:gdLst/>
          <a:ahLst/>
          <a:cxnLst/>
          <a:rect l="0" t="0" r="0" b="0"/>
          <a:pathLst>
            <a:path>
              <a:moveTo>
                <a:pt x="0" y="0"/>
              </a:moveTo>
              <a:lnTo>
                <a:pt x="0" y="938769"/>
              </a:lnTo>
              <a:lnTo>
                <a:pt x="214284" y="938769"/>
              </a:lnTo>
            </a:path>
          </a:pathLst>
        </a:custGeom>
        <a:noFill/>
        <a:ln w="12700" cap="flat" cmpd="sng" algn="ctr">
          <a:solidFill>
            <a:srgbClr val="09253D"/>
          </a:solidFill>
          <a:prstDash val="solid"/>
          <a:miter lim="800000"/>
        </a:ln>
        <a:effectLst/>
      </dsp:spPr>
      <dsp:style>
        <a:lnRef idx="2">
          <a:scrgbClr r="0" g="0" b="0"/>
        </a:lnRef>
        <a:fillRef idx="0">
          <a:scrgbClr r="0" g="0" b="0"/>
        </a:fillRef>
        <a:effectRef idx="0">
          <a:scrgbClr r="0" g="0" b="0"/>
        </a:effectRef>
        <a:fontRef idx="minor"/>
      </dsp:style>
    </dsp:sp>
    <dsp:sp modelId="{3EB34524-1BC4-4529-8BEA-CA5F121F2A8D}">
      <dsp:nvSpPr>
        <dsp:cNvPr id="0" name=""/>
        <dsp:cNvSpPr/>
      </dsp:nvSpPr>
      <dsp:spPr>
        <a:xfrm>
          <a:off x="2375078" y="2469974"/>
          <a:ext cx="214284" cy="938769"/>
        </a:xfrm>
        <a:custGeom>
          <a:avLst/>
          <a:gdLst/>
          <a:ahLst/>
          <a:cxnLst/>
          <a:rect l="0" t="0" r="0" b="0"/>
          <a:pathLst>
            <a:path>
              <a:moveTo>
                <a:pt x="214284" y="0"/>
              </a:moveTo>
              <a:lnTo>
                <a:pt x="214284" y="938769"/>
              </a:lnTo>
              <a:lnTo>
                <a:pt x="0" y="938769"/>
              </a:lnTo>
            </a:path>
          </a:pathLst>
        </a:custGeom>
        <a:noFill/>
        <a:ln w="12700" cap="flat" cmpd="sng" algn="ctr">
          <a:solidFill>
            <a:srgbClr val="09253D"/>
          </a:solidFill>
          <a:prstDash val="solid"/>
          <a:miter lim="800000"/>
        </a:ln>
        <a:effectLst/>
      </dsp:spPr>
      <dsp:style>
        <a:lnRef idx="2">
          <a:scrgbClr r="0" g="0" b="0"/>
        </a:lnRef>
        <a:fillRef idx="0">
          <a:scrgbClr r="0" g="0" b="0"/>
        </a:fillRef>
        <a:effectRef idx="0">
          <a:scrgbClr r="0" g="0" b="0"/>
        </a:effectRef>
        <a:fontRef idx="minor"/>
      </dsp:style>
    </dsp:sp>
    <dsp:sp modelId="{336E88CA-9C9D-49CE-8C2E-43CA6A51FB3E}">
      <dsp:nvSpPr>
        <dsp:cNvPr id="0" name=""/>
        <dsp:cNvSpPr/>
      </dsp:nvSpPr>
      <dsp:spPr>
        <a:xfrm>
          <a:off x="3609764" y="1021004"/>
          <a:ext cx="214284" cy="938769"/>
        </a:xfrm>
        <a:custGeom>
          <a:avLst/>
          <a:gdLst/>
          <a:ahLst/>
          <a:cxnLst/>
          <a:rect l="0" t="0" r="0" b="0"/>
          <a:pathLst>
            <a:path>
              <a:moveTo>
                <a:pt x="214284" y="0"/>
              </a:moveTo>
              <a:lnTo>
                <a:pt x="214284" y="938769"/>
              </a:lnTo>
              <a:lnTo>
                <a:pt x="0" y="938769"/>
              </a:lnTo>
            </a:path>
          </a:pathLst>
        </a:custGeom>
        <a:noFill/>
        <a:ln w="12700" cap="flat" cmpd="sng" algn="ctr">
          <a:solidFill>
            <a:srgbClr val="09253D"/>
          </a:solidFill>
          <a:prstDash val="solid"/>
          <a:miter lim="800000"/>
        </a:ln>
        <a:effectLst/>
      </dsp:spPr>
      <dsp:style>
        <a:lnRef idx="2">
          <a:scrgbClr r="0" g="0" b="0"/>
        </a:lnRef>
        <a:fillRef idx="0">
          <a:scrgbClr r="0" g="0" b="0"/>
        </a:fillRef>
        <a:effectRef idx="0">
          <a:scrgbClr r="0" g="0" b="0"/>
        </a:effectRef>
        <a:fontRef idx="minor"/>
      </dsp:style>
    </dsp:sp>
    <dsp:sp modelId="{A0D47CC2-8051-42D1-8016-C537B2A92B79}">
      <dsp:nvSpPr>
        <dsp:cNvPr id="0" name=""/>
        <dsp:cNvSpPr/>
      </dsp:nvSpPr>
      <dsp:spPr>
        <a:xfrm>
          <a:off x="2803647" y="603"/>
          <a:ext cx="2040802" cy="1020401"/>
        </a:xfrm>
        <a:prstGeom prst="rect">
          <a:avLst/>
        </a:prstGeom>
        <a:solidFill>
          <a:srgbClr val="09253D"/>
        </a:solidFill>
        <a:ln w="12700" cap="flat" cmpd="sng" algn="ctr">
          <a:solidFill>
            <a:srgbClr val="09253D"/>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fr-FR" sz="2500" kern="1200" dirty="0"/>
            <a:t>Root CA</a:t>
          </a:r>
        </a:p>
      </dsp:txBody>
      <dsp:txXfrm>
        <a:off x="2803647" y="603"/>
        <a:ext cx="2040802" cy="1020401"/>
      </dsp:txXfrm>
    </dsp:sp>
    <dsp:sp modelId="{20E86441-86FA-40EB-BF3C-0856A0D2612A}">
      <dsp:nvSpPr>
        <dsp:cNvPr id="0" name=""/>
        <dsp:cNvSpPr/>
      </dsp:nvSpPr>
      <dsp:spPr>
        <a:xfrm>
          <a:off x="1568961" y="1449573"/>
          <a:ext cx="2040802" cy="1020401"/>
        </a:xfrm>
        <a:prstGeom prst="rect">
          <a:avLst/>
        </a:prstGeom>
        <a:solidFill>
          <a:srgbClr val="42C5A5"/>
        </a:solidFill>
        <a:ln w="12700" cap="flat" cmpd="sng" algn="ctr">
          <a:solidFill>
            <a:srgbClr val="42C5A5"/>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fr-FR" sz="2500" kern="1200" dirty="0" err="1"/>
            <a:t>Intermediate</a:t>
          </a:r>
          <a:r>
            <a:rPr lang="fr-FR" sz="2500" kern="1200" dirty="0"/>
            <a:t> CA</a:t>
          </a:r>
        </a:p>
      </dsp:txBody>
      <dsp:txXfrm>
        <a:off x="1568961" y="1449573"/>
        <a:ext cx="2040802" cy="1020401"/>
      </dsp:txXfrm>
    </dsp:sp>
    <dsp:sp modelId="{5E8501C8-4C78-489E-B837-71D953F0029A}">
      <dsp:nvSpPr>
        <dsp:cNvPr id="0" name=""/>
        <dsp:cNvSpPr/>
      </dsp:nvSpPr>
      <dsp:spPr>
        <a:xfrm>
          <a:off x="334275" y="2898543"/>
          <a:ext cx="2040802" cy="1020401"/>
        </a:xfrm>
        <a:prstGeom prst="rect">
          <a:avLst/>
        </a:prstGeom>
        <a:solidFill>
          <a:srgbClr val="898989"/>
        </a:solidFill>
        <a:ln w="12700" cap="flat" cmpd="sng" algn="ctr">
          <a:solidFill>
            <a:srgbClr val="898989"/>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fr-FR" sz="2500" kern="1200" dirty="0" err="1"/>
            <a:t>Leaf</a:t>
          </a:r>
          <a:r>
            <a:rPr lang="fr-FR" sz="2500" kern="1200" dirty="0"/>
            <a:t> </a:t>
          </a:r>
          <a:r>
            <a:rPr lang="fr-FR" sz="2500" kern="1200" dirty="0" err="1"/>
            <a:t>Certificate</a:t>
          </a:r>
          <a:endParaRPr lang="fr-FR" sz="2500" kern="1200" dirty="0"/>
        </a:p>
        <a:p>
          <a:pPr marL="0" lvl="0" indent="0" algn="ctr" defTabSz="1111250">
            <a:lnSpc>
              <a:spcPct val="90000"/>
            </a:lnSpc>
            <a:spcBef>
              <a:spcPct val="0"/>
            </a:spcBef>
            <a:spcAft>
              <a:spcPct val="35000"/>
            </a:spcAft>
            <a:buNone/>
          </a:pPr>
          <a:r>
            <a:rPr lang="fr-FR" sz="2500" kern="1200" dirty="0"/>
            <a:t>(Server)</a:t>
          </a:r>
        </a:p>
      </dsp:txBody>
      <dsp:txXfrm>
        <a:off x="334275" y="2898543"/>
        <a:ext cx="2040802" cy="1020401"/>
      </dsp:txXfrm>
    </dsp:sp>
    <dsp:sp modelId="{05B09078-180C-467E-AEDF-B4AC49E759D0}">
      <dsp:nvSpPr>
        <dsp:cNvPr id="0" name=""/>
        <dsp:cNvSpPr/>
      </dsp:nvSpPr>
      <dsp:spPr>
        <a:xfrm>
          <a:off x="4038333" y="1449573"/>
          <a:ext cx="2040802" cy="1020401"/>
        </a:xfrm>
        <a:prstGeom prst="rect">
          <a:avLst/>
        </a:prstGeom>
        <a:solidFill>
          <a:srgbClr val="42C5A5"/>
        </a:solidFill>
        <a:ln w="12700" cap="flat" cmpd="sng" algn="ctr">
          <a:solidFill>
            <a:srgbClr val="42C5A5"/>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fr-FR" sz="2500" kern="1200" dirty="0" err="1"/>
            <a:t>Intermediate</a:t>
          </a:r>
          <a:r>
            <a:rPr lang="fr-FR" sz="2500" kern="1200" dirty="0"/>
            <a:t> CA</a:t>
          </a:r>
        </a:p>
      </dsp:txBody>
      <dsp:txXfrm>
        <a:off x="4038333" y="1449573"/>
        <a:ext cx="2040802" cy="1020401"/>
      </dsp:txXfrm>
    </dsp:sp>
    <dsp:sp modelId="{528D6990-B718-4A56-B89F-E2A39F3C2FE0}">
      <dsp:nvSpPr>
        <dsp:cNvPr id="0" name=""/>
        <dsp:cNvSpPr/>
      </dsp:nvSpPr>
      <dsp:spPr>
        <a:xfrm>
          <a:off x="5364855" y="2898543"/>
          <a:ext cx="2040802" cy="1020401"/>
        </a:xfrm>
        <a:prstGeom prst="rect">
          <a:avLst/>
        </a:prstGeom>
        <a:solidFill>
          <a:srgbClr val="898989"/>
        </a:solidFill>
        <a:ln w="12700" cap="flat" cmpd="sng" algn="ctr">
          <a:solidFill>
            <a:srgbClr val="898989"/>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fr-FR" sz="2500" kern="1200" dirty="0" err="1"/>
            <a:t>Leaf</a:t>
          </a:r>
          <a:r>
            <a:rPr lang="fr-FR" sz="2500" kern="1200" dirty="0"/>
            <a:t> </a:t>
          </a:r>
          <a:r>
            <a:rPr lang="fr-FR" sz="2500" kern="1200" dirty="0" err="1"/>
            <a:t>Certificate</a:t>
          </a:r>
          <a:endParaRPr lang="fr-FR" sz="2500" kern="1200" dirty="0"/>
        </a:p>
        <a:p>
          <a:pPr marL="0" lvl="0" indent="0" algn="ctr" defTabSz="1111250">
            <a:lnSpc>
              <a:spcPct val="90000"/>
            </a:lnSpc>
            <a:spcBef>
              <a:spcPct val="0"/>
            </a:spcBef>
            <a:spcAft>
              <a:spcPct val="35000"/>
            </a:spcAft>
            <a:buNone/>
          </a:pPr>
          <a:r>
            <a:rPr lang="fr-FR" sz="2500" kern="1200" dirty="0"/>
            <a:t>(Server)</a:t>
          </a:r>
        </a:p>
      </dsp:txBody>
      <dsp:txXfrm>
        <a:off x="5364855" y="2898543"/>
        <a:ext cx="2040802" cy="1020401"/>
      </dsp:txXfrm>
    </dsp:sp>
    <dsp:sp modelId="{4650C7D0-7B9C-4ACD-8A35-B468F091F5E7}">
      <dsp:nvSpPr>
        <dsp:cNvPr id="0" name=""/>
        <dsp:cNvSpPr/>
      </dsp:nvSpPr>
      <dsp:spPr>
        <a:xfrm>
          <a:off x="5364855" y="4347513"/>
          <a:ext cx="2040802" cy="1020401"/>
        </a:xfrm>
        <a:prstGeom prst="rect">
          <a:avLst/>
        </a:prstGeom>
        <a:solidFill>
          <a:srgbClr val="898989"/>
        </a:solidFill>
        <a:ln w="12700" cap="flat" cmpd="sng" algn="ctr">
          <a:solidFill>
            <a:srgbClr val="898989"/>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fr-FR" sz="2500" kern="1200" dirty="0" err="1"/>
            <a:t>Leaf</a:t>
          </a:r>
          <a:r>
            <a:rPr lang="fr-FR" sz="2500" kern="1200" dirty="0"/>
            <a:t> </a:t>
          </a:r>
          <a:r>
            <a:rPr lang="fr-FR" sz="2500" kern="1200" dirty="0" err="1"/>
            <a:t>Certificate</a:t>
          </a:r>
          <a:endParaRPr lang="fr-FR" sz="2500" kern="1200" dirty="0"/>
        </a:p>
        <a:p>
          <a:pPr marL="0" lvl="0" indent="0" algn="ctr" defTabSz="1111250">
            <a:lnSpc>
              <a:spcPct val="90000"/>
            </a:lnSpc>
            <a:spcBef>
              <a:spcPct val="0"/>
            </a:spcBef>
            <a:spcAft>
              <a:spcPct val="35000"/>
            </a:spcAft>
            <a:buNone/>
          </a:pPr>
          <a:r>
            <a:rPr lang="fr-FR" sz="2500" kern="1200" dirty="0"/>
            <a:t>(Server)</a:t>
          </a:r>
        </a:p>
      </dsp:txBody>
      <dsp:txXfrm>
        <a:off x="5364855" y="4347513"/>
        <a:ext cx="2040802" cy="102040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2CB131-1565-40EC-A03E-2755C638F53A}">
      <dsp:nvSpPr>
        <dsp:cNvPr id="0" name=""/>
        <dsp:cNvSpPr/>
      </dsp:nvSpPr>
      <dsp:spPr>
        <a:xfrm rot="5400000">
          <a:off x="315568" y="1598207"/>
          <a:ext cx="1183348" cy="1347200"/>
        </a:xfrm>
        <a:prstGeom prst="bentUpArrow">
          <a:avLst>
            <a:gd name="adj1" fmla="val 32840"/>
            <a:gd name="adj2" fmla="val 25000"/>
            <a:gd name="adj3" fmla="val 35780"/>
          </a:avLst>
        </a:prstGeom>
        <a:solidFill>
          <a:srgbClr val="42C5A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7C7BC77-5721-487D-A5B8-C74719247A6E}">
      <dsp:nvSpPr>
        <dsp:cNvPr id="0" name=""/>
        <dsp:cNvSpPr/>
      </dsp:nvSpPr>
      <dsp:spPr>
        <a:xfrm>
          <a:off x="2053" y="286441"/>
          <a:ext cx="1992061" cy="1394378"/>
        </a:xfrm>
        <a:prstGeom prst="roundRect">
          <a:avLst>
            <a:gd name="adj" fmla="val 16670"/>
          </a:avLst>
        </a:prstGeom>
        <a:solidFill>
          <a:srgbClr val="09253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dirty="0"/>
            <a:t>Root CA</a:t>
          </a:r>
        </a:p>
      </dsp:txBody>
      <dsp:txXfrm>
        <a:off x="70133" y="354521"/>
        <a:ext cx="1855901" cy="1258218"/>
      </dsp:txXfrm>
    </dsp:sp>
    <dsp:sp modelId="{D5C75829-908C-44F6-AC10-B2321609C821}">
      <dsp:nvSpPr>
        <dsp:cNvPr id="0" name=""/>
        <dsp:cNvSpPr/>
      </dsp:nvSpPr>
      <dsp:spPr>
        <a:xfrm>
          <a:off x="237191" y="2221672"/>
          <a:ext cx="983542" cy="514779"/>
        </a:xfrm>
        <a:prstGeom prst="rect">
          <a:avLst/>
        </a:prstGeom>
        <a:noFill/>
        <a:ln>
          <a:noFill/>
        </a:ln>
        <a:effectLst/>
      </dsp:spPr>
      <dsp:style>
        <a:lnRef idx="0">
          <a:scrgbClr r="0" g="0" b="0"/>
        </a:lnRef>
        <a:fillRef idx="0">
          <a:scrgbClr r="0" g="0" b="0"/>
        </a:fillRef>
        <a:effectRef idx="0">
          <a:scrgbClr r="0" g="0" b="0"/>
        </a:effectRef>
        <a:fontRef idx="minor"/>
      </dsp:style>
    </dsp:sp>
    <dsp:sp modelId="{4EA54E95-2740-41B0-8C17-6376D0686D6E}">
      <dsp:nvSpPr>
        <dsp:cNvPr id="0" name=""/>
        <dsp:cNvSpPr/>
      </dsp:nvSpPr>
      <dsp:spPr>
        <a:xfrm rot="5400000">
          <a:off x="1855529" y="3164554"/>
          <a:ext cx="1183348" cy="1347200"/>
        </a:xfrm>
        <a:prstGeom prst="bentUpArrow">
          <a:avLst>
            <a:gd name="adj1" fmla="val 32840"/>
            <a:gd name="adj2" fmla="val 25000"/>
            <a:gd name="adj3" fmla="val 35780"/>
          </a:avLst>
        </a:prstGeom>
        <a:solidFill>
          <a:srgbClr val="42C5A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E093D6B-1FB8-4491-971D-DBFDBCAC3C97}">
      <dsp:nvSpPr>
        <dsp:cNvPr id="0" name=""/>
        <dsp:cNvSpPr/>
      </dsp:nvSpPr>
      <dsp:spPr>
        <a:xfrm>
          <a:off x="1542014" y="1852789"/>
          <a:ext cx="1992061" cy="1394378"/>
        </a:xfrm>
        <a:prstGeom prst="roundRect">
          <a:avLst>
            <a:gd name="adj" fmla="val 16670"/>
          </a:avLst>
        </a:prstGeom>
        <a:solidFill>
          <a:srgbClr val="09253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dirty="0" err="1"/>
            <a:t>Intermediate</a:t>
          </a:r>
          <a:r>
            <a:rPr lang="fr-FR" sz="2400" kern="1200" dirty="0"/>
            <a:t> CA</a:t>
          </a:r>
        </a:p>
      </dsp:txBody>
      <dsp:txXfrm>
        <a:off x="1610094" y="1920869"/>
        <a:ext cx="1855901" cy="1258218"/>
      </dsp:txXfrm>
    </dsp:sp>
    <dsp:sp modelId="{321AC81F-136A-43CE-AF8D-10AC2CFD216D}">
      <dsp:nvSpPr>
        <dsp:cNvPr id="0" name=""/>
        <dsp:cNvSpPr/>
      </dsp:nvSpPr>
      <dsp:spPr>
        <a:xfrm>
          <a:off x="3534075" y="1985774"/>
          <a:ext cx="1448836" cy="1126998"/>
        </a:xfrm>
        <a:prstGeom prst="rect">
          <a:avLst/>
        </a:prstGeom>
        <a:noFill/>
        <a:ln>
          <a:noFill/>
        </a:ln>
        <a:effectLst/>
      </dsp:spPr>
      <dsp:style>
        <a:lnRef idx="0">
          <a:scrgbClr r="0" g="0" b="0"/>
        </a:lnRef>
        <a:fillRef idx="0">
          <a:scrgbClr r="0" g="0" b="0"/>
        </a:fillRef>
        <a:effectRef idx="0">
          <a:scrgbClr r="0" g="0" b="0"/>
        </a:effectRef>
        <a:fontRef idx="minor"/>
      </dsp:style>
    </dsp:sp>
    <dsp:sp modelId="{BB0FD89F-4A52-4204-BB70-364735B2BD4D}">
      <dsp:nvSpPr>
        <dsp:cNvPr id="0" name=""/>
        <dsp:cNvSpPr/>
      </dsp:nvSpPr>
      <dsp:spPr>
        <a:xfrm>
          <a:off x="3081974" y="3419136"/>
          <a:ext cx="1992061" cy="1394378"/>
        </a:xfrm>
        <a:prstGeom prst="roundRect">
          <a:avLst>
            <a:gd name="adj" fmla="val 16670"/>
          </a:avLst>
        </a:prstGeom>
        <a:solidFill>
          <a:srgbClr val="09253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dirty="0" err="1"/>
            <a:t>Leaf</a:t>
          </a:r>
          <a:r>
            <a:rPr lang="fr-FR" sz="2400" kern="1200" dirty="0"/>
            <a:t> </a:t>
          </a:r>
          <a:r>
            <a:rPr lang="fr-FR" sz="2400" kern="1200" dirty="0" err="1"/>
            <a:t>Certificate</a:t>
          </a:r>
          <a:endParaRPr lang="fr-FR" sz="2400" kern="1200" dirty="0"/>
        </a:p>
      </dsp:txBody>
      <dsp:txXfrm>
        <a:off x="3150054" y="3487216"/>
        <a:ext cx="1855901" cy="125821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E818F6-CA85-44B7-8F10-016CBFC6B225}">
      <dsp:nvSpPr>
        <dsp:cNvPr id="0" name=""/>
        <dsp:cNvSpPr/>
      </dsp:nvSpPr>
      <dsp:spPr>
        <a:xfrm>
          <a:off x="862" y="306760"/>
          <a:ext cx="3711243" cy="4453492"/>
        </a:xfrm>
        <a:prstGeom prst="roundRect">
          <a:avLst>
            <a:gd name="adj" fmla="val 5000"/>
          </a:avLst>
        </a:prstGeom>
        <a:solidFill>
          <a:srgbClr val="09253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5725" rIns="111125" bIns="0" numCol="1" spcCol="1270" anchor="t" anchorCtr="0">
          <a:noAutofit/>
        </a:bodyPr>
        <a:lstStyle/>
        <a:p>
          <a:pPr marL="0" lvl="0" indent="0" algn="r" defTabSz="1111250">
            <a:lnSpc>
              <a:spcPct val="90000"/>
            </a:lnSpc>
            <a:spcBef>
              <a:spcPct val="0"/>
            </a:spcBef>
            <a:spcAft>
              <a:spcPct val="35000"/>
            </a:spcAft>
            <a:buNone/>
          </a:pPr>
          <a:r>
            <a:rPr lang="fr-FR" sz="2500" b="1" i="0" kern="1200" dirty="0"/>
            <a:t>🫚 Certificat racine</a:t>
          </a:r>
          <a:endParaRPr lang="fr-FR" sz="2500" kern="1200" dirty="0"/>
        </a:p>
      </dsp:txBody>
      <dsp:txXfrm rot="16200000">
        <a:off x="-1453945" y="1761568"/>
        <a:ext cx="3651863" cy="742248"/>
      </dsp:txXfrm>
    </dsp:sp>
    <dsp:sp modelId="{0BD4A106-63D7-471F-978B-5A8A4DEF0D9F}">
      <dsp:nvSpPr>
        <dsp:cNvPr id="0" name=""/>
        <dsp:cNvSpPr/>
      </dsp:nvSpPr>
      <dsp:spPr>
        <a:xfrm>
          <a:off x="743111" y="306760"/>
          <a:ext cx="2764876" cy="445349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4577" rIns="0" bIns="0" numCol="1" spcCol="1270" anchor="t" anchorCtr="0">
          <a:noAutofit/>
        </a:bodyPr>
        <a:lstStyle/>
        <a:p>
          <a:pPr marL="0" lvl="0" indent="0" algn="l" defTabSz="577850">
            <a:lnSpc>
              <a:spcPct val="90000"/>
            </a:lnSpc>
            <a:spcBef>
              <a:spcPct val="0"/>
            </a:spcBef>
            <a:spcAft>
              <a:spcPct val="35000"/>
            </a:spcAft>
            <a:buNone/>
          </a:pPr>
          <a:r>
            <a:rPr lang="fr-FR" sz="1300" b="0" kern="1200" dirty="0">
              <a:solidFill>
                <a:srgbClr val="42C5A5"/>
              </a:solidFill>
            </a:rPr>
            <a:t>Définition</a:t>
          </a:r>
          <a:br>
            <a:rPr lang="fr-FR" sz="1300" b="0" kern="1200" dirty="0"/>
          </a:br>
          <a:r>
            <a:rPr lang="fr-FR" sz="1300" b="0" kern="1200" dirty="0"/>
            <a:t>Auto-signé par l’autorité de certification (AC), utilisé pour signer les autres certificats de la chaîne.</a:t>
          </a:r>
        </a:p>
        <a:p>
          <a:pPr marL="0" lvl="0" indent="0" algn="l" defTabSz="577850">
            <a:lnSpc>
              <a:spcPct val="90000"/>
            </a:lnSpc>
            <a:spcBef>
              <a:spcPct val="0"/>
            </a:spcBef>
            <a:spcAft>
              <a:spcPct val="35000"/>
            </a:spcAft>
            <a:buFont typeface="Arial" panose="020B0604020202020204" pitchFamily="34" charset="0"/>
            <a:buNone/>
          </a:pPr>
          <a:r>
            <a:rPr lang="fr-FR" sz="1300" b="0" kern="1200" dirty="0">
              <a:solidFill>
                <a:srgbClr val="42C5A5"/>
              </a:solidFill>
            </a:rPr>
            <a:t>Spécificités</a:t>
          </a:r>
        </a:p>
        <a:p>
          <a:pPr marL="114300" lvl="1" indent="-114300" algn="l" defTabSz="577850">
            <a:lnSpc>
              <a:spcPct val="90000"/>
            </a:lnSpc>
            <a:spcBef>
              <a:spcPct val="0"/>
            </a:spcBef>
            <a:spcAft>
              <a:spcPct val="15000"/>
            </a:spcAft>
            <a:buFont typeface="Arial" panose="020B0604020202020204" pitchFamily="34" charset="0"/>
            <a:buChar char="•"/>
          </a:pPr>
          <a:r>
            <a:rPr lang="fr-FR" sz="1300" b="0" kern="1200" dirty="0"/>
            <a:t> Émis directement par l’AC</a:t>
          </a:r>
        </a:p>
        <a:p>
          <a:pPr marL="114300" lvl="1" indent="-114300" algn="l" defTabSz="577850">
            <a:lnSpc>
              <a:spcPct val="90000"/>
            </a:lnSpc>
            <a:spcBef>
              <a:spcPct val="0"/>
            </a:spcBef>
            <a:spcAft>
              <a:spcPct val="15000"/>
            </a:spcAft>
            <a:buFont typeface="Arial" panose="020B0604020202020204" pitchFamily="34" charset="0"/>
            <a:buChar char="•"/>
          </a:pPr>
          <a:r>
            <a:rPr lang="fr-FR" sz="1300" b="0" kern="1200" dirty="0"/>
            <a:t> Clé privée utilisée pour signer les certificats intermédiaires</a:t>
          </a:r>
        </a:p>
        <a:p>
          <a:pPr marL="114300" lvl="1" indent="-114300" algn="l" defTabSz="577850">
            <a:lnSpc>
              <a:spcPct val="90000"/>
            </a:lnSpc>
            <a:spcBef>
              <a:spcPct val="0"/>
            </a:spcBef>
            <a:spcAft>
              <a:spcPct val="15000"/>
            </a:spcAft>
            <a:buFont typeface="Arial" panose="020B0604020202020204" pitchFamily="34" charset="0"/>
            <a:buChar char="•"/>
          </a:pPr>
          <a:r>
            <a:rPr lang="fr-FR" sz="1300" b="0" kern="1200" dirty="0"/>
            <a:t> Très peu de certificats racines émis</a:t>
          </a:r>
        </a:p>
        <a:p>
          <a:pPr marL="0" lvl="0" indent="0" algn="l" defTabSz="577850">
            <a:lnSpc>
              <a:spcPct val="90000"/>
            </a:lnSpc>
            <a:spcBef>
              <a:spcPct val="0"/>
            </a:spcBef>
            <a:spcAft>
              <a:spcPct val="35000"/>
            </a:spcAft>
            <a:buFont typeface="Arial" panose="020B0604020202020204" pitchFamily="34" charset="0"/>
            <a:buNone/>
          </a:pPr>
          <a:r>
            <a:rPr lang="fr-FR" sz="1300" b="0" kern="1200" dirty="0">
              <a:solidFill>
                <a:srgbClr val="42C5A5"/>
              </a:solidFill>
            </a:rPr>
            <a:t>Sécurité &amp; Confiance</a:t>
          </a:r>
        </a:p>
        <a:p>
          <a:pPr marL="114300" lvl="1" indent="-114300" algn="l" defTabSz="577850">
            <a:lnSpc>
              <a:spcPct val="90000"/>
            </a:lnSpc>
            <a:spcBef>
              <a:spcPct val="0"/>
            </a:spcBef>
            <a:spcAft>
              <a:spcPct val="15000"/>
            </a:spcAft>
            <a:buFont typeface="Arial" panose="020B0604020202020204" pitchFamily="34" charset="0"/>
            <a:buChar char="•"/>
          </a:pPr>
          <a:r>
            <a:rPr lang="fr-FR" sz="1300" b="0" kern="1200" dirty="0"/>
            <a:t> Préchargé dans les navigateurs/systèmes (trust store)</a:t>
          </a:r>
        </a:p>
        <a:p>
          <a:pPr marL="114300" lvl="1" indent="-114300" algn="l" defTabSz="577850">
            <a:lnSpc>
              <a:spcPct val="90000"/>
            </a:lnSpc>
            <a:spcBef>
              <a:spcPct val="0"/>
            </a:spcBef>
            <a:spcAft>
              <a:spcPct val="15000"/>
            </a:spcAft>
            <a:buFont typeface="Arial" panose="020B0604020202020204" pitchFamily="34" charset="0"/>
            <a:buChar char="•"/>
          </a:pPr>
          <a:r>
            <a:rPr lang="fr-FR" sz="1300" b="0" kern="1200" dirty="0"/>
            <a:t> Point d’ancrage de la chaîne de confiance</a:t>
          </a:r>
        </a:p>
        <a:p>
          <a:pPr marL="114300" lvl="1" indent="-114300" algn="l" defTabSz="577850">
            <a:lnSpc>
              <a:spcPct val="90000"/>
            </a:lnSpc>
            <a:spcBef>
              <a:spcPct val="0"/>
            </a:spcBef>
            <a:spcAft>
              <a:spcPct val="15000"/>
            </a:spcAft>
            <a:buFont typeface="Arial" panose="020B0604020202020204" pitchFamily="34" charset="0"/>
            <a:buChar char="•"/>
          </a:pPr>
          <a:r>
            <a:rPr lang="fr-FR" sz="1300" b="0" kern="1200" dirty="0"/>
            <a:t> Si compromis ou révoqué → toute la chaîne devient invalide</a:t>
          </a:r>
        </a:p>
        <a:p>
          <a:pPr marL="0" lvl="0" indent="0" algn="l" defTabSz="577850">
            <a:lnSpc>
              <a:spcPct val="90000"/>
            </a:lnSpc>
            <a:spcBef>
              <a:spcPct val="0"/>
            </a:spcBef>
            <a:spcAft>
              <a:spcPct val="35000"/>
            </a:spcAft>
            <a:buFont typeface="Arial" panose="020B0604020202020204" pitchFamily="34" charset="0"/>
            <a:buNone/>
          </a:pPr>
          <a:r>
            <a:rPr lang="fr-FR" sz="1300" b="0" kern="1200" dirty="0">
              <a:solidFill>
                <a:srgbClr val="42C5A5"/>
              </a:solidFill>
            </a:rPr>
            <a:t>Précaution</a:t>
          </a:r>
        </a:p>
        <a:p>
          <a:pPr marL="114300" lvl="1" indent="-114300" algn="l" defTabSz="577850">
            <a:lnSpc>
              <a:spcPct val="90000"/>
            </a:lnSpc>
            <a:spcBef>
              <a:spcPct val="0"/>
            </a:spcBef>
            <a:spcAft>
              <a:spcPct val="15000"/>
            </a:spcAft>
            <a:buFont typeface="Arial" panose="020B0604020202020204" pitchFamily="34" charset="0"/>
            <a:buChar char="•"/>
          </a:pPr>
          <a:r>
            <a:rPr lang="fr-FR" sz="1300" b="0" kern="1200" dirty="0"/>
            <a:t> Ne signe jamais directement de certificats serveurs</a:t>
          </a:r>
        </a:p>
        <a:p>
          <a:pPr marL="114300" lvl="1" indent="-114300" algn="l" defTabSz="577850">
            <a:lnSpc>
              <a:spcPct val="90000"/>
            </a:lnSpc>
            <a:spcBef>
              <a:spcPct val="0"/>
            </a:spcBef>
            <a:spcAft>
              <a:spcPct val="15000"/>
            </a:spcAft>
            <a:buFont typeface="Arial" panose="020B0604020202020204" pitchFamily="34" charset="0"/>
            <a:buChar char="•"/>
          </a:pPr>
          <a:r>
            <a:rPr lang="fr-FR" sz="1300" b="0" kern="1200" dirty="0"/>
            <a:t> Utilise des certificats intermédiaires pour limiter les risques</a:t>
          </a:r>
        </a:p>
      </dsp:txBody>
      <dsp:txXfrm>
        <a:off x="743111" y="306760"/>
        <a:ext cx="2764876" cy="4453492"/>
      </dsp:txXfrm>
    </dsp:sp>
    <dsp:sp modelId="{DCFD2AF7-FA43-4C48-A51F-1F0927C5D0E7}">
      <dsp:nvSpPr>
        <dsp:cNvPr id="0" name=""/>
        <dsp:cNvSpPr/>
      </dsp:nvSpPr>
      <dsp:spPr>
        <a:xfrm>
          <a:off x="3841999" y="306760"/>
          <a:ext cx="3711243" cy="4453492"/>
        </a:xfrm>
        <a:prstGeom prst="roundRect">
          <a:avLst>
            <a:gd name="adj" fmla="val 5000"/>
          </a:avLst>
        </a:prstGeom>
        <a:solidFill>
          <a:srgbClr val="09253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5725" rIns="111125" bIns="0" numCol="1" spcCol="1270" anchor="t" anchorCtr="0">
          <a:noAutofit/>
        </a:bodyPr>
        <a:lstStyle/>
        <a:p>
          <a:pPr marL="0" lvl="0" indent="0" algn="r" defTabSz="1111250">
            <a:lnSpc>
              <a:spcPct val="90000"/>
            </a:lnSpc>
            <a:spcBef>
              <a:spcPct val="0"/>
            </a:spcBef>
            <a:spcAft>
              <a:spcPct val="35000"/>
            </a:spcAft>
            <a:buNone/>
          </a:pPr>
          <a:r>
            <a:rPr lang="fr-FR" sz="2500" b="1" i="0" kern="1200" dirty="0"/>
            <a:t>🪜Certificat intermédiaire</a:t>
          </a:r>
          <a:endParaRPr lang="fr-FR" sz="2500" kern="1200" dirty="0"/>
        </a:p>
      </dsp:txBody>
      <dsp:txXfrm rot="16200000">
        <a:off x="2387192" y="1761568"/>
        <a:ext cx="3651863" cy="742248"/>
      </dsp:txXfrm>
    </dsp:sp>
    <dsp:sp modelId="{4ECF6A6E-2910-40FC-9224-BCB79619787C}">
      <dsp:nvSpPr>
        <dsp:cNvPr id="0" name=""/>
        <dsp:cNvSpPr/>
      </dsp:nvSpPr>
      <dsp:spPr>
        <a:xfrm rot="5400000">
          <a:off x="3533394" y="3845302"/>
          <a:ext cx="654323" cy="556686"/>
        </a:xfrm>
        <a:prstGeom prst="flowChartExtra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2D00F53-0FF8-4AA8-AE67-0829025CEE52}">
      <dsp:nvSpPr>
        <dsp:cNvPr id="0" name=""/>
        <dsp:cNvSpPr/>
      </dsp:nvSpPr>
      <dsp:spPr>
        <a:xfrm>
          <a:off x="4584248" y="306760"/>
          <a:ext cx="2764876" cy="445349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4577" rIns="0" bIns="0" numCol="1" spcCol="1270" anchor="t" anchorCtr="0">
          <a:noAutofit/>
        </a:bodyPr>
        <a:lstStyle/>
        <a:p>
          <a:pPr marL="0" lvl="0" indent="0" algn="l" defTabSz="577850">
            <a:lnSpc>
              <a:spcPct val="90000"/>
            </a:lnSpc>
            <a:spcBef>
              <a:spcPct val="0"/>
            </a:spcBef>
            <a:spcAft>
              <a:spcPct val="35000"/>
            </a:spcAft>
            <a:buFont typeface="Arial" panose="020B0604020202020204" pitchFamily="34" charset="0"/>
            <a:buNone/>
          </a:pPr>
          <a:r>
            <a:rPr lang="fr-FR" sz="1300" b="0" kern="1200" dirty="0">
              <a:solidFill>
                <a:srgbClr val="42C5A5"/>
              </a:solidFill>
            </a:rPr>
            <a:t>Fonction</a:t>
          </a:r>
        </a:p>
        <a:p>
          <a:pPr marL="114300" lvl="1" indent="-114300" algn="l" defTabSz="577850">
            <a:lnSpc>
              <a:spcPct val="90000"/>
            </a:lnSpc>
            <a:spcBef>
              <a:spcPct val="0"/>
            </a:spcBef>
            <a:spcAft>
              <a:spcPct val="15000"/>
            </a:spcAft>
            <a:buFont typeface="Arial" panose="020B0604020202020204" pitchFamily="34" charset="0"/>
            <a:buChar char="•"/>
          </a:pPr>
          <a:r>
            <a:rPr lang="fr-FR" sz="1300" b="0" kern="1200" dirty="0"/>
            <a:t>Sert de lien entre le certificat racine et le certificat serveur</a:t>
          </a:r>
        </a:p>
        <a:p>
          <a:pPr marL="114300" lvl="1" indent="-114300" algn="l" defTabSz="577850">
            <a:lnSpc>
              <a:spcPct val="90000"/>
            </a:lnSpc>
            <a:spcBef>
              <a:spcPct val="0"/>
            </a:spcBef>
            <a:spcAft>
              <a:spcPct val="15000"/>
            </a:spcAft>
            <a:buFont typeface="Arial" panose="020B0604020202020204" pitchFamily="34" charset="0"/>
            <a:buChar char="•"/>
          </a:pPr>
          <a:r>
            <a:rPr lang="fr-FR" sz="1300" b="0" kern="1200" dirty="0"/>
            <a:t>Établit une chaîne de confiance intermédiaire</a:t>
          </a:r>
        </a:p>
        <a:p>
          <a:pPr marL="0" lvl="0" indent="0" algn="l" defTabSz="577850">
            <a:lnSpc>
              <a:spcPct val="90000"/>
            </a:lnSpc>
            <a:spcBef>
              <a:spcPct val="0"/>
            </a:spcBef>
            <a:spcAft>
              <a:spcPct val="35000"/>
            </a:spcAft>
            <a:buFont typeface="Arial" panose="020B0604020202020204" pitchFamily="34" charset="0"/>
            <a:buNone/>
          </a:pPr>
          <a:r>
            <a:rPr lang="fr-FR" sz="1300" b="0" kern="1200" dirty="0">
              <a:solidFill>
                <a:srgbClr val="42C5A5"/>
              </a:solidFill>
            </a:rPr>
            <a:t>Signature</a:t>
          </a:r>
        </a:p>
        <a:p>
          <a:pPr marL="114300" lvl="1" indent="-114300" algn="l" defTabSz="577850">
            <a:lnSpc>
              <a:spcPct val="90000"/>
            </a:lnSpc>
            <a:spcBef>
              <a:spcPct val="0"/>
            </a:spcBef>
            <a:spcAft>
              <a:spcPct val="15000"/>
            </a:spcAft>
            <a:buFont typeface="Arial" panose="020B0604020202020204" pitchFamily="34" charset="0"/>
            <a:buChar char="•"/>
          </a:pPr>
          <a:r>
            <a:rPr lang="fr-FR" sz="1300" b="0" kern="1200" dirty="0"/>
            <a:t>Signé par la clé privée du certificat racine</a:t>
          </a:r>
        </a:p>
        <a:p>
          <a:pPr marL="114300" lvl="1" indent="-114300" algn="l" defTabSz="577850">
            <a:lnSpc>
              <a:spcPct val="90000"/>
            </a:lnSpc>
            <a:spcBef>
              <a:spcPct val="0"/>
            </a:spcBef>
            <a:spcAft>
              <a:spcPct val="15000"/>
            </a:spcAft>
            <a:buFont typeface="Arial" panose="020B0604020202020204" pitchFamily="34" charset="0"/>
            <a:buChar char="•"/>
          </a:pPr>
          <a:r>
            <a:rPr lang="fr-FR" sz="1300" b="0" kern="1200" dirty="0"/>
            <a:t>Sert à signer les certificats SSL/TLS des serveurs</a:t>
          </a:r>
        </a:p>
        <a:p>
          <a:pPr marL="0" lvl="0" indent="0" algn="l" defTabSz="577850">
            <a:lnSpc>
              <a:spcPct val="90000"/>
            </a:lnSpc>
            <a:spcBef>
              <a:spcPct val="0"/>
            </a:spcBef>
            <a:spcAft>
              <a:spcPct val="35000"/>
            </a:spcAft>
            <a:buFont typeface="Arial" panose="020B0604020202020204" pitchFamily="34" charset="0"/>
            <a:buNone/>
          </a:pPr>
          <a:r>
            <a:rPr lang="fr-FR" sz="1300" b="0" kern="1200" dirty="0">
              <a:solidFill>
                <a:srgbClr val="42C5A5"/>
              </a:solidFill>
            </a:rPr>
            <a:t>Structure</a:t>
          </a:r>
        </a:p>
        <a:p>
          <a:pPr marL="114300" lvl="1" indent="-114300" algn="l" defTabSz="577850">
            <a:lnSpc>
              <a:spcPct val="90000"/>
            </a:lnSpc>
            <a:spcBef>
              <a:spcPct val="0"/>
            </a:spcBef>
            <a:spcAft>
              <a:spcPct val="15000"/>
            </a:spcAft>
            <a:buFont typeface="Arial" panose="020B0604020202020204" pitchFamily="34" charset="0"/>
            <a:buChar char="•"/>
          </a:pPr>
          <a:r>
            <a:rPr lang="fr-FR" sz="1300" b="0" kern="1200" dirty="0"/>
            <a:t>L'émetteur est une autorité de certification intermédiaire</a:t>
          </a:r>
        </a:p>
        <a:p>
          <a:pPr marL="114300" lvl="1" indent="-114300" algn="l" defTabSz="577850">
            <a:lnSpc>
              <a:spcPct val="90000"/>
            </a:lnSpc>
            <a:spcBef>
              <a:spcPct val="0"/>
            </a:spcBef>
            <a:spcAft>
              <a:spcPct val="15000"/>
            </a:spcAft>
            <a:buFont typeface="Arial" panose="020B0604020202020204" pitchFamily="34" charset="0"/>
            <a:buChar char="•"/>
          </a:pPr>
          <a:r>
            <a:rPr lang="fr-FR" sz="1300" b="0" kern="1200" dirty="0"/>
            <a:t>Le sujet est le site ou l’organisation concernée</a:t>
          </a:r>
        </a:p>
        <a:p>
          <a:pPr marL="0" lvl="0" indent="0" algn="l" defTabSz="577850">
            <a:lnSpc>
              <a:spcPct val="90000"/>
            </a:lnSpc>
            <a:spcBef>
              <a:spcPct val="0"/>
            </a:spcBef>
            <a:spcAft>
              <a:spcPct val="35000"/>
            </a:spcAft>
            <a:buFont typeface="Arial" panose="020B0604020202020204" pitchFamily="34" charset="0"/>
            <a:buNone/>
          </a:pPr>
          <a:r>
            <a:rPr lang="fr-FR" sz="1300" b="0" kern="1200" dirty="0">
              <a:solidFill>
                <a:srgbClr val="42C5A5"/>
              </a:solidFill>
            </a:rPr>
            <a:t>Caractéristiques</a:t>
          </a:r>
        </a:p>
        <a:p>
          <a:pPr marL="114300" lvl="1" indent="-114300" algn="l" defTabSz="577850">
            <a:lnSpc>
              <a:spcPct val="90000"/>
            </a:lnSpc>
            <a:spcBef>
              <a:spcPct val="0"/>
            </a:spcBef>
            <a:spcAft>
              <a:spcPct val="15000"/>
            </a:spcAft>
            <a:buFont typeface="Arial" panose="020B0604020202020204" pitchFamily="34" charset="0"/>
            <a:buChar char="•"/>
          </a:pPr>
          <a:r>
            <a:rPr lang="fr-FR" sz="1300" b="0" kern="1200" dirty="0"/>
            <a:t>Il peut y avoir plusieurs certificats intermédiaires</a:t>
          </a:r>
        </a:p>
        <a:p>
          <a:pPr marL="114300" lvl="1" indent="-114300" algn="l" defTabSz="577850">
            <a:lnSpc>
              <a:spcPct val="90000"/>
            </a:lnSpc>
            <a:spcBef>
              <a:spcPct val="0"/>
            </a:spcBef>
            <a:spcAft>
              <a:spcPct val="15000"/>
            </a:spcAft>
            <a:buFont typeface="Arial" panose="020B0604020202020204" pitchFamily="34" charset="0"/>
            <a:buChar char="•"/>
          </a:pPr>
          <a:r>
            <a:rPr lang="fr-FR" sz="1300" b="0" kern="1200" dirty="0"/>
            <a:t>Indispensable : une chaîne de certification valide en requiert au moins un</a:t>
          </a:r>
        </a:p>
      </dsp:txBody>
      <dsp:txXfrm>
        <a:off x="4584248" y="306760"/>
        <a:ext cx="2764876" cy="4453492"/>
      </dsp:txXfrm>
    </dsp:sp>
    <dsp:sp modelId="{20097E4C-9B92-4721-9C5B-F505EEE078A7}">
      <dsp:nvSpPr>
        <dsp:cNvPr id="0" name=""/>
        <dsp:cNvSpPr/>
      </dsp:nvSpPr>
      <dsp:spPr>
        <a:xfrm>
          <a:off x="7683136" y="306760"/>
          <a:ext cx="3711243" cy="4453492"/>
        </a:xfrm>
        <a:prstGeom prst="roundRect">
          <a:avLst>
            <a:gd name="adj" fmla="val 5000"/>
          </a:avLst>
        </a:prstGeom>
        <a:solidFill>
          <a:srgbClr val="09253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5725" rIns="111125" bIns="0" numCol="1" spcCol="1270" anchor="t" anchorCtr="0">
          <a:noAutofit/>
        </a:bodyPr>
        <a:lstStyle/>
        <a:p>
          <a:pPr marL="0" lvl="0" indent="0" algn="r" defTabSz="1111250">
            <a:lnSpc>
              <a:spcPct val="90000"/>
            </a:lnSpc>
            <a:spcBef>
              <a:spcPct val="0"/>
            </a:spcBef>
            <a:spcAft>
              <a:spcPct val="35000"/>
            </a:spcAft>
            <a:buNone/>
          </a:pPr>
          <a:r>
            <a:rPr lang="fr-FR" sz="2500" b="1" i="0" kern="1200" dirty="0"/>
            <a:t>🖥️Certificat de serveur</a:t>
          </a:r>
        </a:p>
      </dsp:txBody>
      <dsp:txXfrm rot="16200000">
        <a:off x="6228329" y="1761568"/>
        <a:ext cx="3651863" cy="742248"/>
      </dsp:txXfrm>
    </dsp:sp>
    <dsp:sp modelId="{AA4EAF25-F918-4468-B89A-E9240B08E200}">
      <dsp:nvSpPr>
        <dsp:cNvPr id="0" name=""/>
        <dsp:cNvSpPr/>
      </dsp:nvSpPr>
      <dsp:spPr>
        <a:xfrm rot="5400000">
          <a:off x="7374531" y="3845302"/>
          <a:ext cx="654323" cy="556686"/>
        </a:xfrm>
        <a:prstGeom prst="flowChartExtra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CF22CA2-57C9-4D19-88C0-7A8CA4908FB1}">
      <dsp:nvSpPr>
        <dsp:cNvPr id="0" name=""/>
        <dsp:cNvSpPr/>
      </dsp:nvSpPr>
      <dsp:spPr>
        <a:xfrm>
          <a:off x="8425385" y="306760"/>
          <a:ext cx="2764876" cy="445349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4577" rIns="0" bIns="0" numCol="1" spcCol="1270" anchor="t" anchorCtr="0">
          <a:noAutofit/>
        </a:bodyPr>
        <a:lstStyle/>
        <a:p>
          <a:pPr marL="0" lvl="0" indent="0" algn="l" defTabSz="577850">
            <a:lnSpc>
              <a:spcPct val="90000"/>
            </a:lnSpc>
            <a:spcBef>
              <a:spcPct val="0"/>
            </a:spcBef>
            <a:spcAft>
              <a:spcPct val="35000"/>
            </a:spcAft>
            <a:buNone/>
          </a:pPr>
          <a:r>
            <a:rPr lang="fr-FR" sz="1300" b="0" kern="1200" dirty="0">
              <a:solidFill>
                <a:srgbClr val="42C5A5"/>
              </a:solidFill>
            </a:rPr>
            <a:t>Émission</a:t>
          </a:r>
          <a:endParaRPr lang="fr-FR" sz="1300" b="0" i="0" kern="1200" dirty="0">
            <a:solidFill>
              <a:srgbClr val="42C5A5"/>
            </a:solidFill>
          </a:endParaRPr>
        </a:p>
        <a:p>
          <a:pPr marL="114300" lvl="1" indent="-114300" algn="l" defTabSz="577850">
            <a:lnSpc>
              <a:spcPct val="90000"/>
            </a:lnSpc>
            <a:spcBef>
              <a:spcPct val="0"/>
            </a:spcBef>
            <a:spcAft>
              <a:spcPct val="15000"/>
            </a:spcAft>
            <a:buFont typeface="Arial" panose="020B0604020202020204" pitchFamily="34" charset="0"/>
            <a:buChar char="•"/>
          </a:pPr>
          <a:r>
            <a:rPr lang="fr-FR" sz="1300" b="0" kern="1200"/>
            <a:t>Délivré par une autorité de certification pour un domaine spécifique</a:t>
          </a:r>
        </a:p>
        <a:p>
          <a:pPr marL="114300" lvl="1" indent="-114300" algn="l" defTabSz="577850">
            <a:lnSpc>
              <a:spcPct val="90000"/>
            </a:lnSpc>
            <a:spcBef>
              <a:spcPct val="0"/>
            </a:spcBef>
            <a:spcAft>
              <a:spcPct val="15000"/>
            </a:spcAft>
            <a:buFont typeface="Arial" panose="020B0604020202020204" pitchFamily="34" charset="0"/>
            <a:buChar char="•"/>
          </a:pPr>
          <a:r>
            <a:rPr lang="fr-FR" sz="1300" b="0" kern="1200" dirty="0"/>
            <a:t>Concrétise l'identité du site ou serveur final</a:t>
          </a:r>
        </a:p>
        <a:p>
          <a:pPr marL="0" lvl="0" indent="0" algn="l" defTabSz="577850">
            <a:lnSpc>
              <a:spcPct val="90000"/>
            </a:lnSpc>
            <a:spcBef>
              <a:spcPct val="0"/>
            </a:spcBef>
            <a:spcAft>
              <a:spcPct val="35000"/>
            </a:spcAft>
            <a:buFont typeface="Arial" panose="020B0604020202020204" pitchFamily="34" charset="0"/>
            <a:buNone/>
          </a:pPr>
          <a:r>
            <a:rPr lang="fr-FR" sz="1300" b="0" kern="1200" dirty="0">
              <a:solidFill>
                <a:srgbClr val="42C5A5"/>
              </a:solidFill>
            </a:rPr>
            <a:t>Nom technique</a:t>
          </a:r>
        </a:p>
        <a:p>
          <a:pPr marL="114300" lvl="1" indent="-114300" algn="l" defTabSz="577850">
            <a:lnSpc>
              <a:spcPct val="90000"/>
            </a:lnSpc>
            <a:spcBef>
              <a:spcPct val="0"/>
            </a:spcBef>
            <a:spcAft>
              <a:spcPct val="15000"/>
            </a:spcAft>
            <a:buFont typeface="Arial" panose="020B0604020202020204" pitchFamily="34" charset="0"/>
            <a:buChar char="•"/>
          </a:pPr>
          <a:r>
            <a:rPr lang="fr-FR" sz="1300" b="0" kern="1200" dirty="0"/>
            <a:t>Appelé aussi certificat SSL/TLS</a:t>
          </a:r>
        </a:p>
        <a:p>
          <a:pPr marL="0" lvl="0" indent="0" algn="l" defTabSz="577850">
            <a:lnSpc>
              <a:spcPct val="90000"/>
            </a:lnSpc>
            <a:spcBef>
              <a:spcPct val="0"/>
            </a:spcBef>
            <a:spcAft>
              <a:spcPct val="35000"/>
            </a:spcAft>
            <a:buFont typeface="Arial" panose="020B0604020202020204" pitchFamily="34" charset="0"/>
            <a:buNone/>
          </a:pPr>
          <a:r>
            <a:rPr lang="fr-FR" sz="1300" b="0" kern="1200" dirty="0">
              <a:solidFill>
                <a:srgbClr val="42C5A5"/>
              </a:solidFill>
            </a:rPr>
            <a:t>Fonction</a:t>
          </a:r>
        </a:p>
        <a:p>
          <a:pPr marL="114300" lvl="1" indent="-114300" algn="l" defTabSz="577850">
            <a:lnSpc>
              <a:spcPct val="90000"/>
            </a:lnSpc>
            <a:spcBef>
              <a:spcPct val="0"/>
            </a:spcBef>
            <a:spcAft>
              <a:spcPct val="15000"/>
            </a:spcAft>
            <a:buFont typeface="Arial" panose="020B0604020202020204" pitchFamily="34" charset="0"/>
            <a:buChar char="•"/>
          </a:pPr>
          <a:r>
            <a:rPr lang="fr-FR" sz="1300" b="0" kern="1200" dirty="0"/>
            <a:t>Permet de chiffrer les communications via le protocole HTTPS</a:t>
          </a:r>
        </a:p>
        <a:p>
          <a:pPr marL="114300" lvl="1" indent="-114300" algn="l" defTabSz="577850">
            <a:lnSpc>
              <a:spcPct val="90000"/>
            </a:lnSpc>
            <a:spcBef>
              <a:spcPct val="0"/>
            </a:spcBef>
            <a:spcAft>
              <a:spcPct val="15000"/>
            </a:spcAft>
            <a:buFont typeface="Arial" panose="020B0604020202020204" pitchFamily="34" charset="0"/>
            <a:buChar char="•"/>
          </a:pPr>
          <a:r>
            <a:rPr lang="fr-FR" sz="1300" b="0" kern="1200"/>
            <a:t>Remplace HTTP par HTTPS dans l’URL</a:t>
          </a:r>
        </a:p>
        <a:p>
          <a:pPr marL="0" lvl="0" indent="0" algn="l" defTabSz="577850">
            <a:lnSpc>
              <a:spcPct val="90000"/>
            </a:lnSpc>
            <a:spcBef>
              <a:spcPct val="0"/>
            </a:spcBef>
            <a:spcAft>
              <a:spcPct val="35000"/>
            </a:spcAft>
            <a:buFont typeface="Arial" panose="020B0604020202020204" pitchFamily="34" charset="0"/>
            <a:buNone/>
          </a:pPr>
          <a:r>
            <a:rPr lang="fr-FR" sz="1300" b="0" kern="1200" dirty="0">
              <a:solidFill>
                <a:srgbClr val="42C5A5"/>
              </a:solidFill>
            </a:rPr>
            <a:t>Indicateurs visibles</a:t>
          </a:r>
        </a:p>
        <a:p>
          <a:pPr marL="114300" lvl="1" indent="-114300" algn="l" defTabSz="577850">
            <a:lnSpc>
              <a:spcPct val="90000"/>
            </a:lnSpc>
            <a:spcBef>
              <a:spcPct val="0"/>
            </a:spcBef>
            <a:spcAft>
              <a:spcPct val="15000"/>
            </a:spcAft>
            <a:buFont typeface="Arial" panose="020B0604020202020204" pitchFamily="34" charset="0"/>
            <a:buChar char="•"/>
          </a:pPr>
          <a:r>
            <a:rPr lang="fr-FR" sz="1300" b="0" kern="1200"/>
            <a:t>Cadenas dans la barre d’adresse</a:t>
          </a:r>
        </a:p>
        <a:p>
          <a:pPr marL="114300" lvl="1" indent="-114300" algn="l" defTabSz="577850">
            <a:lnSpc>
              <a:spcPct val="90000"/>
            </a:lnSpc>
            <a:spcBef>
              <a:spcPct val="0"/>
            </a:spcBef>
            <a:spcAft>
              <a:spcPct val="15000"/>
            </a:spcAft>
            <a:buFont typeface="Arial" panose="020B0604020202020204" pitchFamily="34" charset="0"/>
            <a:buChar char="•"/>
          </a:pPr>
          <a:r>
            <a:rPr lang="fr-FR" sz="1300" b="0" kern="1200" dirty="0"/>
            <a:t>HTTPS devant l’URL</a:t>
          </a:r>
        </a:p>
      </dsp:txBody>
      <dsp:txXfrm>
        <a:off x="8425385" y="306760"/>
        <a:ext cx="2764876" cy="445349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9EC786-A699-4100-A108-03BFD3FE88AC}" type="datetimeFigureOut">
              <a:rPr lang="fr-FR" smtClean="0"/>
              <a:t>03/03/2026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126A9D-1955-44AF-98D9-CF7F71443976}" type="slidenum">
              <a:rPr lang="fr-FR" smtClean="0"/>
              <a:t>‹N°›</a:t>
            </a:fld>
            <a:endParaRPr lang="fr-FR"/>
          </a:p>
        </p:txBody>
      </p:sp>
    </p:spTree>
    <p:extLst>
      <p:ext uri="{BB962C8B-B14F-4D97-AF65-F5344CB8AC3E}">
        <p14:creationId xmlns:p14="http://schemas.microsoft.com/office/powerpoint/2010/main" val="11228275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79126A9D-1955-44AF-98D9-CF7F71443976}" type="slidenum">
              <a:rPr lang="fr-FR" smtClean="0"/>
              <a:t>1</a:t>
            </a:fld>
            <a:endParaRPr lang="fr-FR"/>
          </a:p>
        </p:txBody>
      </p:sp>
    </p:spTree>
    <p:extLst>
      <p:ext uri="{BB962C8B-B14F-4D97-AF65-F5344CB8AC3E}">
        <p14:creationId xmlns:p14="http://schemas.microsoft.com/office/powerpoint/2010/main" val="2281533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E3FDF-E64B-AD44-882F-8B33ADBB84B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A1EAC39-C9B4-8240-AC20-2062E05500E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8ED9360-7EB0-F9EA-9162-D0C3A576DB7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FDBB831-4D24-50EA-A284-2E13344AF6B3}"/>
              </a:ext>
            </a:extLst>
          </p:cNvPr>
          <p:cNvSpPr>
            <a:spLocks noGrp="1"/>
          </p:cNvSpPr>
          <p:nvPr>
            <p:ph type="sldNum" sz="quarter" idx="5"/>
          </p:nvPr>
        </p:nvSpPr>
        <p:spPr/>
        <p:txBody>
          <a:bodyPr/>
          <a:lstStyle/>
          <a:p>
            <a:fld id="{79126A9D-1955-44AF-98D9-CF7F71443976}" type="slidenum">
              <a:rPr lang="fr-FR" smtClean="0"/>
              <a:t>2</a:t>
            </a:fld>
            <a:endParaRPr lang="fr-FR"/>
          </a:p>
        </p:txBody>
      </p:sp>
    </p:spTree>
    <p:extLst>
      <p:ext uri="{BB962C8B-B14F-4D97-AF65-F5344CB8AC3E}">
        <p14:creationId xmlns:p14="http://schemas.microsoft.com/office/powerpoint/2010/main" val="1271859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DC79D-04AE-2A84-DCA9-203771B568A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13FF0AB-51AD-5409-DB1B-2CE463F2742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14A5B31-F590-72A6-3668-94B8B432676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F9D395E-18B3-3110-A6C6-319BA1AE2817}"/>
              </a:ext>
            </a:extLst>
          </p:cNvPr>
          <p:cNvSpPr>
            <a:spLocks noGrp="1"/>
          </p:cNvSpPr>
          <p:nvPr>
            <p:ph type="sldNum" sz="quarter" idx="5"/>
          </p:nvPr>
        </p:nvSpPr>
        <p:spPr/>
        <p:txBody>
          <a:bodyPr/>
          <a:lstStyle/>
          <a:p>
            <a:fld id="{79126A9D-1955-44AF-98D9-CF7F71443976}" type="slidenum">
              <a:rPr lang="fr-FR" smtClean="0"/>
              <a:t>3</a:t>
            </a:fld>
            <a:endParaRPr lang="fr-FR"/>
          </a:p>
        </p:txBody>
      </p:sp>
    </p:spTree>
    <p:extLst>
      <p:ext uri="{BB962C8B-B14F-4D97-AF65-F5344CB8AC3E}">
        <p14:creationId xmlns:p14="http://schemas.microsoft.com/office/powerpoint/2010/main" val="25578342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A4D8B-AE80-187D-9FAB-C9EC1D67597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F650EA0-68BC-50F1-D816-BBEFC48B8DF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583A744-05E8-6816-D145-EAE5369C068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8ECF9C9-0496-A98B-E4F8-DE31C5E89A1F}"/>
              </a:ext>
            </a:extLst>
          </p:cNvPr>
          <p:cNvSpPr>
            <a:spLocks noGrp="1"/>
          </p:cNvSpPr>
          <p:nvPr>
            <p:ph type="sldNum" sz="quarter" idx="5"/>
          </p:nvPr>
        </p:nvSpPr>
        <p:spPr/>
        <p:txBody>
          <a:bodyPr/>
          <a:lstStyle/>
          <a:p>
            <a:fld id="{79126A9D-1955-44AF-98D9-CF7F71443976}" type="slidenum">
              <a:rPr lang="fr-FR" smtClean="0"/>
              <a:t>4</a:t>
            </a:fld>
            <a:endParaRPr lang="fr-FR"/>
          </a:p>
        </p:txBody>
      </p:sp>
    </p:spTree>
    <p:extLst>
      <p:ext uri="{BB962C8B-B14F-4D97-AF65-F5344CB8AC3E}">
        <p14:creationId xmlns:p14="http://schemas.microsoft.com/office/powerpoint/2010/main" val="8733006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82A38-11E5-F267-CC59-4506E25D5C8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EEAD0CD-542A-69CB-3C57-298961394C9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655B1F4-866C-241B-0497-B78620E9433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3C0F7C9-3463-87A2-6E61-12C46E2E8197}"/>
              </a:ext>
            </a:extLst>
          </p:cNvPr>
          <p:cNvSpPr>
            <a:spLocks noGrp="1"/>
          </p:cNvSpPr>
          <p:nvPr>
            <p:ph type="sldNum" sz="quarter" idx="5"/>
          </p:nvPr>
        </p:nvSpPr>
        <p:spPr/>
        <p:txBody>
          <a:bodyPr/>
          <a:lstStyle/>
          <a:p>
            <a:fld id="{79126A9D-1955-44AF-98D9-CF7F71443976}" type="slidenum">
              <a:rPr lang="fr-FR" smtClean="0"/>
              <a:t>5</a:t>
            </a:fld>
            <a:endParaRPr lang="fr-FR"/>
          </a:p>
        </p:txBody>
      </p:sp>
    </p:spTree>
    <p:extLst>
      <p:ext uri="{BB962C8B-B14F-4D97-AF65-F5344CB8AC3E}">
        <p14:creationId xmlns:p14="http://schemas.microsoft.com/office/powerpoint/2010/main" val="33709578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CABC9-5ED6-7D05-C853-1B20179C624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DB7B66A-80FE-BD4E-502E-FE58B935CE1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D61B413-143C-01AC-191A-F3AC9AC6357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E9B1C2A-D0AB-0A37-29F5-2983A4BB5DD5}"/>
              </a:ext>
            </a:extLst>
          </p:cNvPr>
          <p:cNvSpPr>
            <a:spLocks noGrp="1"/>
          </p:cNvSpPr>
          <p:nvPr>
            <p:ph type="sldNum" sz="quarter" idx="5"/>
          </p:nvPr>
        </p:nvSpPr>
        <p:spPr/>
        <p:txBody>
          <a:bodyPr/>
          <a:lstStyle/>
          <a:p>
            <a:fld id="{79126A9D-1955-44AF-98D9-CF7F71443976}" type="slidenum">
              <a:rPr lang="fr-FR" smtClean="0"/>
              <a:t>6</a:t>
            </a:fld>
            <a:endParaRPr lang="fr-FR"/>
          </a:p>
        </p:txBody>
      </p:sp>
    </p:spTree>
    <p:extLst>
      <p:ext uri="{BB962C8B-B14F-4D97-AF65-F5344CB8AC3E}">
        <p14:creationId xmlns:p14="http://schemas.microsoft.com/office/powerpoint/2010/main" val="1493258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89992-767A-859E-5987-39356802F1B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5D77A49-2C51-DB3E-7E90-FF26E7B5198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30EDA64-7576-3FE4-2492-E0BAEF4C9C8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2478C1D-6035-5CC1-B7CC-94D094DDFDC5}"/>
              </a:ext>
            </a:extLst>
          </p:cNvPr>
          <p:cNvSpPr>
            <a:spLocks noGrp="1"/>
          </p:cNvSpPr>
          <p:nvPr>
            <p:ph type="sldNum" sz="quarter" idx="5"/>
          </p:nvPr>
        </p:nvSpPr>
        <p:spPr/>
        <p:txBody>
          <a:bodyPr/>
          <a:lstStyle/>
          <a:p>
            <a:fld id="{79126A9D-1955-44AF-98D9-CF7F71443976}" type="slidenum">
              <a:rPr lang="fr-FR" smtClean="0"/>
              <a:t>7</a:t>
            </a:fld>
            <a:endParaRPr lang="fr-FR"/>
          </a:p>
        </p:txBody>
      </p:sp>
    </p:spTree>
    <p:extLst>
      <p:ext uri="{BB962C8B-B14F-4D97-AF65-F5344CB8AC3E}">
        <p14:creationId xmlns:p14="http://schemas.microsoft.com/office/powerpoint/2010/main" val="12931400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6A3D5-D4E2-CA74-1B59-ED6A1772773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32D2C11-2FF2-DB9E-3CF7-03E119EB673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6D00860-8BB0-797D-1D1F-AB261B8D63D5}"/>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A16B6FC-4657-8C47-6D43-A2D159C9D5F2}"/>
              </a:ext>
            </a:extLst>
          </p:cNvPr>
          <p:cNvSpPr>
            <a:spLocks noGrp="1"/>
          </p:cNvSpPr>
          <p:nvPr>
            <p:ph type="sldNum" sz="quarter" idx="5"/>
          </p:nvPr>
        </p:nvSpPr>
        <p:spPr/>
        <p:txBody>
          <a:bodyPr/>
          <a:lstStyle/>
          <a:p>
            <a:fld id="{79126A9D-1955-44AF-98D9-CF7F71443976}" type="slidenum">
              <a:rPr lang="fr-FR" smtClean="0"/>
              <a:t>8</a:t>
            </a:fld>
            <a:endParaRPr lang="fr-FR"/>
          </a:p>
        </p:txBody>
      </p:sp>
    </p:spTree>
    <p:extLst>
      <p:ext uri="{BB962C8B-B14F-4D97-AF65-F5344CB8AC3E}">
        <p14:creationId xmlns:p14="http://schemas.microsoft.com/office/powerpoint/2010/main" val="13371706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10FB3-06C9-2901-2F40-1C698A20D01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EBED68B-427B-C1D6-0483-DB8027A7529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600720E-C649-11C3-0DE2-EDB93E639F0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EB60865-889E-7880-B1F8-45FFA4316DD6}"/>
              </a:ext>
            </a:extLst>
          </p:cNvPr>
          <p:cNvSpPr>
            <a:spLocks noGrp="1"/>
          </p:cNvSpPr>
          <p:nvPr>
            <p:ph type="sldNum" sz="quarter" idx="5"/>
          </p:nvPr>
        </p:nvSpPr>
        <p:spPr/>
        <p:txBody>
          <a:bodyPr/>
          <a:lstStyle/>
          <a:p>
            <a:fld id="{79126A9D-1955-44AF-98D9-CF7F71443976}" type="slidenum">
              <a:rPr lang="fr-FR" smtClean="0"/>
              <a:t>9</a:t>
            </a:fld>
            <a:endParaRPr lang="fr-FR"/>
          </a:p>
        </p:txBody>
      </p:sp>
    </p:spTree>
    <p:extLst>
      <p:ext uri="{BB962C8B-B14F-4D97-AF65-F5344CB8AC3E}">
        <p14:creationId xmlns:p14="http://schemas.microsoft.com/office/powerpoint/2010/main" val="35389068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1B3A4-9368-ED2E-CF0E-544B5C068E5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1E641C7-7803-044A-3E79-18EF4B774BD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CF57A99-DD80-9F65-5B12-D0340906DFB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D29807F-BECD-B627-982D-065FB557B1D9}"/>
              </a:ext>
            </a:extLst>
          </p:cNvPr>
          <p:cNvSpPr>
            <a:spLocks noGrp="1"/>
          </p:cNvSpPr>
          <p:nvPr>
            <p:ph type="sldNum" sz="quarter" idx="5"/>
          </p:nvPr>
        </p:nvSpPr>
        <p:spPr/>
        <p:txBody>
          <a:bodyPr/>
          <a:lstStyle/>
          <a:p>
            <a:fld id="{79126A9D-1955-44AF-98D9-CF7F71443976}" type="slidenum">
              <a:rPr lang="fr-FR" smtClean="0"/>
              <a:t>10</a:t>
            </a:fld>
            <a:endParaRPr lang="fr-FR"/>
          </a:p>
        </p:txBody>
      </p:sp>
    </p:spTree>
    <p:extLst>
      <p:ext uri="{BB962C8B-B14F-4D97-AF65-F5344CB8AC3E}">
        <p14:creationId xmlns:p14="http://schemas.microsoft.com/office/powerpoint/2010/main" val="12566492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FBFDD-0563-F6CC-EA8E-28EB447B0C3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0AE9BA2-63FD-3B4A-4CAF-6FB596499A1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EAC40D7-7E57-131B-C037-DE6DDC451C5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081FB60-E026-686C-B3EA-7F0E3C48A849}"/>
              </a:ext>
            </a:extLst>
          </p:cNvPr>
          <p:cNvSpPr>
            <a:spLocks noGrp="1"/>
          </p:cNvSpPr>
          <p:nvPr>
            <p:ph type="sldNum" sz="quarter" idx="5"/>
          </p:nvPr>
        </p:nvSpPr>
        <p:spPr/>
        <p:txBody>
          <a:bodyPr/>
          <a:lstStyle/>
          <a:p>
            <a:fld id="{79126A9D-1955-44AF-98D9-CF7F71443976}" type="slidenum">
              <a:rPr lang="fr-FR" smtClean="0"/>
              <a:t>11</a:t>
            </a:fld>
            <a:endParaRPr lang="fr-FR"/>
          </a:p>
        </p:txBody>
      </p:sp>
    </p:spTree>
    <p:extLst>
      <p:ext uri="{BB962C8B-B14F-4D97-AF65-F5344CB8AC3E}">
        <p14:creationId xmlns:p14="http://schemas.microsoft.com/office/powerpoint/2010/main" val="39817801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endParaRPr lang="fr-FR" dirty="0"/>
          </a:p>
        </p:txBody>
      </p:sp>
      <p:sp>
        <p:nvSpPr>
          <p:cNvPr id="4" name="Espace réservé du numéro de diapositive 3"/>
          <p:cNvSpPr>
            <a:spLocks noGrp="1"/>
          </p:cNvSpPr>
          <p:nvPr>
            <p:ph type="sldNum" sz="quarter" idx="5"/>
          </p:nvPr>
        </p:nvSpPr>
        <p:spPr/>
        <p:txBody>
          <a:bodyPr/>
          <a:lstStyle/>
          <a:p>
            <a:fld id="{79126A9D-1955-44AF-98D9-CF7F71443976}" type="slidenum">
              <a:rPr lang="fr-FR" smtClean="0"/>
              <a:t>12</a:t>
            </a:fld>
            <a:endParaRPr lang="fr-FR"/>
          </a:p>
        </p:txBody>
      </p:sp>
    </p:spTree>
    <p:extLst>
      <p:ext uri="{BB962C8B-B14F-4D97-AF65-F5344CB8AC3E}">
        <p14:creationId xmlns:p14="http://schemas.microsoft.com/office/powerpoint/2010/main" val="15803072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79126A9D-1955-44AF-98D9-CF7F71443976}" type="slidenum">
              <a:rPr lang="fr-FR" smtClean="0"/>
              <a:t>14</a:t>
            </a:fld>
            <a:endParaRPr lang="fr-FR"/>
          </a:p>
        </p:txBody>
      </p:sp>
    </p:spTree>
    <p:extLst>
      <p:ext uri="{BB962C8B-B14F-4D97-AF65-F5344CB8AC3E}">
        <p14:creationId xmlns:p14="http://schemas.microsoft.com/office/powerpoint/2010/main" val="21881620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B944E-1FE5-61F5-D0FD-2E5DC584012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E1FB1DA-7C26-EDD9-E599-6AF3D33CF40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609D018-1A9F-22BF-4087-E2AC4411296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EBDF903-60DC-5CD6-C840-FDFC7ED47ECA}"/>
              </a:ext>
            </a:extLst>
          </p:cNvPr>
          <p:cNvSpPr>
            <a:spLocks noGrp="1"/>
          </p:cNvSpPr>
          <p:nvPr>
            <p:ph type="sldNum" sz="quarter" idx="5"/>
          </p:nvPr>
        </p:nvSpPr>
        <p:spPr/>
        <p:txBody>
          <a:bodyPr/>
          <a:lstStyle/>
          <a:p>
            <a:fld id="{79126A9D-1955-44AF-98D9-CF7F71443976}" type="slidenum">
              <a:rPr lang="fr-FR" smtClean="0"/>
              <a:t>15</a:t>
            </a:fld>
            <a:endParaRPr lang="fr-FR"/>
          </a:p>
        </p:txBody>
      </p:sp>
    </p:spTree>
    <p:extLst>
      <p:ext uri="{BB962C8B-B14F-4D97-AF65-F5344CB8AC3E}">
        <p14:creationId xmlns:p14="http://schemas.microsoft.com/office/powerpoint/2010/main" val="20448250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F8B35-012C-9E72-56A1-D32E013F734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A00BCAE-6032-0590-C797-52EEC97CC6C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19C77A2-02B8-8AA5-EC72-98EDFD46CEC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7997814-F1CB-6660-43FF-C87F54FB41B8}"/>
              </a:ext>
            </a:extLst>
          </p:cNvPr>
          <p:cNvSpPr>
            <a:spLocks noGrp="1"/>
          </p:cNvSpPr>
          <p:nvPr>
            <p:ph type="sldNum" sz="quarter" idx="5"/>
          </p:nvPr>
        </p:nvSpPr>
        <p:spPr/>
        <p:txBody>
          <a:bodyPr/>
          <a:lstStyle/>
          <a:p>
            <a:fld id="{79126A9D-1955-44AF-98D9-CF7F71443976}" type="slidenum">
              <a:rPr lang="fr-FR" smtClean="0"/>
              <a:t>16</a:t>
            </a:fld>
            <a:endParaRPr lang="fr-FR"/>
          </a:p>
        </p:txBody>
      </p:sp>
    </p:spTree>
    <p:extLst>
      <p:ext uri="{BB962C8B-B14F-4D97-AF65-F5344CB8AC3E}">
        <p14:creationId xmlns:p14="http://schemas.microsoft.com/office/powerpoint/2010/main" val="32981083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A4ECF-438D-1A21-8FE5-EFF02F10EB3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DFEA9B8-93C9-3430-813B-5459C827F0A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AF62EFD-91CF-E8C4-BD51-4E23618DB73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95689C2-4685-824B-7C8A-493AE877296C}"/>
              </a:ext>
            </a:extLst>
          </p:cNvPr>
          <p:cNvSpPr>
            <a:spLocks noGrp="1"/>
          </p:cNvSpPr>
          <p:nvPr>
            <p:ph type="sldNum" sz="quarter" idx="5"/>
          </p:nvPr>
        </p:nvSpPr>
        <p:spPr/>
        <p:txBody>
          <a:bodyPr/>
          <a:lstStyle/>
          <a:p>
            <a:fld id="{79126A9D-1955-44AF-98D9-CF7F71443976}" type="slidenum">
              <a:rPr lang="fr-FR" smtClean="0"/>
              <a:t>17</a:t>
            </a:fld>
            <a:endParaRPr lang="fr-FR"/>
          </a:p>
        </p:txBody>
      </p:sp>
    </p:spTree>
    <p:extLst>
      <p:ext uri="{BB962C8B-B14F-4D97-AF65-F5344CB8AC3E}">
        <p14:creationId xmlns:p14="http://schemas.microsoft.com/office/powerpoint/2010/main" val="1931331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36055-9892-2006-4A63-34EF8268853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BB8A051-D7A2-42EE-5DFC-C25B9E81792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B74A304-A0B0-B555-E353-6C10E9191CF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A4EBC31-9AC4-1489-A667-5420183C4090}"/>
              </a:ext>
            </a:extLst>
          </p:cNvPr>
          <p:cNvSpPr>
            <a:spLocks noGrp="1"/>
          </p:cNvSpPr>
          <p:nvPr>
            <p:ph type="sldNum" sz="quarter" idx="5"/>
          </p:nvPr>
        </p:nvSpPr>
        <p:spPr/>
        <p:txBody>
          <a:bodyPr/>
          <a:lstStyle/>
          <a:p>
            <a:fld id="{79126A9D-1955-44AF-98D9-CF7F71443976}" type="slidenum">
              <a:rPr lang="fr-FR" smtClean="0"/>
              <a:t>18</a:t>
            </a:fld>
            <a:endParaRPr lang="fr-FR"/>
          </a:p>
        </p:txBody>
      </p:sp>
    </p:spTree>
    <p:extLst>
      <p:ext uri="{BB962C8B-B14F-4D97-AF65-F5344CB8AC3E}">
        <p14:creationId xmlns:p14="http://schemas.microsoft.com/office/powerpoint/2010/main" val="35504033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9B2AF-631E-0270-2FBF-BB6BD6374AC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79803CB-E154-52C1-9856-FC5A9FDCC3A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05BF537-682F-9DE3-A70A-E410D365412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C097B02-25B3-060F-101A-2F914CFC230B}"/>
              </a:ext>
            </a:extLst>
          </p:cNvPr>
          <p:cNvSpPr>
            <a:spLocks noGrp="1"/>
          </p:cNvSpPr>
          <p:nvPr>
            <p:ph type="sldNum" sz="quarter" idx="5"/>
          </p:nvPr>
        </p:nvSpPr>
        <p:spPr/>
        <p:txBody>
          <a:bodyPr/>
          <a:lstStyle/>
          <a:p>
            <a:fld id="{79126A9D-1955-44AF-98D9-CF7F71443976}" type="slidenum">
              <a:rPr lang="fr-FR" smtClean="0"/>
              <a:t>19</a:t>
            </a:fld>
            <a:endParaRPr lang="fr-FR"/>
          </a:p>
        </p:txBody>
      </p:sp>
    </p:spTree>
    <p:extLst>
      <p:ext uri="{BB962C8B-B14F-4D97-AF65-F5344CB8AC3E}">
        <p14:creationId xmlns:p14="http://schemas.microsoft.com/office/powerpoint/2010/main" val="36553096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8428B-8C38-84F0-9172-826F7E9BC2F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57456AD-7D9B-8E63-D002-8473B210019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4E128EC-6C45-E0EA-1A0B-697966EBBE2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5A53D97-A989-822A-0071-80B718B3B361}"/>
              </a:ext>
            </a:extLst>
          </p:cNvPr>
          <p:cNvSpPr>
            <a:spLocks noGrp="1"/>
          </p:cNvSpPr>
          <p:nvPr>
            <p:ph type="sldNum" sz="quarter" idx="5"/>
          </p:nvPr>
        </p:nvSpPr>
        <p:spPr/>
        <p:txBody>
          <a:bodyPr/>
          <a:lstStyle/>
          <a:p>
            <a:fld id="{79126A9D-1955-44AF-98D9-CF7F71443976}" type="slidenum">
              <a:rPr lang="fr-FR" smtClean="0"/>
              <a:t>21</a:t>
            </a:fld>
            <a:endParaRPr lang="fr-FR"/>
          </a:p>
        </p:txBody>
      </p:sp>
    </p:spTree>
    <p:extLst>
      <p:ext uri="{BB962C8B-B14F-4D97-AF65-F5344CB8AC3E}">
        <p14:creationId xmlns:p14="http://schemas.microsoft.com/office/powerpoint/2010/main" val="24575776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0EB0D-D55C-9B39-A51F-57252093EBA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5660109-8224-D13F-F8D0-52D839C908B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EEB2635-337F-D164-CC50-ED71D4DB5914}"/>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34D5AAD-FB7B-EFAE-0BBF-CC03DBCE1061}"/>
              </a:ext>
            </a:extLst>
          </p:cNvPr>
          <p:cNvSpPr>
            <a:spLocks noGrp="1"/>
          </p:cNvSpPr>
          <p:nvPr>
            <p:ph type="sldNum" sz="quarter" idx="5"/>
          </p:nvPr>
        </p:nvSpPr>
        <p:spPr/>
        <p:txBody>
          <a:bodyPr/>
          <a:lstStyle/>
          <a:p>
            <a:fld id="{79126A9D-1955-44AF-98D9-CF7F71443976}" type="slidenum">
              <a:rPr lang="fr-FR" smtClean="0"/>
              <a:t>22</a:t>
            </a:fld>
            <a:endParaRPr lang="fr-FR"/>
          </a:p>
        </p:txBody>
      </p:sp>
    </p:spTree>
    <p:extLst>
      <p:ext uri="{BB962C8B-B14F-4D97-AF65-F5344CB8AC3E}">
        <p14:creationId xmlns:p14="http://schemas.microsoft.com/office/powerpoint/2010/main" val="32416710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B63C1-D77B-7FF8-8C6C-4C1396A9F6B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8A5360F-6DDA-3838-625C-44602636B84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5EEBFB0-D47C-D6B0-B2A5-7BE9ABF6BDB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C82FD43-4B8C-74CA-CFFB-EFD6F4E1D187}"/>
              </a:ext>
            </a:extLst>
          </p:cNvPr>
          <p:cNvSpPr>
            <a:spLocks noGrp="1"/>
          </p:cNvSpPr>
          <p:nvPr>
            <p:ph type="sldNum" sz="quarter" idx="5"/>
          </p:nvPr>
        </p:nvSpPr>
        <p:spPr/>
        <p:txBody>
          <a:bodyPr/>
          <a:lstStyle/>
          <a:p>
            <a:fld id="{79126A9D-1955-44AF-98D9-CF7F71443976}" type="slidenum">
              <a:rPr lang="fr-FR" smtClean="0"/>
              <a:t>23</a:t>
            </a:fld>
            <a:endParaRPr lang="fr-FR"/>
          </a:p>
        </p:txBody>
      </p:sp>
    </p:spTree>
    <p:extLst>
      <p:ext uri="{BB962C8B-B14F-4D97-AF65-F5344CB8AC3E}">
        <p14:creationId xmlns:p14="http://schemas.microsoft.com/office/powerpoint/2010/main" val="41486368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7FECB-ACEA-54E8-7D36-80794A4003C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A71DC8D-6147-8B7D-9BF9-84768B17048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569C798-2E19-7E10-26D6-1634C42608F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71D7CCD-B9A4-24EE-03BB-8BF387480F16}"/>
              </a:ext>
            </a:extLst>
          </p:cNvPr>
          <p:cNvSpPr>
            <a:spLocks noGrp="1"/>
          </p:cNvSpPr>
          <p:nvPr>
            <p:ph type="sldNum" sz="quarter" idx="5"/>
          </p:nvPr>
        </p:nvSpPr>
        <p:spPr/>
        <p:txBody>
          <a:bodyPr/>
          <a:lstStyle/>
          <a:p>
            <a:fld id="{79126A9D-1955-44AF-98D9-CF7F71443976}" type="slidenum">
              <a:rPr lang="fr-FR" smtClean="0"/>
              <a:t>24</a:t>
            </a:fld>
            <a:endParaRPr lang="fr-FR"/>
          </a:p>
        </p:txBody>
      </p:sp>
    </p:spTree>
    <p:extLst>
      <p:ext uri="{BB962C8B-B14F-4D97-AF65-F5344CB8AC3E}">
        <p14:creationId xmlns:p14="http://schemas.microsoft.com/office/powerpoint/2010/main" val="23259278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DAB1F-91CB-00FE-4700-39E0A5ECBFB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6D77648-7F29-83E6-C2F7-2E0F9DB7714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67F828A-54F8-B1AF-7398-0439C67AF09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2EA9730-2E5E-A649-5D49-E5DDE4921C90}"/>
              </a:ext>
            </a:extLst>
          </p:cNvPr>
          <p:cNvSpPr>
            <a:spLocks noGrp="1"/>
          </p:cNvSpPr>
          <p:nvPr>
            <p:ph type="sldNum" sz="quarter" idx="5"/>
          </p:nvPr>
        </p:nvSpPr>
        <p:spPr/>
        <p:txBody>
          <a:bodyPr/>
          <a:lstStyle/>
          <a:p>
            <a:fld id="{79126A9D-1955-44AF-98D9-CF7F71443976}" type="slidenum">
              <a:rPr lang="fr-FR" smtClean="0"/>
              <a:t>25</a:t>
            </a:fld>
            <a:endParaRPr lang="fr-FR"/>
          </a:p>
        </p:txBody>
      </p:sp>
    </p:spTree>
    <p:extLst>
      <p:ext uri="{BB962C8B-B14F-4D97-AF65-F5344CB8AC3E}">
        <p14:creationId xmlns:p14="http://schemas.microsoft.com/office/powerpoint/2010/main" val="13876680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596BF-E129-128D-3287-F9F5AA4C0E9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2B9338F-AD9B-8F86-1EB8-C1002D6794D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A530AA5-C24D-328A-C7A5-BC349E023C4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5D058C3-C5B6-3805-7AB2-8FEC93F1074E}"/>
              </a:ext>
            </a:extLst>
          </p:cNvPr>
          <p:cNvSpPr>
            <a:spLocks noGrp="1"/>
          </p:cNvSpPr>
          <p:nvPr>
            <p:ph type="sldNum" sz="quarter" idx="5"/>
          </p:nvPr>
        </p:nvSpPr>
        <p:spPr/>
        <p:txBody>
          <a:bodyPr/>
          <a:lstStyle/>
          <a:p>
            <a:fld id="{79126A9D-1955-44AF-98D9-CF7F71443976}" type="slidenum">
              <a:rPr lang="fr-FR" smtClean="0"/>
              <a:t>26</a:t>
            </a:fld>
            <a:endParaRPr lang="fr-FR"/>
          </a:p>
        </p:txBody>
      </p:sp>
    </p:spTree>
    <p:extLst>
      <p:ext uri="{BB962C8B-B14F-4D97-AF65-F5344CB8AC3E}">
        <p14:creationId xmlns:p14="http://schemas.microsoft.com/office/powerpoint/2010/main" val="24146839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C99D1-72DC-9087-F719-840D2CACAF4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E8CF195-84F5-6ADA-A4BC-020E9A5CDA5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86F53B6-7AE2-7B2C-8B50-EA01B66D94A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79C1E12-FB45-9D23-6B36-1328AAEA1CD3}"/>
              </a:ext>
            </a:extLst>
          </p:cNvPr>
          <p:cNvSpPr>
            <a:spLocks noGrp="1"/>
          </p:cNvSpPr>
          <p:nvPr>
            <p:ph type="sldNum" sz="quarter" idx="5"/>
          </p:nvPr>
        </p:nvSpPr>
        <p:spPr/>
        <p:txBody>
          <a:bodyPr/>
          <a:lstStyle/>
          <a:p>
            <a:fld id="{79126A9D-1955-44AF-98D9-CF7F71443976}" type="slidenum">
              <a:rPr lang="fr-FR" smtClean="0"/>
              <a:t>27</a:t>
            </a:fld>
            <a:endParaRPr lang="fr-FR"/>
          </a:p>
        </p:txBody>
      </p:sp>
    </p:spTree>
    <p:extLst>
      <p:ext uri="{BB962C8B-B14F-4D97-AF65-F5344CB8AC3E}">
        <p14:creationId xmlns:p14="http://schemas.microsoft.com/office/powerpoint/2010/main" val="37391358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49C99-23F9-78E6-30A5-B014849BA2C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FFCC6EB-C1E6-203D-4043-47EC22EAA7F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A4E85B5-8962-AE8D-4422-A155DE2D7A84}"/>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CF8C3C8-DA8C-49F1-250D-8CF714A7BECC}"/>
              </a:ext>
            </a:extLst>
          </p:cNvPr>
          <p:cNvSpPr>
            <a:spLocks noGrp="1"/>
          </p:cNvSpPr>
          <p:nvPr>
            <p:ph type="sldNum" sz="quarter" idx="5"/>
          </p:nvPr>
        </p:nvSpPr>
        <p:spPr/>
        <p:txBody>
          <a:bodyPr/>
          <a:lstStyle/>
          <a:p>
            <a:fld id="{79126A9D-1955-44AF-98D9-CF7F71443976}" type="slidenum">
              <a:rPr lang="fr-FR" smtClean="0"/>
              <a:t>28</a:t>
            </a:fld>
            <a:endParaRPr lang="fr-FR"/>
          </a:p>
        </p:txBody>
      </p:sp>
    </p:spTree>
    <p:extLst>
      <p:ext uri="{BB962C8B-B14F-4D97-AF65-F5344CB8AC3E}">
        <p14:creationId xmlns:p14="http://schemas.microsoft.com/office/powerpoint/2010/main" val="37724853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8FAA7-0C7B-FDC5-C1C3-D32E64F97D2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0CC915E-6DCB-EC07-B119-AF12990C8D0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D58C4F1-D85F-0E69-512B-59681CBD67E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4F0DEE8-002F-960C-1FC1-6B93912581B6}"/>
              </a:ext>
            </a:extLst>
          </p:cNvPr>
          <p:cNvSpPr>
            <a:spLocks noGrp="1"/>
          </p:cNvSpPr>
          <p:nvPr>
            <p:ph type="sldNum" sz="quarter" idx="5"/>
          </p:nvPr>
        </p:nvSpPr>
        <p:spPr/>
        <p:txBody>
          <a:bodyPr/>
          <a:lstStyle/>
          <a:p>
            <a:fld id="{79126A9D-1955-44AF-98D9-CF7F71443976}" type="slidenum">
              <a:rPr lang="fr-FR" smtClean="0"/>
              <a:t>29</a:t>
            </a:fld>
            <a:endParaRPr lang="fr-FR"/>
          </a:p>
        </p:txBody>
      </p:sp>
    </p:spTree>
    <p:extLst>
      <p:ext uri="{BB962C8B-B14F-4D97-AF65-F5344CB8AC3E}">
        <p14:creationId xmlns:p14="http://schemas.microsoft.com/office/powerpoint/2010/main" val="29373259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B7494-AAD5-600D-4373-F6FE128FE3F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8E04E94-4BB1-0F43-7003-DB930FC1624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1178C91-5D10-7850-C830-7F23EC2D39F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7F40E95-EBB3-24B4-9167-4CC89C668514}"/>
              </a:ext>
            </a:extLst>
          </p:cNvPr>
          <p:cNvSpPr>
            <a:spLocks noGrp="1"/>
          </p:cNvSpPr>
          <p:nvPr>
            <p:ph type="sldNum" sz="quarter" idx="5"/>
          </p:nvPr>
        </p:nvSpPr>
        <p:spPr/>
        <p:txBody>
          <a:bodyPr/>
          <a:lstStyle/>
          <a:p>
            <a:fld id="{79126A9D-1955-44AF-98D9-CF7F71443976}" type="slidenum">
              <a:rPr lang="fr-FR" smtClean="0"/>
              <a:t>30</a:t>
            </a:fld>
            <a:endParaRPr lang="fr-FR"/>
          </a:p>
        </p:txBody>
      </p:sp>
    </p:spTree>
    <p:extLst>
      <p:ext uri="{BB962C8B-B14F-4D97-AF65-F5344CB8AC3E}">
        <p14:creationId xmlns:p14="http://schemas.microsoft.com/office/powerpoint/2010/main" val="29077964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5C1C7-2004-9B01-DA2B-A8742DFF4F0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05F0D99-FC92-A59A-D218-59FFBF30BE2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DF0A799-5087-7670-1163-1CC8AD047A6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E1769A1-76D8-CF06-4FC3-30734552FA63}"/>
              </a:ext>
            </a:extLst>
          </p:cNvPr>
          <p:cNvSpPr>
            <a:spLocks noGrp="1"/>
          </p:cNvSpPr>
          <p:nvPr>
            <p:ph type="sldNum" sz="quarter" idx="5"/>
          </p:nvPr>
        </p:nvSpPr>
        <p:spPr/>
        <p:txBody>
          <a:bodyPr/>
          <a:lstStyle/>
          <a:p>
            <a:fld id="{79126A9D-1955-44AF-98D9-CF7F71443976}" type="slidenum">
              <a:rPr lang="fr-FR" smtClean="0"/>
              <a:t>31</a:t>
            </a:fld>
            <a:endParaRPr lang="fr-FR"/>
          </a:p>
        </p:txBody>
      </p:sp>
    </p:spTree>
    <p:extLst>
      <p:ext uri="{BB962C8B-B14F-4D97-AF65-F5344CB8AC3E}">
        <p14:creationId xmlns:p14="http://schemas.microsoft.com/office/powerpoint/2010/main" val="1666809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7989D-828B-83A8-A945-2F36C1DA8E6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A3EEB18-762A-2492-AF7F-03810653536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C76CCD2-6A04-A986-7923-EFA23969DB1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5B24928-5C46-7A37-D1CC-54310B4B91A6}"/>
              </a:ext>
            </a:extLst>
          </p:cNvPr>
          <p:cNvSpPr>
            <a:spLocks noGrp="1"/>
          </p:cNvSpPr>
          <p:nvPr>
            <p:ph type="sldNum" sz="quarter" idx="5"/>
          </p:nvPr>
        </p:nvSpPr>
        <p:spPr/>
        <p:txBody>
          <a:bodyPr/>
          <a:lstStyle/>
          <a:p>
            <a:fld id="{79126A9D-1955-44AF-98D9-CF7F71443976}" type="slidenum">
              <a:rPr lang="fr-FR" smtClean="0"/>
              <a:t>32</a:t>
            </a:fld>
            <a:endParaRPr lang="fr-FR"/>
          </a:p>
        </p:txBody>
      </p:sp>
    </p:spTree>
    <p:extLst>
      <p:ext uri="{BB962C8B-B14F-4D97-AF65-F5344CB8AC3E}">
        <p14:creationId xmlns:p14="http://schemas.microsoft.com/office/powerpoint/2010/main" val="28027922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0F806-380F-8C6B-FB3B-8A9E5DD33DF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F9B159E-F69F-126D-F7EB-C9D829C1EED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F2BEF56-E632-5DA6-CFD6-8AAC37B35AE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6E0445C-129A-C73B-8B00-63ADCD4B1966}"/>
              </a:ext>
            </a:extLst>
          </p:cNvPr>
          <p:cNvSpPr>
            <a:spLocks noGrp="1"/>
          </p:cNvSpPr>
          <p:nvPr>
            <p:ph type="sldNum" sz="quarter" idx="5"/>
          </p:nvPr>
        </p:nvSpPr>
        <p:spPr/>
        <p:txBody>
          <a:bodyPr/>
          <a:lstStyle/>
          <a:p>
            <a:fld id="{79126A9D-1955-44AF-98D9-CF7F71443976}" type="slidenum">
              <a:rPr lang="fr-FR" smtClean="0"/>
              <a:t>33</a:t>
            </a:fld>
            <a:endParaRPr lang="fr-FR"/>
          </a:p>
        </p:txBody>
      </p:sp>
    </p:spTree>
    <p:extLst>
      <p:ext uri="{BB962C8B-B14F-4D97-AF65-F5344CB8AC3E}">
        <p14:creationId xmlns:p14="http://schemas.microsoft.com/office/powerpoint/2010/main" val="16730851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019A9-790F-298F-F345-67C3CBC05CE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7823011-51B7-CA4F-8EC9-2491EDE06D5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8371F38-6479-3EC1-EC9C-7F1A4D2F160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9A21167F-4E69-0A25-7075-EB2C583A170B}"/>
              </a:ext>
            </a:extLst>
          </p:cNvPr>
          <p:cNvSpPr>
            <a:spLocks noGrp="1"/>
          </p:cNvSpPr>
          <p:nvPr>
            <p:ph type="sldNum" sz="quarter" idx="5"/>
          </p:nvPr>
        </p:nvSpPr>
        <p:spPr/>
        <p:txBody>
          <a:bodyPr/>
          <a:lstStyle/>
          <a:p>
            <a:fld id="{79126A9D-1955-44AF-98D9-CF7F71443976}" type="slidenum">
              <a:rPr lang="fr-FR" smtClean="0"/>
              <a:t>34</a:t>
            </a:fld>
            <a:endParaRPr lang="fr-FR"/>
          </a:p>
        </p:txBody>
      </p:sp>
    </p:spTree>
    <p:extLst>
      <p:ext uri="{BB962C8B-B14F-4D97-AF65-F5344CB8AC3E}">
        <p14:creationId xmlns:p14="http://schemas.microsoft.com/office/powerpoint/2010/main" val="17735696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614A0-C35D-998C-217B-1890D270C70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99866FF-863F-909D-071A-B7FF05AA4FF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F3A35BE-671D-1B8F-C0C6-6A17D2A5F9B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C95E1EB-6998-C41E-0CA6-723A8BF612F6}"/>
              </a:ext>
            </a:extLst>
          </p:cNvPr>
          <p:cNvSpPr>
            <a:spLocks noGrp="1"/>
          </p:cNvSpPr>
          <p:nvPr>
            <p:ph type="sldNum" sz="quarter" idx="5"/>
          </p:nvPr>
        </p:nvSpPr>
        <p:spPr/>
        <p:txBody>
          <a:bodyPr/>
          <a:lstStyle/>
          <a:p>
            <a:fld id="{79126A9D-1955-44AF-98D9-CF7F71443976}" type="slidenum">
              <a:rPr lang="fr-FR" smtClean="0"/>
              <a:t>35</a:t>
            </a:fld>
            <a:endParaRPr lang="fr-FR"/>
          </a:p>
        </p:txBody>
      </p:sp>
    </p:spTree>
    <p:extLst>
      <p:ext uri="{BB962C8B-B14F-4D97-AF65-F5344CB8AC3E}">
        <p14:creationId xmlns:p14="http://schemas.microsoft.com/office/powerpoint/2010/main" val="27844431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3679E-89F9-F111-CD74-D64E32DE735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5DF1BFD-B099-2E98-72E7-23A925D4248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C38C282-1176-C6AD-7F9B-F2778D0815F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B1881E9-3515-C82B-F4CF-07151411D228}"/>
              </a:ext>
            </a:extLst>
          </p:cNvPr>
          <p:cNvSpPr>
            <a:spLocks noGrp="1"/>
          </p:cNvSpPr>
          <p:nvPr>
            <p:ph type="sldNum" sz="quarter" idx="5"/>
          </p:nvPr>
        </p:nvSpPr>
        <p:spPr/>
        <p:txBody>
          <a:bodyPr/>
          <a:lstStyle/>
          <a:p>
            <a:fld id="{79126A9D-1955-44AF-98D9-CF7F71443976}" type="slidenum">
              <a:rPr lang="fr-FR" smtClean="0"/>
              <a:t>36</a:t>
            </a:fld>
            <a:endParaRPr lang="fr-FR"/>
          </a:p>
        </p:txBody>
      </p:sp>
    </p:spTree>
    <p:extLst>
      <p:ext uri="{BB962C8B-B14F-4D97-AF65-F5344CB8AC3E}">
        <p14:creationId xmlns:p14="http://schemas.microsoft.com/office/powerpoint/2010/main" val="2875888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10317-3AF8-BAD2-3413-C1A5342C617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C9A460C-9A00-5ED2-E90B-6BDF834FF90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9BE21DA-D96D-D495-060A-50FDB589BE4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ECCDF0C-44C2-6878-9F1A-97E8526519FB}"/>
              </a:ext>
            </a:extLst>
          </p:cNvPr>
          <p:cNvSpPr>
            <a:spLocks noGrp="1"/>
          </p:cNvSpPr>
          <p:nvPr>
            <p:ph type="sldNum" sz="quarter" idx="5"/>
          </p:nvPr>
        </p:nvSpPr>
        <p:spPr/>
        <p:txBody>
          <a:bodyPr/>
          <a:lstStyle/>
          <a:p>
            <a:fld id="{79126A9D-1955-44AF-98D9-CF7F71443976}" type="slidenum">
              <a:rPr lang="fr-FR" smtClean="0"/>
              <a:t>37</a:t>
            </a:fld>
            <a:endParaRPr lang="fr-FR"/>
          </a:p>
        </p:txBody>
      </p:sp>
    </p:spTree>
    <p:extLst>
      <p:ext uri="{BB962C8B-B14F-4D97-AF65-F5344CB8AC3E}">
        <p14:creationId xmlns:p14="http://schemas.microsoft.com/office/powerpoint/2010/main" val="22965037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43EE7-8087-31D8-6B06-8A1FAD44093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E56354F-9BB7-0890-DF08-1DDFA4E2A47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06CEF77-4BB1-E3BF-7CF5-4BF9D7785DC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966BF71-D927-2395-5522-6677E85A79E9}"/>
              </a:ext>
            </a:extLst>
          </p:cNvPr>
          <p:cNvSpPr>
            <a:spLocks noGrp="1"/>
          </p:cNvSpPr>
          <p:nvPr>
            <p:ph type="sldNum" sz="quarter" idx="5"/>
          </p:nvPr>
        </p:nvSpPr>
        <p:spPr/>
        <p:txBody>
          <a:bodyPr/>
          <a:lstStyle/>
          <a:p>
            <a:fld id="{79126A9D-1955-44AF-98D9-CF7F71443976}" type="slidenum">
              <a:rPr lang="fr-FR" smtClean="0"/>
              <a:t>39</a:t>
            </a:fld>
            <a:endParaRPr lang="fr-FR"/>
          </a:p>
        </p:txBody>
      </p:sp>
    </p:spTree>
    <p:extLst>
      <p:ext uri="{BB962C8B-B14F-4D97-AF65-F5344CB8AC3E}">
        <p14:creationId xmlns:p14="http://schemas.microsoft.com/office/powerpoint/2010/main" val="11033285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459E9-4340-BFEC-4E83-4DE7E13A511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EF4AF87-F0DB-C64E-74B6-9A0D7792AC7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862E789-FFC5-F9FC-8F1C-74141FAEC92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D37F78C-EC5B-ADC3-66C5-2D3987689FB6}"/>
              </a:ext>
            </a:extLst>
          </p:cNvPr>
          <p:cNvSpPr>
            <a:spLocks noGrp="1"/>
          </p:cNvSpPr>
          <p:nvPr>
            <p:ph type="sldNum" sz="quarter" idx="5"/>
          </p:nvPr>
        </p:nvSpPr>
        <p:spPr/>
        <p:txBody>
          <a:bodyPr/>
          <a:lstStyle/>
          <a:p>
            <a:fld id="{79126A9D-1955-44AF-98D9-CF7F71443976}" type="slidenum">
              <a:rPr lang="fr-FR" smtClean="0"/>
              <a:t>40</a:t>
            </a:fld>
            <a:endParaRPr lang="fr-FR"/>
          </a:p>
        </p:txBody>
      </p:sp>
    </p:spTree>
    <p:extLst>
      <p:ext uri="{BB962C8B-B14F-4D97-AF65-F5344CB8AC3E}">
        <p14:creationId xmlns:p14="http://schemas.microsoft.com/office/powerpoint/2010/main" val="7011835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DE946-D4B6-FE57-FE25-FEA66BAEB81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93B8E1E-1A64-8F28-A387-1E44D63CC8F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3B4F8B9-4B8A-7A33-69BF-3E5A40CDD62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79592D0-C81F-8BBD-5B22-87154A79D2C8}"/>
              </a:ext>
            </a:extLst>
          </p:cNvPr>
          <p:cNvSpPr>
            <a:spLocks noGrp="1"/>
          </p:cNvSpPr>
          <p:nvPr>
            <p:ph type="sldNum" sz="quarter" idx="5"/>
          </p:nvPr>
        </p:nvSpPr>
        <p:spPr/>
        <p:txBody>
          <a:bodyPr/>
          <a:lstStyle/>
          <a:p>
            <a:fld id="{79126A9D-1955-44AF-98D9-CF7F71443976}" type="slidenum">
              <a:rPr lang="fr-FR" smtClean="0"/>
              <a:t>41</a:t>
            </a:fld>
            <a:endParaRPr lang="fr-FR"/>
          </a:p>
        </p:txBody>
      </p:sp>
    </p:spTree>
    <p:extLst>
      <p:ext uri="{BB962C8B-B14F-4D97-AF65-F5344CB8AC3E}">
        <p14:creationId xmlns:p14="http://schemas.microsoft.com/office/powerpoint/2010/main" val="19614168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482F8-08E6-AA7E-7C2E-CB10C388030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4B07746-9AB7-5608-6E0E-8DE6490E77C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4BDE0BE-6AAC-38B4-E2E7-61A89731542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9D52102-FF25-7287-59C0-9B114E875312}"/>
              </a:ext>
            </a:extLst>
          </p:cNvPr>
          <p:cNvSpPr>
            <a:spLocks noGrp="1"/>
          </p:cNvSpPr>
          <p:nvPr>
            <p:ph type="sldNum" sz="quarter" idx="5"/>
          </p:nvPr>
        </p:nvSpPr>
        <p:spPr/>
        <p:txBody>
          <a:bodyPr/>
          <a:lstStyle/>
          <a:p>
            <a:fld id="{79126A9D-1955-44AF-98D9-CF7F71443976}" type="slidenum">
              <a:rPr lang="fr-FR" smtClean="0"/>
              <a:t>42</a:t>
            </a:fld>
            <a:endParaRPr lang="fr-FR"/>
          </a:p>
        </p:txBody>
      </p:sp>
    </p:spTree>
    <p:extLst>
      <p:ext uri="{BB962C8B-B14F-4D97-AF65-F5344CB8AC3E}">
        <p14:creationId xmlns:p14="http://schemas.microsoft.com/office/powerpoint/2010/main" val="402633766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27234-C18F-4D38-F4EE-267BA73AE83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A87C548-12C9-7581-906E-E6C0087BB45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3A25FD1-7EEE-9251-4B56-F988999E70F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602596D-545B-5080-3E99-88CCAD95375F}"/>
              </a:ext>
            </a:extLst>
          </p:cNvPr>
          <p:cNvSpPr>
            <a:spLocks noGrp="1"/>
          </p:cNvSpPr>
          <p:nvPr>
            <p:ph type="sldNum" sz="quarter" idx="5"/>
          </p:nvPr>
        </p:nvSpPr>
        <p:spPr/>
        <p:txBody>
          <a:bodyPr/>
          <a:lstStyle/>
          <a:p>
            <a:fld id="{79126A9D-1955-44AF-98D9-CF7F71443976}" type="slidenum">
              <a:rPr lang="fr-FR" smtClean="0"/>
              <a:t>43</a:t>
            </a:fld>
            <a:endParaRPr lang="fr-FR"/>
          </a:p>
        </p:txBody>
      </p:sp>
    </p:spTree>
    <p:extLst>
      <p:ext uri="{BB962C8B-B14F-4D97-AF65-F5344CB8AC3E}">
        <p14:creationId xmlns:p14="http://schemas.microsoft.com/office/powerpoint/2010/main" val="239101373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505C4-59E8-7B19-5A70-85C0AC571C1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9978CF4-F653-10B8-F173-A826C656FB5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744B5F3-20C7-50B0-84BF-1F174FE3627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A0F997B-B502-96D2-65FA-EDFC4BF59331}"/>
              </a:ext>
            </a:extLst>
          </p:cNvPr>
          <p:cNvSpPr>
            <a:spLocks noGrp="1"/>
          </p:cNvSpPr>
          <p:nvPr>
            <p:ph type="sldNum" sz="quarter" idx="5"/>
          </p:nvPr>
        </p:nvSpPr>
        <p:spPr/>
        <p:txBody>
          <a:bodyPr/>
          <a:lstStyle/>
          <a:p>
            <a:fld id="{79126A9D-1955-44AF-98D9-CF7F71443976}" type="slidenum">
              <a:rPr lang="fr-FR" smtClean="0"/>
              <a:t>44</a:t>
            </a:fld>
            <a:endParaRPr lang="fr-FR"/>
          </a:p>
        </p:txBody>
      </p:sp>
    </p:spTree>
    <p:extLst>
      <p:ext uri="{BB962C8B-B14F-4D97-AF65-F5344CB8AC3E}">
        <p14:creationId xmlns:p14="http://schemas.microsoft.com/office/powerpoint/2010/main" val="27489601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BE36B-7E66-ADD4-AF64-F3A4799CE45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3D14837-856D-6125-7750-831A6F95112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64D9C71-B508-80E4-154A-027462C91A7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7AD0361-2D96-382D-C0B3-3951E61E8492}"/>
              </a:ext>
            </a:extLst>
          </p:cNvPr>
          <p:cNvSpPr>
            <a:spLocks noGrp="1"/>
          </p:cNvSpPr>
          <p:nvPr>
            <p:ph type="sldNum" sz="quarter" idx="5"/>
          </p:nvPr>
        </p:nvSpPr>
        <p:spPr/>
        <p:txBody>
          <a:bodyPr/>
          <a:lstStyle/>
          <a:p>
            <a:fld id="{79126A9D-1955-44AF-98D9-CF7F71443976}" type="slidenum">
              <a:rPr lang="fr-FR" smtClean="0"/>
              <a:t>45</a:t>
            </a:fld>
            <a:endParaRPr lang="fr-FR"/>
          </a:p>
        </p:txBody>
      </p:sp>
    </p:spTree>
    <p:extLst>
      <p:ext uri="{BB962C8B-B14F-4D97-AF65-F5344CB8AC3E}">
        <p14:creationId xmlns:p14="http://schemas.microsoft.com/office/powerpoint/2010/main" val="191180662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7F8A6-3813-8605-14A3-415B98D5AFC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C5771DD-B0E8-A37F-A456-376A8B146BC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30DAE51-3CDD-B65F-E104-9A62E8C0F1A2}"/>
              </a:ext>
            </a:extLst>
          </p:cNvPr>
          <p:cNvSpPr>
            <a:spLocks noGrp="1"/>
          </p:cNvSpPr>
          <p:nvPr>
            <p:ph type="body" idx="1"/>
          </p:nvPr>
        </p:nvSpPr>
        <p:spPr/>
        <p:txBody>
          <a:bodyPr/>
          <a:lstStyle/>
          <a:p>
            <a:r>
              <a:rPr lang="fr-FR" b="1" dirty="0"/>
              <a:t>Comment valider les données d’un certificat avant de le signer ?</a:t>
            </a:r>
          </a:p>
          <a:p>
            <a:r>
              <a:rPr lang="fr-FR" dirty="0"/>
              <a:t>	Avant que la </a:t>
            </a:r>
            <a:r>
              <a:rPr lang="fr-FR" b="1" dirty="0"/>
              <a:t>CA (Certification </a:t>
            </a:r>
            <a:r>
              <a:rPr lang="fr-FR" b="1" dirty="0" err="1"/>
              <a:t>Authority</a:t>
            </a:r>
            <a:r>
              <a:rPr lang="fr-FR" b="1" dirty="0"/>
              <a:t>)</a:t>
            </a:r>
            <a:r>
              <a:rPr lang="fr-FR" dirty="0"/>
              <a:t> ne signe un certificat, les informations qu’il contient doivent être </a:t>
            </a:r>
            <a:r>
              <a:rPr lang="fr-FR" b="1" dirty="0"/>
              <a:t>rigoureusement vérifiées</a:t>
            </a:r>
          </a:p>
          <a:p>
            <a:r>
              <a:rPr lang="fr-FR" b="1" dirty="0"/>
              <a:t>	</a:t>
            </a:r>
            <a:r>
              <a:rPr lang="fr-FR" dirty="0"/>
              <a:t>Cette vérification est assurée par la </a:t>
            </a:r>
            <a:r>
              <a:rPr lang="fr-FR" b="1" dirty="0"/>
              <a:t>RA (Registration </a:t>
            </a:r>
            <a:r>
              <a:rPr lang="fr-FR" b="1" dirty="0" err="1"/>
              <a:t>Authority</a:t>
            </a:r>
            <a:r>
              <a:rPr lang="fr-FR" b="1" dirty="0"/>
              <a:t>)</a:t>
            </a:r>
            <a:r>
              <a:rPr lang="fr-FR" dirty="0"/>
              <a:t> selon les étapes suivantes :</a:t>
            </a:r>
          </a:p>
          <a:p>
            <a:endParaRPr lang="fr-FR" b="1" dirty="0"/>
          </a:p>
          <a:p>
            <a:r>
              <a:rPr lang="fr-FR" b="1" dirty="0"/>
              <a:t>1. Vérification de l'identité</a:t>
            </a:r>
          </a:p>
          <a:p>
            <a:pPr lvl="1"/>
            <a:r>
              <a:rPr lang="fr-FR" dirty="0"/>
              <a:t>Pièce d’identité pour une personne physique</a:t>
            </a:r>
          </a:p>
          <a:p>
            <a:pPr lvl="1"/>
            <a:r>
              <a:rPr lang="fr-FR" dirty="0"/>
              <a:t>Justificatif légal ou administratif pour une entreprise ou organisation</a:t>
            </a:r>
          </a:p>
          <a:p>
            <a:pPr lvl="1"/>
            <a:r>
              <a:rPr lang="fr-FR" dirty="0"/>
              <a:t>Preuve de contrôle du domaine (DNS, email, WHOIS) pour les certificats SSL</a:t>
            </a:r>
          </a:p>
          <a:p>
            <a:endParaRPr lang="fr-FR" b="1" dirty="0"/>
          </a:p>
          <a:p>
            <a:r>
              <a:rPr lang="fr-FR" b="1" dirty="0"/>
              <a:t>2. Contrôle de la demande</a:t>
            </a:r>
          </a:p>
          <a:p>
            <a:r>
              <a:rPr lang="fr-FR" dirty="0"/>
              <a:t>	Validation de la </a:t>
            </a:r>
            <a:r>
              <a:rPr lang="fr-FR" b="1" dirty="0"/>
              <a:t>demande de certificat (CSR)</a:t>
            </a:r>
            <a:r>
              <a:rPr lang="fr-FR" dirty="0"/>
              <a:t> : contient la clé publique, le sujet, etc.</a:t>
            </a:r>
          </a:p>
          <a:p>
            <a:r>
              <a:rPr lang="fr-FR" dirty="0"/>
              <a:t>	Vérification que la clé publique </a:t>
            </a:r>
            <a:r>
              <a:rPr lang="fr-FR" b="1" dirty="0"/>
              <a:t>appartient bien</a:t>
            </a:r>
            <a:r>
              <a:rPr lang="fr-FR" dirty="0"/>
              <a:t> au demandeur</a:t>
            </a:r>
          </a:p>
          <a:p>
            <a:endParaRPr lang="fr-FR" b="1" dirty="0"/>
          </a:p>
          <a:p>
            <a:r>
              <a:rPr lang="fr-FR" b="1" dirty="0"/>
              <a:t>3. Conformité des informations</a:t>
            </a:r>
          </a:p>
          <a:p>
            <a:pPr lvl="1"/>
            <a:r>
              <a:rPr lang="fr-FR" dirty="0"/>
              <a:t>Format du nom commun (CN), durée, usages (ex : TLS, signature de code)</a:t>
            </a:r>
          </a:p>
          <a:p>
            <a:pPr lvl="1"/>
            <a:r>
              <a:rPr lang="fr-FR" dirty="0"/>
              <a:t>Conformité aux politiques de certification (CP/CPS)</a:t>
            </a:r>
          </a:p>
          <a:p>
            <a:endParaRPr lang="fr-FR" b="1" dirty="0"/>
          </a:p>
          <a:p>
            <a:r>
              <a:rPr lang="fr-FR" b="1" dirty="0"/>
              <a:t>4. Enregistrement et approbation</a:t>
            </a:r>
          </a:p>
          <a:p>
            <a:r>
              <a:rPr lang="fr-FR" dirty="0"/>
              <a:t>	Une fois les données validées, la RA </a:t>
            </a:r>
            <a:r>
              <a:rPr lang="fr-FR" b="1" dirty="0"/>
              <a:t>autorise l’émission</a:t>
            </a:r>
            <a:r>
              <a:rPr lang="fr-FR" dirty="0"/>
              <a:t> du certificat par la CA</a:t>
            </a:r>
          </a:p>
          <a:p>
            <a:endParaRPr lang="fr-FR" dirty="0"/>
          </a:p>
          <a:p>
            <a:r>
              <a:rPr lang="fr-FR" dirty="0"/>
              <a:t>Cette étape permet de s'assurer que </a:t>
            </a:r>
            <a:r>
              <a:rPr lang="fr-FR" b="1" dirty="0"/>
              <a:t>la signature de la CA est légitime</a:t>
            </a:r>
            <a:r>
              <a:rPr lang="fr-FR" dirty="0"/>
              <a:t>, et que la confiance peut être transmise à ceux qui utiliseront le certificat.</a:t>
            </a:r>
          </a:p>
          <a:p>
            <a:endParaRPr lang="fr-FR" dirty="0"/>
          </a:p>
        </p:txBody>
      </p:sp>
      <p:sp>
        <p:nvSpPr>
          <p:cNvPr id="4" name="Espace réservé du numéro de diapositive 3">
            <a:extLst>
              <a:ext uri="{FF2B5EF4-FFF2-40B4-BE49-F238E27FC236}">
                <a16:creationId xmlns:a16="http://schemas.microsoft.com/office/drawing/2014/main" id="{8B78E941-6DED-BB98-82D6-45445F48670A}"/>
              </a:ext>
            </a:extLst>
          </p:cNvPr>
          <p:cNvSpPr>
            <a:spLocks noGrp="1"/>
          </p:cNvSpPr>
          <p:nvPr>
            <p:ph type="sldNum" sz="quarter" idx="5"/>
          </p:nvPr>
        </p:nvSpPr>
        <p:spPr/>
        <p:txBody>
          <a:bodyPr/>
          <a:lstStyle/>
          <a:p>
            <a:fld id="{79126A9D-1955-44AF-98D9-CF7F71443976}" type="slidenum">
              <a:rPr lang="fr-FR" smtClean="0"/>
              <a:t>46</a:t>
            </a:fld>
            <a:endParaRPr lang="fr-FR"/>
          </a:p>
        </p:txBody>
      </p:sp>
    </p:spTree>
    <p:extLst>
      <p:ext uri="{BB962C8B-B14F-4D97-AF65-F5344CB8AC3E}">
        <p14:creationId xmlns:p14="http://schemas.microsoft.com/office/powerpoint/2010/main" val="24543440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D4506-36D6-1D5F-FA8C-F07C481A438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AB6944B-AF3F-EA3B-1807-8A1365EE9A2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9D9FA42-0585-A65E-DCF4-D76EEB19CB9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ED188BC-5617-815D-AA00-227AF2DF1F2A}"/>
              </a:ext>
            </a:extLst>
          </p:cNvPr>
          <p:cNvSpPr>
            <a:spLocks noGrp="1"/>
          </p:cNvSpPr>
          <p:nvPr>
            <p:ph type="sldNum" sz="quarter" idx="5"/>
          </p:nvPr>
        </p:nvSpPr>
        <p:spPr/>
        <p:txBody>
          <a:bodyPr/>
          <a:lstStyle/>
          <a:p>
            <a:fld id="{79126A9D-1955-44AF-98D9-CF7F71443976}" type="slidenum">
              <a:rPr lang="fr-FR" smtClean="0"/>
              <a:t>47</a:t>
            </a:fld>
            <a:endParaRPr lang="fr-FR"/>
          </a:p>
        </p:txBody>
      </p:sp>
    </p:spTree>
    <p:extLst>
      <p:ext uri="{BB962C8B-B14F-4D97-AF65-F5344CB8AC3E}">
        <p14:creationId xmlns:p14="http://schemas.microsoft.com/office/powerpoint/2010/main" val="221298918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01730-D03F-9856-293D-BB46AAE37F7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4599F5A-E41C-1DB3-73F7-F612D55A7F5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CC1DDC3-4B87-5D26-1DF3-EAAC8B76C0B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1F56A91-F294-CD3D-4F4C-93440D432E43}"/>
              </a:ext>
            </a:extLst>
          </p:cNvPr>
          <p:cNvSpPr>
            <a:spLocks noGrp="1"/>
          </p:cNvSpPr>
          <p:nvPr>
            <p:ph type="sldNum" sz="quarter" idx="5"/>
          </p:nvPr>
        </p:nvSpPr>
        <p:spPr/>
        <p:txBody>
          <a:bodyPr/>
          <a:lstStyle/>
          <a:p>
            <a:fld id="{79126A9D-1955-44AF-98D9-CF7F71443976}" type="slidenum">
              <a:rPr lang="fr-FR" smtClean="0"/>
              <a:t>48</a:t>
            </a:fld>
            <a:endParaRPr lang="fr-FR"/>
          </a:p>
        </p:txBody>
      </p:sp>
    </p:spTree>
    <p:extLst>
      <p:ext uri="{BB962C8B-B14F-4D97-AF65-F5344CB8AC3E}">
        <p14:creationId xmlns:p14="http://schemas.microsoft.com/office/powerpoint/2010/main" val="74930305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1EF93-B5AD-B60D-DB8D-264A7A361D8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8C8AD9D-FB2E-69C5-6217-AFFD25A32F9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6D3E3C3-DFC9-81EE-22B5-857B704A8E0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F8B993E-3665-0050-8EFF-DA99E8437230}"/>
              </a:ext>
            </a:extLst>
          </p:cNvPr>
          <p:cNvSpPr>
            <a:spLocks noGrp="1"/>
          </p:cNvSpPr>
          <p:nvPr>
            <p:ph type="sldNum" sz="quarter" idx="5"/>
          </p:nvPr>
        </p:nvSpPr>
        <p:spPr/>
        <p:txBody>
          <a:bodyPr/>
          <a:lstStyle/>
          <a:p>
            <a:fld id="{79126A9D-1955-44AF-98D9-CF7F71443976}" type="slidenum">
              <a:rPr lang="fr-FR" smtClean="0"/>
              <a:t>49</a:t>
            </a:fld>
            <a:endParaRPr lang="fr-FR"/>
          </a:p>
        </p:txBody>
      </p:sp>
    </p:spTree>
    <p:extLst>
      <p:ext uri="{BB962C8B-B14F-4D97-AF65-F5344CB8AC3E}">
        <p14:creationId xmlns:p14="http://schemas.microsoft.com/office/powerpoint/2010/main" val="238841334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54513-E263-762D-8A9C-4A74119E33F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43742B8-5FBE-C334-62D7-3616AFBED9E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FFFFF2C-9601-5A80-2614-978ECBFA41D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2BEBE1E-052E-DD6B-F3EE-9768A43BFE1F}"/>
              </a:ext>
            </a:extLst>
          </p:cNvPr>
          <p:cNvSpPr>
            <a:spLocks noGrp="1"/>
          </p:cNvSpPr>
          <p:nvPr>
            <p:ph type="sldNum" sz="quarter" idx="5"/>
          </p:nvPr>
        </p:nvSpPr>
        <p:spPr/>
        <p:txBody>
          <a:bodyPr/>
          <a:lstStyle/>
          <a:p>
            <a:fld id="{79126A9D-1955-44AF-98D9-CF7F71443976}" type="slidenum">
              <a:rPr lang="fr-FR" smtClean="0"/>
              <a:t>50</a:t>
            </a:fld>
            <a:endParaRPr lang="fr-FR"/>
          </a:p>
        </p:txBody>
      </p:sp>
    </p:spTree>
    <p:extLst>
      <p:ext uri="{BB962C8B-B14F-4D97-AF65-F5344CB8AC3E}">
        <p14:creationId xmlns:p14="http://schemas.microsoft.com/office/powerpoint/2010/main" val="82501151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D6A33-E5BD-B31A-C646-999CDFCAB1E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37D605A-5397-D257-86D3-7BC060EC165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A0FA029-AF53-6BA9-24A2-2DFE1221F65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458D39C-439E-1055-2FA7-F8B13170FDA9}"/>
              </a:ext>
            </a:extLst>
          </p:cNvPr>
          <p:cNvSpPr>
            <a:spLocks noGrp="1"/>
          </p:cNvSpPr>
          <p:nvPr>
            <p:ph type="sldNum" sz="quarter" idx="5"/>
          </p:nvPr>
        </p:nvSpPr>
        <p:spPr/>
        <p:txBody>
          <a:bodyPr/>
          <a:lstStyle/>
          <a:p>
            <a:fld id="{79126A9D-1955-44AF-98D9-CF7F71443976}" type="slidenum">
              <a:rPr lang="fr-FR" smtClean="0"/>
              <a:t>51</a:t>
            </a:fld>
            <a:endParaRPr lang="fr-FR"/>
          </a:p>
        </p:txBody>
      </p:sp>
    </p:spTree>
    <p:extLst>
      <p:ext uri="{BB962C8B-B14F-4D97-AF65-F5344CB8AC3E}">
        <p14:creationId xmlns:p14="http://schemas.microsoft.com/office/powerpoint/2010/main" val="230016523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B5848-DF21-2666-EF2C-70BB9A79676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8B7EF21-F6E3-C872-3781-42051785E22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5ABC951-0FC4-C942-C7AE-C4CD2A05802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F9F53D6-E5A7-51FA-211D-C4740930E9F0}"/>
              </a:ext>
            </a:extLst>
          </p:cNvPr>
          <p:cNvSpPr>
            <a:spLocks noGrp="1"/>
          </p:cNvSpPr>
          <p:nvPr>
            <p:ph type="sldNum" sz="quarter" idx="5"/>
          </p:nvPr>
        </p:nvSpPr>
        <p:spPr/>
        <p:txBody>
          <a:bodyPr/>
          <a:lstStyle/>
          <a:p>
            <a:fld id="{79126A9D-1955-44AF-98D9-CF7F71443976}" type="slidenum">
              <a:rPr lang="fr-FR" smtClean="0"/>
              <a:t>52</a:t>
            </a:fld>
            <a:endParaRPr lang="fr-FR"/>
          </a:p>
        </p:txBody>
      </p:sp>
    </p:spTree>
    <p:extLst>
      <p:ext uri="{BB962C8B-B14F-4D97-AF65-F5344CB8AC3E}">
        <p14:creationId xmlns:p14="http://schemas.microsoft.com/office/powerpoint/2010/main" val="351486531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5803C-913C-0078-E1BB-19F78A9ACB9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337BE29-DA86-9C81-F2F7-E21DD531471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F28C73C-3F16-1D2B-E69A-94C776897FF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DED7FCE-E9C3-6C23-6325-0EBEB2282143}"/>
              </a:ext>
            </a:extLst>
          </p:cNvPr>
          <p:cNvSpPr>
            <a:spLocks noGrp="1"/>
          </p:cNvSpPr>
          <p:nvPr>
            <p:ph type="sldNum" sz="quarter" idx="5"/>
          </p:nvPr>
        </p:nvSpPr>
        <p:spPr/>
        <p:txBody>
          <a:bodyPr/>
          <a:lstStyle/>
          <a:p>
            <a:fld id="{79126A9D-1955-44AF-98D9-CF7F71443976}" type="slidenum">
              <a:rPr lang="fr-FR" smtClean="0"/>
              <a:t>53</a:t>
            </a:fld>
            <a:endParaRPr lang="fr-FR"/>
          </a:p>
        </p:txBody>
      </p:sp>
    </p:spTree>
    <p:extLst>
      <p:ext uri="{BB962C8B-B14F-4D97-AF65-F5344CB8AC3E}">
        <p14:creationId xmlns:p14="http://schemas.microsoft.com/office/powerpoint/2010/main" val="234302687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9BB05-F75A-6DC8-6E97-A3F5F25D72C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B59265A-C48D-8786-C3DA-39B9D879C71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4F4462D-E291-AE5E-9786-BCDDCE26264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9B7E75D-B2FC-F922-4309-8E34B83C3CC8}"/>
              </a:ext>
            </a:extLst>
          </p:cNvPr>
          <p:cNvSpPr>
            <a:spLocks noGrp="1"/>
          </p:cNvSpPr>
          <p:nvPr>
            <p:ph type="sldNum" sz="quarter" idx="5"/>
          </p:nvPr>
        </p:nvSpPr>
        <p:spPr/>
        <p:txBody>
          <a:bodyPr/>
          <a:lstStyle/>
          <a:p>
            <a:fld id="{79126A9D-1955-44AF-98D9-CF7F71443976}" type="slidenum">
              <a:rPr lang="fr-FR" smtClean="0"/>
              <a:t>54</a:t>
            </a:fld>
            <a:endParaRPr lang="fr-FR"/>
          </a:p>
        </p:txBody>
      </p:sp>
    </p:spTree>
    <p:extLst>
      <p:ext uri="{BB962C8B-B14F-4D97-AF65-F5344CB8AC3E}">
        <p14:creationId xmlns:p14="http://schemas.microsoft.com/office/powerpoint/2010/main" val="102811572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4AEF6-2D69-F3A9-9B11-0C5872DD4B2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66E5D9A-7E03-B236-C226-D30D360CC82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C6EA50D-F15F-5CEC-132E-1FD0CFF6C712}"/>
              </a:ext>
            </a:extLst>
          </p:cNvPr>
          <p:cNvSpPr>
            <a:spLocks noGrp="1"/>
          </p:cNvSpPr>
          <p:nvPr>
            <p:ph type="body" idx="1"/>
          </p:nvPr>
        </p:nvSpPr>
        <p:spPr/>
        <p:txBody>
          <a:bodyPr/>
          <a:lstStyle/>
          <a:p>
            <a:r>
              <a:rPr lang="fr-FR" dirty="0"/>
              <a:t>https://revoked.badssl.com/</a:t>
            </a:r>
          </a:p>
          <a:p>
            <a:endParaRPr lang="fr-FR" dirty="0"/>
          </a:p>
          <a:p>
            <a:r>
              <a:rPr lang="fr-FR" dirty="0"/>
              <a:t>https://www.keyfactor.com/fr/blog/what-is-a-certificate-revocation-list-crl-vs-ocsp/</a:t>
            </a:r>
          </a:p>
        </p:txBody>
      </p:sp>
      <p:sp>
        <p:nvSpPr>
          <p:cNvPr id="4" name="Espace réservé du numéro de diapositive 3">
            <a:extLst>
              <a:ext uri="{FF2B5EF4-FFF2-40B4-BE49-F238E27FC236}">
                <a16:creationId xmlns:a16="http://schemas.microsoft.com/office/drawing/2014/main" id="{D90C7B42-B895-0BAC-C591-5E3BE2AD3C87}"/>
              </a:ext>
            </a:extLst>
          </p:cNvPr>
          <p:cNvSpPr>
            <a:spLocks noGrp="1"/>
          </p:cNvSpPr>
          <p:nvPr>
            <p:ph type="sldNum" sz="quarter" idx="5"/>
          </p:nvPr>
        </p:nvSpPr>
        <p:spPr/>
        <p:txBody>
          <a:bodyPr/>
          <a:lstStyle/>
          <a:p>
            <a:fld id="{79126A9D-1955-44AF-98D9-CF7F71443976}" type="slidenum">
              <a:rPr lang="fr-FR" smtClean="0"/>
              <a:t>55</a:t>
            </a:fld>
            <a:endParaRPr lang="fr-FR"/>
          </a:p>
        </p:txBody>
      </p:sp>
    </p:spTree>
    <p:extLst>
      <p:ext uri="{BB962C8B-B14F-4D97-AF65-F5344CB8AC3E}">
        <p14:creationId xmlns:p14="http://schemas.microsoft.com/office/powerpoint/2010/main" val="179097131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AB245-3C17-51A3-D460-9333465856E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F476D9E-34F3-AB81-81C0-43EBF29028A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A0A3AF0-1F9C-1D7A-C1D3-3CD8CCFC3A7E}"/>
              </a:ext>
            </a:extLst>
          </p:cNvPr>
          <p:cNvSpPr>
            <a:spLocks noGrp="1"/>
          </p:cNvSpPr>
          <p:nvPr>
            <p:ph type="body" idx="1"/>
          </p:nvPr>
        </p:nvSpPr>
        <p:spPr/>
        <p:txBody>
          <a:bodyPr/>
          <a:lstStyle/>
          <a:p>
            <a:r>
              <a:rPr lang="fr-FR" dirty="0"/>
              <a:t>https://revoked.badssl.com/</a:t>
            </a:r>
          </a:p>
        </p:txBody>
      </p:sp>
      <p:sp>
        <p:nvSpPr>
          <p:cNvPr id="4" name="Espace réservé du numéro de diapositive 3">
            <a:extLst>
              <a:ext uri="{FF2B5EF4-FFF2-40B4-BE49-F238E27FC236}">
                <a16:creationId xmlns:a16="http://schemas.microsoft.com/office/drawing/2014/main" id="{2F901675-4704-DFE5-077B-4186762E7BF1}"/>
              </a:ext>
            </a:extLst>
          </p:cNvPr>
          <p:cNvSpPr>
            <a:spLocks noGrp="1"/>
          </p:cNvSpPr>
          <p:nvPr>
            <p:ph type="sldNum" sz="quarter" idx="5"/>
          </p:nvPr>
        </p:nvSpPr>
        <p:spPr/>
        <p:txBody>
          <a:bodyPr/>
          <a:lstStyle/>
          <a:p>
            <a:fld id="{79126A9D-1955-44AF-98D9-CF7F71443976}" type="slidenum">
              <a:rPr lang="fr-FR" smtClean="0"/>
              <a:t>56</a:t>
            </a:fld>
            <a:endParaRPr lang="fr-FR"/>
          </a:p>
        </p:txBody>
      </p:sp>
    </p:spTree>
    <p:extLst>
      <p:ext uri="{BB962C8B-B14F-4D97-AF65-F5344CB8AC3E}">
        <p14:creationId xmlns:p14="http://schemas.microsoft.com/office/powerpoint/2010/main" val="270986207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E28CF-7434-8094-13B5-480150431ED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24BD476-3FF8-63F0-33EE-00FAAD6B122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9E00C49-E5FD-399F-77E4-FD61669F7C0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5402B42-F0F2-49B8-855E-B956C88322EB}"/>
              </a:ext>
            </a:extLst>
          </p:cNvPr>
          <p:cNvSpPr>
            <a:spLocks noGrp="1"/>
          </p:cNvSpPr>
          <p:nvPr>
            <p:ph type="sldNum" sz="quarter" idx="5"/>
          </p:nvPr>
        </p:nvSpPr>
        <p:spPr/>
        <p:txBody>
          <a:bodyPr/>
          <a:lstStyle/>
          <a:p>
            <a:fld id="{79126A9D-1955-44AF-98D9-CF7F71443976}" type="slidenum">
              <a:rPr lang="fr-FR" smtClean="0"/>
              <a:t>57</a:t>
            </a:fld>
            <a:endParaRPr lang="fr-FR"/>
          </a:p>
        </p:txBody>
      </p:sp>
    </p:spTree>
    <p:extLst>
      <p:ext uri="{BB962C8B-B14F-4D97-AF65-F5344CB8AC3E}">
        <p14:creationId xmlns:p14="http://schemas.microsoft.com/office/powerpoint/2010/main" val="39707238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69620-C03E-924B-5A67-065CDB24247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FB5CDBE-4059-3EBB-7A3A-8C34D8F7851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4BAA6C1-FF18-C7CB-9855-A817857BF6A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3BD4CD8-6017-3676-C08A-D480991F6E12}"/>
              </a:ext>
            </a:extLst>
          </p:cNvPr>
          <p:cNvSpPr>
            <a:spLocks noGrp="1"/>
          </p:cNvSpPr>
          <p:nvPr>
            <p:ph type="sldNum" sz="quarter" idx="5"/>
          </p:nvPr>
        </p:nvSpPr>
        <p:spPr/>
        <p:txBody>
          <a:bodyPr/>
          <a:lstStyle/>
          <a:p>
            <a:fld id="{79126A9D-1955-44AF-98D9-CF7F71443976}" type="slidenum">
              <a:rPr lang="fr-FR" smtClean="0"/>
              <a:t>58</a:t>
            </a:fld>
            <a:endParaRPr lang="fr-FR"/>
          </a:p>
        </p:txBody>
      </p:sp>
    </p:spTree>
    <p:extLst>
      <p:ext uri="{BB962C8B-B14F-4D97-AF65-F5344CB8AC3E}">
        <p14:creationId xmlns:p14="http://schemas.microsoft.com/office/powerpoint/2010/main" val="380683896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90AFD-2E7D-F634-F615-7A660218F8C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322E084-5B90-64BD-5A89-CC29B89A045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A548D13-AF9B-6FFC-937F-5057B83A630C}"/>
              </a:ext>
            </a:extLst>
          </p:cNvPr>
          <p:cNvSpPr>
            <a:spLocks noGrp="1"/>
          </p:cNvSpPr>
          <p:nvPr>
            <p:ph type="body" idx="1"/>
          </p:nvPr>
        </p:nvSpPr>
        <p:spPr/>
        <p:txBody>
          <a:bodyPr/>
          <a:lstStyle/>
          <a:p>
            <a:r>
              <a:rPr lang="fr-FR" dirty="0"/>
              <a:t>https://revoked.badssl.com/</a:t>
            </a:r>
          </a:p>
        </p:txBody>
      </p:sp>
      <p:sp>
        <p:nvSpPr>
          <p:cNvPr id="4" name="Espace réservé du numéro de diapositive 3">
            <a:extLst>
              <a:ext uri="{FF2B5EF4-FFF2-40B4-BE49-F238E27FC236}">
                <a16:creationId xmlns:a16="http://schemas.microsoft.com/office/drawing/2014/main" id="{DAD8AAFF-88AC-BA44-60D8-20708E578DBB}"/>
              </a:ext>
            </a:extLst>
          </p:cNvPr>
          <p:cNvSpPr>
            <a:spLocks noGrp="1"/>
          </p:cNvSpPr>
          <p:nvPr>
            <p:ph type="sldNum" sz="quarter" idx="5"/>
          </p:nvPr>
        </p:nvSpPr>
        <p:spPr/>
        <p:txBody>
          <a:bodyPr/>
          <a:lstStyle/>
          <a:p>
            <a:fld id="{79126A9D-1955-44AF-98D9-CF7F71443976}" type="slidenum">
              <a:rPr lang="fr-FR" smtClean="0"/>
              <a:t>59</a:t>
            </a:fld>
            <a:endParaRPr lang="fr-FR"/>
          </a:p>
        </p:txBody>
      </p:sp>
    </p:spTree>
    <p:extLst>
      <p:ext uri="{BB962C8B-B14F-4D97-AF65-F5344CB8AC3E}">
        <p14:creationId xmlns:p14="http://schemas.microsoft.com/office/powerpoint/2010/main" val="284941274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9BDDB-DCE6-3627-DDFA-5FDB4F28062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135F250-2914-4B8B-A0C0-8DB2C69AB59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B1021CD-D880-EDFD-1729-840DE252D5A9}"/>
              </a:ext>
            </a:extLst>
          </p:cNvPr>
          <p:cNvSpPr>
            <a:spLocks noGrp="1"/>
          </p:cNvSpPr>
          <p:nvPr>
            <p:ph type="body" idx="1"/>
          </p:nvPr>
        </p:nvSpPr>
        <p:spPr/>
        <p:txBody>
          <a:bodyPr/>
          <a:lstStyle/>
          <a:p>
            <a:r>
              <a:rPr lang="fr-FR" dirty="0"/>
              <a:t>https://revoked.badssl.com/</a:t>
            </a:r>
          </a:p>
        </p:txBody>
      </p:sp>
      <p:sp>
        <p:nvSpPr>
          <p:cNvPr id="4" name="Espace réservé du numéro de diapositive 3">
            <a:extLst>
              <a:ext uri="{FF2B5EF4-FFF2-40B4-BE49-F238E27FC236}">
                <a16:creationId xmlns:a16="http://schemas.microsoft.com/office/drawing/2014/main" id="{04765895-2A82-EED8-1A03-AF866F9C5D50}"/>
              </a:ext>
            </a:extLst>
          </p:cNvPr>
          <p:cNvSpPr>
            <a:spLocks noGrp="1"/>
          </p:cNvSpPr>
          <p:nvPr>
            <p:ph type="sldNum" sz="quarter" idx="5"/>
          </p:nvPr>
        </p:nvSpPr>
        <p:spPr/>
        <p:txBody>
          <a:bodyPr/>
          <a:lstStyle/>
          <a:p>
            <a:fld id="{79126A9D-1955-44AF-98D9-CF7F71443976}" type="slidenum">
              <a:rPr lang="fr-FR" smtClean="0"/>
              <a:t>60</a:t>
            </a:fld>
            <a:endParaRPr lang="fr-FR"/>
          </a:p>
        </p:txBody>
      </p:sp>
    </p:spTree>
    <p:extLst>
      <p:ext uri="{BB962C8B-B14F-4D97-AF65-F5344CB8AC3E}">
        <p14:creationId xmlns:p14="http://schemas.microsoft.com/office/powerpoint/2010/main" val="354676705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D5075-55A8-FB4D-058A-DDFBCCA7585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E7A80A4-83A1-7CF7-432B-29C18FBCBA1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185C3AA-1C8B-5BA1-7A45-CFD31657C285}"/>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475F492-B2F0-4F60-FA31-52AB4297DA7D}"/>
              </a:ext>
            </a:extLst>
          </p:cNvPr>
          <p:cNvSpPr>
            <a:spLocks noGrp="1"/>
          </p:cNvSpPr>
          <p:nvPr>
            <p:ph type="sldNum" sz="quarter" idx="5"/>
          </p:nvPr>
        </p:nvSpPr>
        <p:spPr/>
        <p:txBody>
          <a:bodyPr/>
          <a:lstStyle/>
          <a:p>
            <a:fld id="{79126A9D-1955-44AF-98D9-CF7F71443976}" type="slidenum">
              <a:rPr lang="fr-FR" smtClean="0"/>
              <a:t>61</a:t>
            </a:fld>
            <a:endParaRPr lang="fr-FR"/>
          </a:p>
        </p:txBody>
      </p:sp>
    </p:spTree>
    <p:extLst>
      <p:ext uri="{BB962C8B-B14F-4D97-AF65-F5344CB8AC3E}">
        <p14:creationId xmlns:p14="http://schemas.microsoft.com/office/powerpoint/2010/main" val="160123756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B9507-1890-BE2A-F791-F696FB887D2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EBC4DFD-3E11-8345-D617-CC9FBB3AF13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D86E628-C1ED-E75F-B4B8-96DE5ADF979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3F78DAC-1DFE-AC33-E089-29C86814ADD2}"/>
              </a:ext>
            </a:extLst>
          </p:cNvPr>
          <p:cNvSpPr>
            <a:spLocks noGrp="1"/>
          </p:cNvSpPr>
          <p:nvPr>
            <p:ph type="sldNum" sz="quarter" idx="5"/>
          </p:nvPr>
        </p:nvSpPr>
        <p:spPr/>
        <p:txBody>
          <a:bodyPr/>
          <a:lstStyle/>
          <a:p>
            <a:fld id="{79126A9D-1955-44AF-98D9-CF7F71443976}" type="slidenum">
              <a:rPr lang="fr-FR" smtClean="0"/>
              <a:t>62</a:t>
            </a:fld>
            <a:endParaRPr lang="fr-FR"/>
          </a:p>
        </p:txBody>
      </p:sp>
    </p:spTree>
    <p:extLst>
      <p:ext uri="{BB962C8B-B14F-4D97-AF65-F5344CB8AC3E}">
        <p14:creationId xmlns:p14="http://schemas.microsoft.com/office/powerpoint/2010/main" val="374593070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82329-E6CB-7B14-B8CC-AAD196CD55F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03F15D7-8B11-747E-5EE7-4E62644BCB0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D1DAC83-42A9-4C96-BF86-413F680EF27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B58C04B-9DF9-4A53-E494-010F8AFA0F20}"/>
              </a:ext>
            </a:extLst>
          </p:cNvPr>
          <p:cNvSpPr>
            <a:spLocks noGrp="1"/>
          </p:cNvSpPr>
          <p:nvPr>
            <p:ph type="sldNum" sz="quarter" idx="5"/>
          </p:nvPr>
        </p:nvSpPr>
        <p:spPr/>
        <p:txBody>
          <a:bodyPr/>
          <a:lstStyle/>
          <a:p>
            <a:fld id="{79126A9D-1955-44AF-98D9-CF7F71443976}" type="slidenum">
              <a:rPr lang="fr-FR" smtClean="0"/>
              <a:t>63</a:t>
            </a:fld>
            <a:endParaRPr lang="fr-FR"/>
          </a:p>
        </p:txBody>
      </p:sp>
    </p:spTree>
    <p:extLst>
      <p:ext uri="{BB962C8B-B14F-4D97-AF65-F5344CB8AC3E}">
        <p14:creationId xmlns:p14="http://schemas.microsoft.com/office/powerpoint/2010/main" val="74247024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20AF3-159E-0762-8D56-7A3FF072190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7DC279F-F35B-E743-CE48-0E703609B78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44A5350-5317-CB89-5096-5A5CA19E4AF4}"/>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8C42E31-7E75-2225-4509-BB0CCFB493C8}"/>
              </a:ext>
            </a:extLst>
          </p:cNvPr>
          <p:cNvSpPr>
            <a:spLocks noGrp="1"/>
          </p:cNvSpPr>
          <p:nvPr>
            <p:ph type="sldNum" sz="quarter" idx="5"/>
          </p:nvPr>
        </p:nvSpPr>
        <p:spPr/>
        <p:txBody>
          <a:bodyPr/>
          <a:lstStyle/>
          <a:p>
            <a:fld id="{79126A9D-1955-44AF-98D9-CF7F71443976}" type="slidenum">
              <a:rPr lang="fr-FR" smtClean="0"/>
              <a:t>64</a:t>
            </a:fld>
            <a:endParaRPr lang="fr-FR"/>
          </a:p>
        </p:txBody>
      </p:sp>
    </p:spTree>
    <p:extLst>
      <p:ext uri="{BB962C8B-B14F-4D97-AF65-F5344CB8AC3E}">
        <p14:creationId xmlns:p14="http://schemas.microsoft.com/office/powerpoint/2010/main" val="277399935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8ABD3-549E-5E8B-E6E9-7B23165FEA2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72D60EA-7F87-2137-7633-83B8212C1B0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87AB8D1-3425-E192-831F-F3BE98263B03}"/>
              </a:ext>
            </a:extLst>
          </p:cNvPr>
          <p:cNvSpPr>
            <a:spLocks noGrp="1"/>
          </p:cNvSpPr>
          <p:nvPr>
            <p:ph type="body" idx="1"/>
          </p:nvPr>
        </p:nvSpPr>
        <p:spPr/>
        <p:txBody>
          <a:bodyPr/>
          <a:lstStyle/>
          <a:p>
            <a:r>
              <a:rPr lang="fr-FR" dirty="0"/>
              <a:t>https://sectigostore.com/blog/what-is-an-ssl-certificate-chain-how-does-it-work/</a:t>
            </a:r>
          </a:p>
        </p:txBody>
      </p:sp>
      <p:sp>
        <p:nvSpPr>
          <p:cNvPr id="4" name="Espace réservé du numéro de diapositive 3">
            <a:extLst>
              <a:ext uri="{FF2B5EF4-FFF2-40B4-BE49-F238E27FC236}">
                <a16:creationId xmlns:a16="http://schemas.microsoft.com/office/drawing/2014/main" id="{AF0318AE-BE51-EC40-5F0B-DDEC5DE87DCF}"/>
              </a:ext>
            </a:extLst>
          </p:cNvPr>
          <p:cNvSpPr>
            <a:spLocks noGrp="1"/>
          </p:cNvSpPr>
          <p:nvPr>
            <p:ph type="sldNum" sz="quarter" idx="5"/>
          </p:nvPr>
        </p:nvSpPr>
        <p:spPr/>
        <p:txBody>
          <a:bodyPr/>
          <a:lstStyle/>
          <a:p>
            <a:fld id="{79126A9D-1955-44AF-98D9-CF7F71443976}" type="slidenum">
              <a:rPr lang="fr-FR" smtClean="0"/>
              <a:t>65</a:t>
            </a:fld>
            <a:endParaRPr lang="fr-FR"/>
          </a:p>
        </p:txBody>
      </p:sp>
    </p:spTree>
    <p:extLst>
      <p:ext uri="{BB962C8B-B14F-4D97-AF65-F5344CB8AC3E}">
        <p14:creationId xmlns:p14="http://schemas.microsoft.com/office/powerpoint/2010/main" val="60672847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759FE-E27A-D872-4926-AC3363C5FD8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EBF7BAA-F70E-3AFE-7F73-F1FBFDB0978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A6BD951-6DD1-38F0-1C52-F1F718D1EDB1}"/>
              </a:ext>
            </a:extLst>
          </p:cNvPr>
          <p:cNvSpPr>
            <a:spLocks noGrp="1"/>
          </p:cNvSpPr>
          <p:nvPr>
            <p:ph type="body" idx="1"/>
          </p:nvPr>
        </p:nvSpPr>
        <p:spPr/>
        <p:txBody>
          <a:bodyPr/>
          <a:lstStyle/>
          <a:p>
            <a:r>
              <a:rPr lang="fr-FR" dirty="0"/>
              <a:t>https://sectigostore.com/blog/what-is-an-ssl-certificate-chain-how-does-it-work/</a:t>
            </a:r>
          </a:p>
        </p:txBody>
      </p:sp>
      <p:sp>
        <p:nvSpPr>
          <p:cNvPr id="4" name="Espace réservé du numéro de diapositive 3">
            <a:extLst>
              <a:ext uri="{FF2B5EF4-FFF2-40B4-BE49-F238E27FC236}">
                <a16:creationId xmlns:a16="http://schemas.microsoft.com/office/drawing/2014/main" id="{A53AD2EA-784A-26DE-3662-B563C08AB476}"/>
              </a:ext>
            </a:extLst>
          </p:cNvPr>
          <p:cNvSpPr>
            <a:spLocks noGrp="1"/>
          </p:cNvSpPr>
          <p:nvPr>
            <p:ph type="sldNum" sz="quarter" idx="5"/>
          </p:nvPr>
        </p:nvSpPr>
        <p:spPr/>
        <p:txBody>
          <a:bodyPr/>
          <a:lstStyle/>
          <a:p>
            <a:fld id="{79126A9D-1955-44AF-98D9-CF7F71443976}" type="slidenum">
              <a:rPr lang="fr-FR" smtClean="0"/>
              <a:t>66</a:t>
            </a:fld>
            <a:endParaRPr lang="fr-FR"/>
          </a:p>
        </p:txBody>
      </p:sp>
    </p:spTree>
    <p:extLst>
      <p:ext uri="{BB962C8B-B14F-4D97-AF65-F5344CB8AC3E}">
        <p14:creationId xmlns:p14="http://schemas.microsoft.com/office/powerpoint/2010/main" val="166024944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FB1F4-9CCC-563A-124C-DEF49B5C25C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54D67C7-C08A-8E47-4732-A805CF60F34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60C09B8-3CA7-21DE-A67F-37E3CCBC4BA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9B55625E-CF20-8895-04B6-2C1050BB0014}"/>
              </a:ext>
            </a:extLst>
          </p:cNvPr>
          <p:cNvSpPr>
            <a:spLocks noGrp="1"/>
          </p:cNvSpPr>
          <p:nvPr>
            <p:ph type="sldNum" sz="quarter" idx="5"/>
          </p:nvPr>
        </p:nvSpPr>
        <p:spPr/>
        <p:txBody>
          <a:bodyPr/>
          <a:lstStyle/>
          <a:p>
            <a:fld id="{79126A9D-1955-44AF-98D9-CF7F71443976}" type="slidenum">
              <a:rPr lang="fr-FR" smtClean="0"/>
              <a:t>67</a:t>
            </a:fld>
            <a:endParaRPr lang="fr-FR"/>
          </a:p>
        </p:txBody>
      </p:sp>
    </p:spTree>
    <p:extLst>
      <p:ext uri="{BB962C8B-B14F-4D97-AF65-F5344CB8AC3E}">
        <p14:creationId xmlns:p14="http://schemas.microsoft.com/office/powerpoint/2010/main" val="248847895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41293-C91D-BFD7-6F36-57B3480B5DE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1AFCE03-A5C2-C723-60C5-89A8AED3C6E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E531575-35D0-6F0D-FB0E-5E069E2FE7F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A6982D3-144A-2FDB-0EE0-8EDA8202CCCA}"/>
              </a:ext>
            </a:extLst>
          </p:cNvPr>
          <p:cNvSpPr>
            <a:spLocks noGrp="1"/>
          </p:cNvSpPr>
          <p:nvPr>
            <p:ph type="sldNum" sz="quarter" idx="5"/>
          </p:nvPr>
        </p:nvSpPr>
        <p:spPr/>
        <p:txBody>
          <a:bodyPr/>
          <a:lstStyle/>
          <a:p>
            <a:fld id="{79126A9D-1955-44AF-98D9-CF7F71443976}" type="slidenum">
              <a:rPr lang="fr-FR" smtClean="0"/>
              <a:t>68</a:t>
            </a:fld>
            <a:endParaRPr lang="fr-FR"/>
          </a:p>
        </p:txBody>
      </p:sp>
    </p:spTree>
    <p:extLst>
      <p:ext uri="{BB962C8B-B14F-4D97-AF65-F5344CB8AC3E}">
        <p14:creationId xmlns:p14="http://schemas.microsoft.com/office/powerpoint/2010/main" val="232708937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2D01E-94CB-A0E3-C5D8-31FA8F4420A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19598E4-DF6D-7E19-E0E7-B0C72BA4505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19617FC-1D23-9DD9-AC0E-5EF16BD9165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F5F7BF1-FAEF-8D44-85B2-197DEE499AF2}"/>
              </a:ext>
            </a:extLst>
          </p:cNvPr>
          <p:cNvSpPr>
            <a:spLocks noGrp="1"/>
          </p:cNvSpPr>
          <p:nvPr>
            <p:ph type="sldNum" sz="quarter" idx="5"/>
          </p:nvPr>
        </p:nvSpPr>
        <p:spPr/>
        <p:txBody>
          <a:bodyPr/>
          <a:lstStyle/>
          <a:p>
            <a:fld id="{79126A9D-1955-44AF-98D9-CF7F71443976}" type="slidenum">
              <a:rPr lang="fr-FR" smtClean="0"/>
              <a:t>69</a:t>
            </a:fld>
            <a:endParaRPr lang="fr-FR"/>
          </a:p>
        </p:txBody>
      </p:sp>
    </p:spTree>
    <p:extLst>
      <p:ext uri="{BB962C8B-B14F-4D97-AF65-F5344CB8AC3E}">
        <p14:creationId xmlns:p14="http://schemas.microsoft.com/office/powerpoint/2010/main" val="298455504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7CB03-5A3F-24EF-C2B9-83661BB6B86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E9E3CE6-F38E-EA1A-7384-927B1B6C3C5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EEC8F69-FB6E-1D74-1094-FBB49DA46F2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6901FFD-F011-70F2-32EC-247AAB92F08E}"/>
              </a:ext>
            </a:extLst>
          </p:cNvPr>
          <p:cNvSpPr>
            <a:spLocks noGrp="1"/>
          </p:cNvSpPr>
          <p:nvPr>
            <p:ph type="sldNum" sz="quarter" idx="5"/>
          </p:nvPr>
        </p:nvSpPr>
        <p:spPr/>
        <p:txBody>
          <a:bodyPr/>
          <a:lstStyle/>
          <a:p>
            <a:fld id="{79126A9D-1955-44AF-98D9-CF7F71443976}" type="slidenum">
              <a:rPr lang="fr-FR" smtClean="0"/>
              <a:t>70</a:t>
            </a:fld>
            <a:endParaRPr lang="fr-FR"/>
          </a:p>
        </p:txBody>
      </p:sp>
    </p:spTree>
    <p:extLst>
      <p:ext uri="{BB962C8B-B14F-4D97-AF65-F5344CB8AC3E}">
        <p14:creationId xmlns:p14="http://schemas.microsoft.com/office/powerpoint/2010/main" val="135120572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79126A9D-1955-44AF-98D9-CF7F71443976}" type="slidenum">
              <a:rPr lang="fr-FR" smtClean="0"/>
              <a:t>71</a:t>
            </a:fld>
            <a:endParaRPr lang="fr-FR"/>
          </a:p>
        </p:txBody>
      </p:sp>
    </p:spTree>
    <p:extLst>
      <p:ext uri="{BB962C8B-B14F-4D97-AF65-F5344CB8AC3E}">
        <p14:creationId xmlns:p14="http://schemas.microsoft.com/office/powerpoint/2010/main" val="19152331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39BA8-9440-EAD8-8C34-4B9731984DC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9BEDFCC-60E1-2F3D-6286-055FEBB3345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A56F551-D8E4-3454-4F3D-08F40245168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3D11F43-5C4B-EE7D-32A4-4012459A5B0A}"/>
              </a:ext>
            </a:extLst>
          </p:cNvPr>
          <p:cNvSpPr>
            <a:spLocks noGrp="1"/>
          </p:cNvSpPr>
          <p:nvPr>
            <p:ph type="sldNum" sz="quarter" idx="5"/>
          </p:nvPr>
        </p:nvSpPr>
        <p:spPr/>
        <p:txBody>
          <a:bodyPr/>
          <a:lstStyle/>
          <a:p>
            <a:fld id="{79126A9D-1955-44AF-98D9-CF7F71443976}" type="slidenum">
              <a:rPr lang="fr-FR" smtClean="0"/>
              <a:t>72</a:t>
            </a:fld>
            <a:endParaRPr lang="fr-FR"/>
          </a:p>
        </p:txBody>
      </p:sp>
    </p:spTree>
    <p:extLst>
      <p:ext uri="{BB962C8B-B14F-4D97-AF65-F5344CB8AC3E}">
        <p14:creationId xmlns:p14="http://schemas.microsoft.com/office/powerpoint/2010/main" val="404667363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39BA8-9440-EAD8-8C34-4B9731984DC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9BEDFCC-60E1-2F3D-6286-055FEBB3345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A56F551-D8E4-3454-4F3D-08F40245168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3D11F43-5C4B-EE7D-32A4-4012459A5B0A}"/>
              </a:ext>
            </a:extLst>
          </p:cNvPr>
          <p:cNvSpPr>
            <a:spLocks noGrp="1"/>
          </p:cNvSpPr>
          <p:nvPr>
            <p:ph type="sldNum" sz="quarter" idx="5"/>
          </p:nvPr>
        </p:nvSpPr>
        <p:spPr/>
        <p:txBody>
          <a:bodyPr/>
          <a:lstStyle/>
          <a:p>
            <a:fld id="{79126A9D-1955-44AF-98D9-CF7F71443976}" type="slidenum">
              <a:rPr lang="fr-FR" smtClean="0"/>
              <a:t>73</a:t>
            </a:fld>
            <a:endParaRPr lang="fr-FR"/>
          </a:p>
        </p:txBody>
      </p:sp>
    </p:spTree>
    <p:extLst>
      <p:ext uri="{BB962C8B-B14F-4D97-AF65-F5344CB8AC3E}">
        <p14:creationId xmlns:p14="http://schemas.microsoft.com/office/powerpoint/2010/main" val="15754167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uverture">
    <p:bg>
      <p:bgPr>
        <a:blipFill dpi="0" rotWithShape="1">
          <a:blip r:embed="rId2">
            <a:lum/>
          </a:blip>
          <a:srcRect/>
          <a:stretch>
            <a:fillRect t="-22000" b="-22000"/>
          </a:stretch>
        </a:blipFill>
        <a:effectLst/>
      </p:bgPr>
    </p:bg>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BACB9B5F-D0F9-0DB4-D4F1-97BBB33ED737}"/>
              </a:ext>
            </a:extLst>
          </p:cNvPr>
          <p:cNvSpPr>
            <a:spLocks noGrp="1"/>
          </p:cNvSpPr>
          <p:nvPr>
            <p:ph type="dt" sz="half" idx="10"/>
          </p:nvPr>
        </p:nvSpPr>
        <p:spPr/>
        <p:txBody>
          <a:bodyPr/>
          <a:lstStyle/>
          <a:p>
            <a:fld id="{65C0AB4D-8F29-4C0E-ADA2-B82FB05857E5}" type="datetimeFigureOut">
              <a:rPr lang="fr-FR" smtClean="0"/>
              <a:t>03/03/2026</a:t>
            </a:fld>
            <a:endParaRPr lang="fr-FR"/>
          </a:p>
        </p:txBody>
      </p:sp>
      <p:sp>
        <p:nvSpPr>
          <p:cNvPr id="3" name="Espace réservé du pied de page 2">
            <a:extLst>
              <a:ext uri="{FF2B5EF4-FFF2-40B4-BE49-F238E27FC236}">
                <a16:creationId xmlns:a16="http://schemas.microsoft.com/office/drawing/2014/main" id="{1F3CE0DF-7CCC-CF8E-6D03-EDD5EAB86DE3}"/>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5B703457-5FA6-0659-7976-0E8A6FC91E2E}"/>
              </a:ext>
            </a:extLst>
          </p:cNvPr>
          <p:cNvSpPr>
            <a:spLocks noGrp="1"/>
          </p:cNvSpPr>
          <p:nvPr>
            <p:ph type="sldNum" sz="quarter" idx="12"/>
          </p:nvPr>
        </p:nvSpPr>
        <p:spPr/>
        <p:txBody>
          <a:bodyPr/>
          <a:lstStyle/>
          <a:p>
            <a:fld id="{48BF9B48-BC2F-40A4-A632-8A2868BDB581}" type="slidenum">
              <a:rPr lang="fr-FR" smtClean="0"/>
              <a:t>‹N°›</a:t>
            </a:fld>
            <a:endParaRPr lang="fr-FR"/>
          </a:p>
        </p:txBody>
      </p:sp>
      <p:sp>
        <p:nvSpPr>
          <p:cNvPr id="5" name="Rectangle 4">
            <a:extLst>
              <a:ext uri="{FF2B5EF4-FFF2-40B4-BE49-F238E27FC236}">
                <a16:creationId xmlns:a16="http://schemas.microsoft.com/office/drawing/2014/main" id="{C2546391-1094-CF5D-69B9-EDAF24ADC474}"/>
              </a:ext>
            </a:extLst>
          </p:cNvPr>
          <p:cNvSpPr/>
          <p:nvPr userDrawn="1"/>
        </p:nvSpPr>
        <p:spPr>
          <a:xfrm>
            <a:off x="0" y="0"/>
            <a:ext cx="12192000" cy="1446663"/>
          </a:xfrm>
          <a:prstGeom prst="rect">
            <a:avLst/>
          </a:prstGeom>
          <a:solidFill>
            <a:srgbClr val="0925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Titre 5">
            <a:extLst>
              <a:ext uri="{FF2B5EF4-FFF2-40B4-BE49-F238E27FC236}">
                <a16:creationId xmlns:a16="http://schemas.microsoft.com/office/drawing/2014/main" id="{72730BCE-E539-722C-8C1E-BAF7C8BAE0E2}"/>
              </a:ext>
            </a:extLst>
          </p:cNvPr>
          <p:cNvSpPr>
            <a:spLocks noGrp="1"/>
          </p:cNvSpPr>
          <p:nvPr>
            <p:ph type="title"/>
          </p:nvPr>
        </p:nvSpPr>
        <p:spPr>
          <a:xfrm>
            <a:off x="320725" y="344557"/>
            <a:ext cx="10133460" cy="496366"/>
          </a:xfrm>
        </p:spPr>
        <p:txBody>
          <a:bodyPr>
            <a:noAutofit/>
          </a:bodyPr>
          <a:lstStyle>
            <a:lvl1pPr>
              <a:defRPr cap="all" baseline="0"/>
            </a:lvl1pPr>
          </a:lstStyle>
          <a:p>
            <a:r>
              <a:rPr lang="fr-FR" sz="4800" dirty="0">
                <a:solidFill>
                  <a:srgbClr val="42C5A5"/>
                </a:solidFill>
              </a:rPr>
              <a:t>TITRE DE LA PRÉSENTATION</a:t>
            </a:r>
          </a:p>
        </p:txBody>
      </p:sp>
      <p:pic>
        <p:nvPicPr>
          <p:cNvPr id="8" name="Image 7">
            <a:extLst>
              <a:ext uri="{FF2B5EF4-FFF2-40B4-BE49-F238E27FC236}">
                <a16:creationId xmlns:a16="http://schemas.microsoft.com/office/drawing/2014/main" id="{C70AB178-9C5F-8E81-3514-0F4C3A6A3D0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765809" y="0"/>
            <a:ext cx="1426192" cy="1426192"/>
          </a:xfrm>
          <a:prstGeom prst="rect">
            <a:avLst/>
          </a:prstGeom>
        </p:spPr>
      </p:pic>
      <p:sp>
        <p:nvSpPr>
          <p:cNvPr id="11" name="ZoneTexte 10">
            <a:extLst>
              <a:ext uri="{FF2B5EF4-FFF2-40B4-BE49-F238E27FC236}">
                <a16:creationId xmlns:a16="http://schemas.microsoft.com/office/drawing/2014/main" id="{3CA203BA-5CAB-A7BA-71FB-D1E58993C4C4}"/>
              </a:ext>
            </a:extLst>
          </p:cNvPr>
          <p:cNvSpPr txBox="1"/>
          <p:nvPr userDrawn="1"/>
        </p:nvSpPr>
        <p:spPr>
          <a:xfrm>
            <a:off x="419622" y="1008345"/>
            <a:ext cx="3757808" cy="594987"/>
          </a:xfrm>
          <a:prstGeom prst="rect">
            <a:avLst/>
          </a:prstGeom>
        </p:spPr>
        <p:txBody>
          <a:bodyPr vert="horz" wrap="square" lIns="91440" tIns="45720" rIns="91440" bIns="45720" rtlCol="0" anchor="t">
            <a:noAutofit/>
          </a:bodyPr>
          <a:lstStyle/>
          <a:p>
            <a:pPr algn="l"/>
            <a:endParaRPr lang="fr-FR" sz="2400" dirty="0">
              <a:solidFill>
                <a:schemeClr val="bg1"/>
              </a:solidFill>
            </a:endParaRPr>
          </a:p>
        </p:txBody>
      </p:sp>
      <p:sp>
        <p:nvSpPr>
          <p:cNvPr id="12" name="Sous-titre 2">
            <a:extLst>
              <a:ext uri="{FF2B5EF4-FFF2-40B4-BE49-F238E27FC236}">
                <a16:creationId xmlns:a16="http://schemas.microsoft.com/office/drawing/2014/main" id="{B787A820-9F20-BD46-E6A5-7BCA12161E67}"/>
              </a:ext>
            </a:extLst>
          </p:cNvPr>
          <p:cNvSpPr>
            <a:spLocks noGrp="1"/>
          </p:cNvSpPr>
          <p:nvPr>
            <p:ph type="subTitle" idx="1" hasCustomPrompt="1"/>
          </p:nvPr>
        </p:nvSpPr>
        <p:spPr>
          <a:xfrm>
            <a:off x="488515" y="861170"/>
            <a:ext cx="9965670" cy="365125"/>
          </a:xfrm>
        </p:spPr>
        <p:txBody>
          <a:bodyPr lIns="0" tIns="0" rIns="0" bIns="0"/>
          <a:lstStyle>
            <a:lvl1pPr marL="0" indent="0" algn="l">
              <a:spcBef>
                <a:spcPts val="0"/>
              </a:spcBef>
              <a:buNone/>
              <a:defRPr sz="24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Sous-titres de la présentation</a:t>
            </a:r>
          </a:p>
        </p:txBody>
      </p:sp>
    </p:spTree>
    <p:extLst>
      <p:ext uri="{BB962C8B-B14F-4D97-AF65-F5344CB8AC3E}">
        <p14:creationId xmlns:p14="http://schemas.microsoft.com/office/powerpoint/2010/main" val="4281373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ommai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re 5">
            <a:extLst>
              <a:ext uri="{FF2B5EF4-FFF2-40B4-BE49-F238E27FC236}">
                <a16:creationId xmlns:a16="http://schemas.microsoft.com/office/drawing/2014/main" id="{ACE81446-558A-A994-5F30-3B72A8CA800E}"/>
              </a:ext>
            </a:extLst>
          </p:cNvPr>
          <p:cNvSpPr txBox="1">
            <a:spLocks/>
          </p:cNvSpPr>
          <p:nvPr userDrawn="1"/>
        </p:nvSpPr>
        <p:spPr>
          <a:xfrm>
            <a:off x="744794" y="569934"/>
            <a:ext cx="4518991" cy="5511452"/>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7000" b="1" cap="all" baseline="0" dirty="0">
                <a:solidFill>
                  <a:srgbClr val="42C5A5"/>
                </a:solidFill>
                <a:latin typeface="+mn-lt"/>
              </a:rPr>
              <a:t>SOMMAIRE</a:t>
            </a:r>
          </a:p>
        </p:txBody>
      </p:sp>
      <p:sp>
        <p:nvSpPr>
          <p:cNvPr id="8" name="Espace réservé du contenu 5">
            <a:extLst>
              <a:ext uri="{FF2B5EF4-FFF2-40B4-BE49-F238E27FC236}">
                <a16:creationId xmlns:a16="http://schemas.microsoft.com/office/drawing/2014/main" id="{700C4F2C-053F-9770-F941-3843C6ED7F8B}"/>
              </a:ext>
            </a:extLst>
          </p:cNvPr>
          <p:cNvSpPr>
            <a:spLocks noGrp="1"/>
          </p:cNvSpPr>
          <p:nvPr>
            <p:ph sz="quarter" idx="4"/>
          </p:nvPr>
        </p:nvSpPr>
        <p:spPr>
          <a:xfrm>
            <a:off x="5561806" y="569934"/>
            <a:ext cx="5183188" cy="5511452"/>
          </a:xfrm>
        </p:spPr>
        <p:txBody>
          <a:bodyPr anchor="ctr">
            <a:normAutofit/>
          </a:bodyPr>
          <a:lstStyle>
            <a:lvl1pPr>
              <a:defRPr sz="4000"/>
            </a:lvl1pPr>
          </a:lstStyle>
          <a:p>
            <a:pPr lvl="0"/>
            <a:r>
              <a:rPr lang="fr-FR" dirty="0"/>
              <a:t>Cliquez pour modifier les styles du texte du masque</a:t>
            </a:r>
          </a:p>
        </p:txBody>
      </p:sp>
    </p:spTree>
    <p:extLst>
      <p:ext uri="{BB962C8B-B14F-4D97-AF65-F5344CB8AC3E}">
        <p14:creationId xmlns:p14="http://schemas.microsoft.com/office/powerpoint/2010/main" val="3819993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0E0FF2-2019-B0E6-7BA8-E6CF9509E63E}"/>
              </a:ext>
            </a:extLst>
          </p:cNvPr>
          <p:cNvSpPr>
            <a:spLocks noGrp="1"/>
          </p:cNvSpPr>
          <p:nvPr>
            <p:ph type="ctrTitle"/>
          </p:nvPr>
        </p:nvSpPr>
        <p:spPr>
          <a:xfrm>
            <a:off x="0" y="2654491"/>
            <a:ext cx="12192000" cy="855472"/>
          </a:xfrm>
        </p:spPr>
        <p:txBody>
          <a:bodyPr bIns="0" anchor="b"/>
          <a:lstStyle>
            <a:lvl1pPr algn="ctr">
              <a:lnSpc>
                <a:spcPct val="100000"/>
              </a:lnSpc>
              <a:defRPr sz="6000" cap="all" baseline="0"/>
            </a:lvl1pPr>
          </a:lstStyle>
          <a:p>
            <a:r>
              <a:rPr lang="fr-FR" dirty="0"/>
              <a:t>Modifiez le style du titre</a:t>
            </a:r>
          </a:p>
        </p:txBody>
      </p:sp>
      <p:sp>
        <p:nvSpPr>
          <p:cNvPr id="3" name="Sous-titre 2">
            <a:extLst>
              <a:ext uri="{FF2B5EF4-FFF2-40B4-BE49-F238E27FC236}">
                <a16:creationId xmlns:a16="http://schemas.microsoft.com/office/drawing/2014/main" id="{2BC8925D-7295-4098-28CD-D41ED1E7CF4A}"/>
              </a:ext>
            </a:extLst>
          </p:cNvPr>
          <p:cNvSpPr>
            <a:spLocks noGrp="1"/>
          </p:cNvSpPr>
          <p:nvPr>
            <p:ph type="subTitle" idx="1"/>
          </p:nvPr>
        </p:nvSpPr>
        <p:spPr>
          <a:xfrm>
            <a:off x="0" y="3533798"/>
            <a:ext cx="12192000" cy="1655762"/>
          </a:xfrm>
        </p:spPr>
        <p:txBody>
          <a:bodyPr lIns="0" tIns="0" rIns="0" bIns="0"/>
          <a:lstStyle>
            <a:lvl1pPr marL="0" indent="0" algn="ctr">
              <a:spcBef>
                <a:spcPts val="0"/>
              </a:spcBef>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p>
        </p:txBody>
      </p:sp>
    </p:spTree>
    <p:extLst>
      <p:ext uri="{BB962C8B-B14F-4D97-AF65-F5344CB8AC3E}">
        <p14:creationId xmlns:p14="http://schemas.microsoft.com/office/powerpoint/2010/main" val="335806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u 1">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BACB9B5F-D0F9-0DB4-D4F1-97BBB33ED737}"/>
              </a:ext>
            </a:extLst>
          </p:cNvPr>
          <p:cNvSpPr>
            <a:spLocks noGrp="1"/>
          </p:cNvSpPr>
          <p:nvPr>
            <p:ph type="dt" sz="half" idx="10"/>
          </p:nvPr>
        </p:nvSpPr>
        <p:spPr/>
        <p:txBody>
          <a:bodyPr/>
          <a:lstStyle/>
          <a:p>
            <a:fld id="{65C0AB4D-8F29-4C0E-ADA2-B82FB05857E5}" type="datetimeFigureOut">
              <a:rPr lang="fr-FR" smtClean="0"/>
              <a:t>03/03/2026</a:t>
            </a:fld>
            <a:endParaRPr lang="fr-FR"/>
          </a:p>
        </p:txBody>
      </p:sp>
      <p:sp>
        <p:nvSpPr>
          <p:cNvPr id="3" name="Espace réservé du pied de page 2">
            <a:extLst>
              <a:ext uri="{FF2B5EF4-FFF2-40B4-BE49-F238E27FC236}">
                <a16:creationId xmlns:a16="http://schemas.microsoft.com/office/drawing/2014/main" id="{1F3CE0DF-7CCC-CF8E-6D03-EDD5EAB86DE3}"/>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5B703457-5FA6-0659-7976-0E8A6FC91E2E}"/>
              </a:ext>
            </a:extLst>
          </p:cNvPr>
          <p:cNvSpPr>
            <a:spLocks noGrp="1"/>
          </p:cNvSpPr>
          <p:nvPr>
            <p:ph type="sldNum" sz="quarter" idx="12"/>
          </p:nvPr>
        </p:nvSpPr>
        <p:spPr/>
        <p:txBody>
          <a:bodyPr/>
          <a:lstStyle/>
          <a:p>
            <a:fld id="{48BF9B48-BC2F-40A4-A632-8A2868BDB581}" type="slidenum">
              <a:rPr lang="fr-FR" smtClean="0"/>
              <a:t>‹N°›</a:t>
            </a:fld>
            <a:endParaRPr lang="fr-FR"/>
          </a:p>
        </p:txBody>
      </p:sp>
      <p:sp>
        <p:nvSpPr>
          <p:cNvPr id="5" name="Rectangle 4">
            <a:extLst>
              <a:ext uri="{FF2B5EF4-FFF2-40B4-BE49-F238E27FC236}">
                <a16:creationId xmlns:a16="http://schemas.microsoft.com/office/drawing/2014/main" id="{C2546391-1094-CF5D-69B9-EDAF24ADC474}"/>
              </a:ext>
            </a:extLst>
          </p:cNvPr>
          <p:cNvSpPr/>
          <p:nvPr userDrawn="1"/>
        </p:nvSpPr>
        <p:spPr>
          <a:xfrm>
            <a:off x="0" y="0"/>
            <a:ext cx="12192000" cy="1446663"/>
          </a:xfrm>
          <a:prstGeom prst="rect">
            <a:avLst/>
          </a:prstGeom>
          <a:solidFill>
            <a:srgbClr val="0925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Titre 5">
            <a:extLst>
              <a:ext uri="{FF2B5EF4-FFF2-40B4-BE49-F238E27FC236}">
                <a16:creationId xmlns:a16="http://schemas.microsoft.com/office/drawing/2014/main" id="{72730BCE-E539-722C-8C1E-BAF7C8BAE0E2}"/>
              </a:ext>
            </a:extLst>
          </p:cNvPr>
          <p:cNvSpPr>
            <a:spLocks noGrp="1"/>
          </p:cNvSpPr>
          <p:nvPr>
            <p:ph type="title" hasCustomPrompt="1"/>
          </p:nvPr>
        </p:nvSpPr>
        <p:spPr>
          <a:xfrm>
            <a:off x="320725" y="344557"/>
            <a:ext cx="7635922" cy="496366"/>
          </a:xfrm>
        </p:spPr>
        <p:txBody>
          <a:bodyPr>
            <a:noAutofit/>
          </a:bodyPr>
          <a:lstStyle>
            <a:lvl1pPr>
              <a:defRPr cap="all" baseline="0"/>
            </a:lvl1pPr>
          </a:lstStyle>
          <a:p>
            <a:r>
              <a:rPr lang="fr-FR" sz="4800" dirty="0">
                <a:solidFill>
                  <a:srgbClr val="42C5A5"/>
                </a:solidFill>
              </a:rPr>
              <a:t>TITRE DE LA PARTIE</a:t>
            </a:r>
          </a:p>
        </p:txBody>
      </p:sp>
      <p:pic>
        <p:nvPicPr>
          <p:cNvPr id="8" name="Image 7">
            <a:extLst>
              <a:ext uri="{FF2B5EF4-FFF2-40B4-BE49-F238E27FC236}">
                <a16:creationId xmlns:a16="http://schemas.microsoft.com/office/drawing/2014/main" id="{C70AB178-9C5F-8E81-3514-0F4C3A6A3D0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65809" y="0"/>
            <a:ext cx="1426192" cy="1426192"/>
          </a:xfrm>
          <a:prstGeom prst="rect">
            <a:avLst/>
          </a:prstGeom>
        </p:spPr>
      </p:pic>
      <p:sp>
        <p:nvSpPr>
          <p:cNvPr id="11" name="ZoneTexte 10">
            <a:extLst>
              <a:ext uri="{FF2B5EF4-FFF2-40B4-BE49-F238E27FC236}">
                <a16:creationId xmlns:a16="http://schemas.microsoft.com/office/drawing/2014/main" id="{3CA203BA-5CAB-A7BA-71FB-D1E58993C4C4}"/>
              </a:ext>
            </a:extLst>
          </p:cNvPr>
          <p:cNvSpPr txBox="1"/>
          <p:nvPr userDrawn="1"/>
        </p:nvSpPr>
        <p:spPr>
          <a:xfrm>
            <a:off x="419622" y="1008345"/>
            <a:ext cx="3757808" cy="594987"/>
          </a:xfrm>
          <a:prstGeom prst="rect">
            <a:avLst/>
          </a:prstGeom>
        </p:spPr>
        <p:txBody>
          <a:bodyPr vert="horz" wrap="square" lIns="91440" tIns="45720" rIns="91440" bIns="45720" rtlCol="0" anchor="t">
            <a:noAutofit/>
          </a:bodyPr>
          <a:lstStyle/>
          <a:p>
            <a:pPr algn="l"/>
            <a:endParaRPr lang="fr-FR" sz="2400" dirty="0">
              <a:solidFill>
                <a:schemeClr val="bg1"/>
              </a:solidFill>
            </a:endParaRPr>
          </a:p>
        </p:txBody>
      </p:sp>
      <p:sp>
        <p:nvSpPr>
          <p:cNvPr id="12" name="Sous-titre 2">
            <a:extLst>
              <a:ext uri="{FF2B5EF4-FFF2-40B4-BE49-F238E27FC236}">
                <a16:creationId xmlns:a16="http://schemas.microsoft.com/office/drawing/2014/main" id="{B787A820-9F20-BD46-E6A5-7BCA12161E67}"/>
              </a:ext>
            </a:extLst>
          </p:cNvPr>
          <p:cNvSpPr>
            <a:spLocks noGrp="1"/>
          </p:cNvSpPr>
          <p:nvPr>
            <p:ph type="subTitle" idx="1" hasCustomPrompt="1"/>
          </p:nvPr>
        </p:nvSpPr>
        <p:spPr>
          <a:xfrm>
            <a:off x="488515" y="861170"/>
            <a:ext cx="5517715" cy="365125"/>
          </a:xfrm>
        </p:spPr>
        <p:txBody>
          <a:bodyPr lIns="0" tIns="0" rIns="0" bIns="0"/>
          <a:lstStyle>
            <a:lvl1pPr marL="0" indent="0" algn="l">
              <a:spcBef>
                <a:spcPts val="0"/>
              </a:spcBef>
              <a:buNone/>
              <a:defRPr sz="24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Sous-titre de la partie</a:t>
            </a:r>
          </a:p>
        </p:txBody>
      </p:sp>
      <p:sp>
        <p:nvSpPr>
          <p:cNvPr id="7" name="Espace réservé du texte 2">
            <a:extLst>
              <a:ext uri="{FF2B5EF4-FFF2-40B4-BE49-F238E27FC236}">
                <a16:creationId xmlns:a16="http://schemas.microsoft.com/office/drawing/2014/main" id="{CDDD14FB-3DD0-40DF-5C61-C5239C0C445F}"/>
              </a:ext>
            </a:extLst>
          </p:cNvPr>
          <p:cNvSpPr>
            <a:spLocks noGrp="1"/>
          </p:cNvSpPr>
          <p:nvPr>
            <p:ph type="body" idx="13"/>
          </p:nvPr>
        </p:nvSpPr>
        <p:spPr>
          <a:xfrm>
            <a:off x="831850" y="1750507"/>
            <a:ext cx="10515600" cy="4339143"/>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Cliquez pour modifier les styles du texte du masque</a:t>
            </a:r>
          </a:p>
        </p:txBody>
      </p:sp>
    </p:spTree>
    <p:extLst>
      <p:ext uri="{BB962C8B-B14F-4D97-AF65-F5344CB8AC3E}">
        <p14:creationId xmlns:p14="http://schemas.microsoft.com/office/powerpoint/2010/main" val="3694959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éférenc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1F3CE0DF-7CCC-CF8E-6D03-EDD5EAB86DE3}"/>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5B703457-5FA6-0659-7976-0E8A6FC91E2E}"/>
              </a:ext>
            </a:extLst>
          </p:cNvPr>
          <p:cNvSpPr>
            <a:spLocks noGrp="1"/>
          </p:cNvSpPr>
          <p:nvPr>
            <p:ph type="sldNum" sz="quarter" idx="12"/>
          </p:nvPr>
        </p:nvSpPr>
        <p:spPr/>
        <p:txBody>
          <a:bodyPr/>
          <a:lstStyle/>
          <a:p>
            <a:fld id="{48BF9B48-BC2F-40A4-A632-8A2868BDB581}" type="slidenum">
              <a:rPr lang="fr-FR" smtClean="0"/>
              <a:t>‹N°›</a:t>
            </a:fld>
            <a:endParaRPr lang="fr-FR"/>
          </a:p>
        </p:txBody>
      </p:sp>
      <p:sp>
        <p:nvSpPr>
          <p:cNvPr id="6" name="Titre 5">
            <a:extLst>
              <a:ext uri="{FF2B5EF4-FFF2-40B4-BE49-F238E27FC236}">
                <a16:creationId xmlns:a16="http://schemas.microsoft.com/office/drawing/2014/main" id="{72730BCE-E539-722C-8C1E-BAF7C8BAE0E2}"/>
              </a:ext>
            </a:extLst>
          </p:cNvPr>
          <p:cNvSpPr>
            <a:spLocks noGrp="1"/>
          </p:cNvSpPr>
          <p:nvPr>
            <p:ph type="title" hasCustomPrompt="1"/>
          </p:nvPr>
        </p:nvSpPr>
        <p:spPr>
          <a:xfrm>
            <a:off x="116006" y="559838"/>
            <a:ext cx="3814549" cy="594988"/>
          </a:xfrm>
        </p:spPr>
        <p:txBody>
          <a:bodyPr lIns="0" tIns="0" rIns="0" bIns="0" anchor="b">
            <a:noAutofit/>
          </a:bodyPr>
          <a:lstStyle>
            <a:lvl1pPr algn="r">
              <a:defRPr sz="3000" cap="none" baseline="0"/>
            </a:lvl1pPr>
          </a:lstStyle>
          <a:p>
            <a:r>
              <a:rPr lang="fr-FR" sz="4800" dirty="0">
                <a:solidFill>
                  <a:srgbClr val="42C5A5"/>
                </a:solidFill>
              </a:rPr>
              <a:t>Référence</a:t>
            </a:r>
          </a:p>
        </p:txBody>
      </p:sp>
      <p:pic>
        <p:nvPicPr>
          <p:cNvPr id="8" name="Image 7">
            <a:extLst>
              <a:ext uri="{FF2B5EF4-FFF2-40B4-BE49-F238E27FC236}">
                <a16:creationId xmlns:a16="http://schemas.microsoft.com/office/drawing/2014/main" id="{C70AB178-9C5F-8E81-3514-0F4C3A6A3D0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765809" y="0"/>
            <a:ext cx="1426192" cy="1426192"/>
          </a:xfrm>
          <a:prstGeom prst="rect">
            <a:avLst/>
          </a:prstGeom>
        </p:spPr>
      </p:pic>
      <p:sp>
        <p:nvSpPr>
          <p:cNvPr id="11" name="ZoneTexte 10">
            <a:extLst>
              <a:ext uri="{FF2B5EF4-FFF2-40B4-BE49-F238E27FC236}">
                <a16:creationId xmlns:a16="http://schemas.microsoft.com/office/drawing/2014/main" id="{3CA203BA-5CAB-A7BA-71FB-D1E58993C4C4}"/>
              </a:ext>
            </a:extLst>
          </p:cNvPr>
          <p:cNvSpPr txBox="1"/>
          <p:nvPr userDrawn="1"/>
        </p:nvSpPr>
        <p:spPr>
          <a:xfrm>
            <a:off x="419622" y="1008345"/>
            <a:ext cx="3757808" cy="594987"/>
          </a:xfrm>
          <a:prstGeom prst="rect">
            <a:avLst/>
          </a:prstGeom>
        </p:spPr>
        <p:txBody>
          <a:bodyPr vert="horz" wrap="square" lIns="91440" tIns="45720" rIns="91440" bIns="45720" rtlCol="0" anchor="t">
            <a:noAutofit/>
          </a:bodyPr>
          <a:lstStyle/>
          <a:p>
            <a:pPr algn="l"/>
            <a:endParaRPr lang="fr-FR" sz="2400" dirty="0">
              <a:solidFill>
                <a:schemeClr val="bg1"/>
              </a:solidFill>
            </a:endParaRPr>
          </a:p>
        </p:txBody>
      </p:sp>
      <p:sp>
        <p:nvSpPr>
          <p:cNvPr id="12" name="Sous-titre 2">
            <a:extLst>
              <a:ext uri="{FF2B5EF4-FFF2-40B4-BE49-F238E27FC236}">
                <a16:creationId xmlns:a16="http://schemas.microsoft.com/office/drawing/2014/main" id="{B787A820-9F20-BD46-E6A5-7BCA12161E67}"/>
              </a:ext>
            </a:extLst>
          </p:cNvPr>
          <p:cNvSpPr>
            <a:spLocks noGrp="1"/>
          </p:cNvSpPr>
          <p:nvPr>
            <p:ph type="subTitle" idx="1" hasCustomPrompt="1"/>
          </p:nvPr>
        </p:nvSpPr>
        <p:spPr>
          <a:xfrm>
            <a:off x="116006" y="1175073"/>
            <a:ext cx="3814550" cy="365125"/>
          </a:xfrm>
        </p:spPr>
        <p:txBody>
          <a:bodyPr lIns="0" tIns="0" rIns="0" bIns="0"/>
          <a:lstStyle>
            <a:lvl1pPr marL="0" indent="0" algn="r">
              <a:spcBef>
                <a:spcPts val="0"/>
              </a:spcBef>
              <a:buNone/>
              <a:defRPr sz="24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Sous référence</a:t>
            </a:r>
          </a:p>
        </p:txBody>
      </p:sp>
      <p:sp>
        <p:nvSpPr>
          <p:cNvPr id="7" name="Espace réservé du texte 2">
            <a:extLst>
              <a:ext uri="{FF2B5EF4-FFF2-40B4-BE49-F238E27FC236}">
                <a16:creationId xmlns:a16="http://schemas.microsoft.com/office/drawing/2014/main" id="{CDDD14FB-3DD0-40DF-5C61-C5239C0C445F}"/>
              </a:ext>
            </a:extLst>
          </p:cNvPr>
          <p:cNvSpPr>
            <a:spLocks noGrp="1"/>
          </p:cNvSpPr>
          <p:nvPr>
            <p:ph type="body" idx="13"/>
          </p:nvPr>
        </p:nvSpPr>
        <p:spPr>
          <a:xfrm>
            <a:off x="116006" y="1750507"/>
            <a:ext cx="3814549" cy="4339143"/>
          </a:xfrm>
        </p:spPr>
        <p:txBody>
          <a:bodyPr/>
          <a:lstStyle>
            <a:lvl1pPr marL="0" indent="0" algn="just">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Cliquez pour modifier les styles du texte du masque</a:t>
            </a:r>
          </a:p>
        </p:txBody>
      </p:sp>
      <p:sp>
        <p:nvSpPr>
          <p:cNvPr id="10" name="Espace réservé du texte 2">
            <a:extLst>
              <a:ext uri="{FF2B5EF4-FFF2-40B4-BE49-F238E27FC236}">
                <a16:creationId xmlns:a16="http://schemas.microsoft.com/office/drawing/2014/main" id="{B883B49D-7074-3794-13A2-AD7703443ACF}"/>
              </a:ext>
            </a:extLst>
          </p:cNvPr>
          <p:cNvSpPr>
            <a:spLocks noGrp="1"/>
          </p:cNvSpPr>
          <p:nvPr>
            <p:ph type="body" idx="14"/>
          </p:nvPr>
        </p:nvSpPr>
        <p:spPr>
          <a:xfrm>
            <a:off x="4424151" y="1750507"/>
            <a:ext cx="7408458" cy="4339143"/>
          </a:xfrm>
        </p:spPr>
        <p:txBody>
          <a:bodyPr/>
          <a:lstStyle>
            <a:lvl1pPr marL="0" indent="0" algn="just">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Cliquez pour modifier les styles du texte du masque</a:t>
            </a:r>
          </a:p>
        </p:txBody>
      </p:sp>
    </p:spTree>
    <p:extLst>
      <p:ext uri="{BB962C8B-B14F-4D97-AF65-F5344CB8AC3E}">
        <p14:creationId xmlns:p14="http://schemas.microsoft.com/office/powerpoint/2010/main" val="3977031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aison 1">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BACB9B5F-D0F9-0DB4-D4F1-97BBB33ED737}"/>
              </a:ext>
            </a:extLst>
          </p:cNvPr>
          <p:cNvSpPr>
            <a:spLocks noGrp="1"/>
          </p:cNvSpPr>
          <p:nvPr>
            <p:ph type="dt" sz="half" idx="10"/>
          </p:nvPr>
        </p:nvSpPr>
        <p:spPr/>
        <p:txBody>
          <a:bodyPr/>
          <a:lstStyle/>
          <a:p>
            <a:fld id="{65C0AB4D-8F29-4C0E-ADA2-B82FB05857E5}" type="datetimeFigureOut">
              <a:rPr lang="fr-FR" smtClean="0"/>
              <a:t>03/03/2026</a:t>
            </a:fld>
            <a:endParaRPr lang="fr-FR"/>
          </a:p>
        </p:txBody>
      </p:sp>
      <p:sp>
        <p:nvSpPr>
          <p:cNvPr id="3" name="Espace réservé du pied de page 2">
            <a:extLst>
              <a:ext uri="{FF2B5EF4-FFF2-40B4-BE49-F238E27FC236}">
                <a16:creationId xmlns:a16="http://schemas.microsoft.com/office/drawing/2014/main" id="{1F3CE0DF-7CCC-CF8E-6D03-EDD5EAB86DE3}"/>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5B703457-5FA6-0659-7976-0E8A6FC91E2E}"/>
              </a:ext>
            </a:extLst>
          </p:cNvPr>
          <p:cNvSpPr>
            <a:spLocks noGrp="1"/>
          </p:cNvSpPr>
          <p:nvPr>
            <p:ph type="sldNum" sz="quarter" idx="12"/>
          </p:nvPr>
        </p:nvSpPr>
        <p:spPr/>
        <p:txBody>
          <a:bodyPr/>
          <a:lstStyle/>
          <a:p>
            <a:fld id="{48BF9B48-BC2F-40A4-A632-8A2868BDB581}" type="slidenum">
              <a:rPr lang="fr-FR" smtClean="0"/>
              <a:t>‹N°›</a:t>
            </a:fld>
            <a:endParaRPr lang="fr-FR"/>
          </a:p>
        </p:txBody>
      </p:sp>
      <p:sp>
        <p:nvSpPr>
          <p:cNvPr id="5" name="Rectangle 4">
            <a:extLst>
              <a:ext uri="{FF2B5EF4-FFF2-40B4-BE49-F238E27FC236}">
                <a16:creationId xmlns:a16="http://schemas.microsoft.com/office/drawing/2014/main" id="{C2546391-1094-CF5D-69B9-EDAF24ADC474}"/>
              </a:ext>
            </a:extLst>
          </p:cNvPr>
          <p:cNvSpPr/>
          <p:nvPr userDrawn="1"/>
        </p:nvSpPr>
        <p:spPr>
          <a:xfrm>
            <a:off x="0" y="0"/>
            <a:ext cx="12192000" cy="1446663"/>
          </a:xfrm>
          <a:prstGeom prst="rect">
            <a:avLst/>
          </a:prstGeom>
          <a:solidFill>
            <a:srgbClr val="0925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Titre 5">
            <a:extLst>
              <a:ext uri="{FF2B5EF4-FFF2-40B4-BE49-F238E27FC236}">
                <a16:creationId xmlns:a16="http://schemas.microsoft.com/office/drawing/2014/main" id="{72730BCE-E539-722C-8C1E-BAF7C8BAE0E2}"/>
              </a:ext>
            </a:extLst>
          </p:cNvPr>
          <p:cNvSpPr>
            <a:spLocks noGrp="1"/>
          </p:cNvSpPr>
          <p:nvPr>
            <p:ph type="title" hasCustomPrompt="1"/>
          </p:nvPr>
        </p:nvSpPr>
        <p:spPr>
          <a:xfrm>
            <a:off x="320725" y="344557"/>
            <a:ext cx="7635922" cy="496366"/>
          </a:xfrm>
        </p:spPr>
        <p:txBody>
          <a:bodyPr>
            <a:noAutofit/>
          </a:bodyPr>
          <a:lstStyle>
            <a:lvl1pPr>
              <a:defRPr cap="all" baseline="0"/>
            </a:lvl1pPr>
          </a:lstStyle>
          <a:p>
            <a:r>
              <a:rPr lang="fr-FR" sz="4800" dirty="0">
                <a:solidFill>
                  <a:srgbClr val="42C5A5"/>
                </a:solidFill>
              </a:rPr>
              <a:t>TITRE DE LA PARTIE</a:t>
            </a:r>
          </a:p>
        </p:txBody>
      </p:sp>
      <p:pic>
        <p:nvPicPr>
          <p:cNvPr id="8" name="Image 7">
            <a:extLst>
              <a:ext uri="{FF2B5EF4-FFF2-40B4-BE49-F238E27FC236}">
                <a16:creationId xmlns:a16="http://schemas.microsoft.com/office/drawing/2014/main" id="{C70AB178-9C5F-8E81-3514-0F4C3A6A3D0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65809" y="0"/>
            <a:ext cx="1426192" cy="1426192"/>
          </a:xfrm>
          <a:prstGeom prst="rect">
            <a:avLst/>
          </a:prstGeom>
        </p:spPr>
      </p:pic>
      <p:sp>
        <p:nvSpPr>
          <p:cNvPr id="11" name="ZoneTexte 10">
            <a:extLst>
              <a:ext uri="{FF2B5EF4-FFF2-40B4-BE49-F238E27FC236}">
                <a16:creationId xmlns:a16="http://schemas.microsoft.com/office/drawing/2014/main" id="{3CA203BA-5CAB-A7BA-71FB-D1E58993C4C4}"/>
              </a:ext>
            </a:extLst>
          </p:cNvPr>
          <p:cNvSpPr txBox="1"/>
          <p:nvPr userDrawn="1"/>
        </p:nvSpPr>
        <p:spPr>
          <a:xfrm>
            <a:off x="419622" y="1008345"/>
            <a:ext cx="3757808" cy="594987"/>
          </a:xfrm>
          <a:prstGeom prst="rect">
            <a:avLst/>
          </a:prstGeom>
        </p:spPr>
        <p:txBody>
          <a:bodyPr vert="horz" wrap="square" lIns="91440" tIns="45720" rIns="91440" bIns="45720" rtlCol="0" anchor="t">
            <a:noAutofit/>
          </a:bodyPr>
          <a:lstStyle/>
          <a:p>
            <a:pPr algn="l"/>
            <a:endParaRPr lang="fr-FR" sz="2400" dirty="0">
              <a:solidFill>
                <a:schemeClr val="bg1"/>
              </a:solidFill>
            </a:endParaRPr>
          </a:p>
        </p:txBody>
      </p:sp>
      <p:sp>
        <p:nvSpPr>
          <p:cNvPr id="12" name="Sous-titre 2">
            <a:extLst>
              <a:ext uri="{FF2B5EF4-FFF2-40B4-BE49-F238E27FC236}">
                <a16:creationId xmlns:a16="http://schemas.microsoft.com/office/drawing/2014/main" id="{B787A820-9F20-BD46-E6A5-7BCA12161E67}"/>
              </a:ext>
            </a:extLst>
          </p:cNvPr>
          <p:cNvSpPr>
            <a:spLocks noGrp="1"/>
          </p:cNvSpPr>
          <p:nvPr>
            <p:ph type="subTitle" idx="1" hasCustomPrompt="1"/>
          </p:nvPr>
        </p:nvSpPr>
        <p:spPr>
          <a:xfrm>
            <a:off x="488515" y="861170"/>
            <a:ext cx="5517715" cy="365125"/>
          </a:xfrm>
        </p:spPr>
        <p:txBody>
          <a:bodyPr lIns="0" tIns="0" rIns="0" bIns="0"/>
          <a:lstStyle>
            <a:lvl1pPr marL="0" indent="0" algn="l">
              <a:spcBef>
                <a:spcPts val="0"/>
              </a:spcBef>
              <a:buNone/>
              <a:defRPr sz="24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Sous-titre de la partie</a:t>
            </a:r>
          </a:p>
        </p:txBody>
      </p:sp>
      <p:sp>
        <p:nvSpPr>
          <p:cNvPr id="7" name="Espace réservé du contenu 2">
            <a:extLst>
              <a:ext uri="{FF2B5EF4-FFF2-40B4-BE49-F238E27FC236}">
                <a16:creationId xmlns:a16="http://schemas.microsoft.com/office/drawing/2014/main" id="{483DF4AE-AAB5-4664-A562-B7513CC30997}"/>
              </a:ext>
            </a:extLst>
          </p:cNvPr>
          <p:cNvSpPr>
            <a:spLocks noGrp="1"/>
          </p:cNvSpPr>
          <p:nvPr>
            <p:ph sz="half" idx="13"/>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9" name="Espace réservé du contenu 3">
            <a:extLst>
              <a:ext uri="{FF2B5EF4-FFF2-40B4-BE49-F238E27FC236}">
                <a16:creationId xmlns:a16="http://schemas.microsoft.com/office/drawing/2014/main" id="{3E1E288E-2B3C-0C52-09B0-706A6A73E5E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224226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aison 2">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BACB9B5F-D0F9-0DB4-D4F1-97BBB33ED737}"/>
              </a:ext>
            </a:extLst>
          </p:cNvPr>
          <p:cNvSpPr>
            <a:spLocks noGrp="1"/>
          </p:cNvSpPr>
          <p:nvPr>
            <p:ph type="dt" sz="half" idx="10"/>
          </p:nvPr>
        </p:nvSpPr>
        <p:spPr/>
        <p:txBody>
          <a:bodyPr/>
          <a:lstStyle/>
          <a:p>
            <a:fld id="{65C0AB4D-8F29-4C0E-ADA2-B82FB05857E5}" type="datetimeFigureOut">
              <a:rPr lang="fr-FR" smtClean="0"/>
              <a:t>03/03/2026</a:t>
            </a:fld>
            <a:endParaRPr lang="fr-FR"/>
          </a:p>
        </p:txBody>
      </p:sp>
      <p:sp>
        <p:nvSpPr>
          <p:cNvPr id="3" name="Espace réservé du pied de page 2">
            <a:extLst>
              <a:ext uri="{FF2B5EF4-FFF2-40B4-BE49-F238E27FC236}">
                <a16:creationId xmlns:a16="http://schemas.microsoft.com/office/drawing/2014/main" id="{1F3CE0DF-7CCC-CF8E-6D03-EDD5EAB86DE3}"/>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5B703457-5FA6-0659-7976-0E8A6FC91E2E}"/>
              </a:ext>
            </a:extLst>
          </p:cNvPr>
          <p:cNvSpPr>
            <a:spLocks noGrp="1"/>
          </p:cNvSpPr>
          <p:nvPr>
            <p:ph type="sldNum" sz="quarter" idx="12"/>
          </p:nvPr>
        </p:nvSpPr>
        <p:spPr/>
        <p:txBody>
          <a:bodyPr/>
          <a:lstStyle/>
          <a:p>
            <a:fld id="{48BF9B48-BC2F-40A4-A632-8A2868BDB581}" type="slidenum">
              <a:rPr lang="fr-FR" smtClean="0"/>
              <a:t>‹N°›</a:t>
            </a:fld>
            <a:endParaRPr lang="fr-FR"/>
          </a:p>
        </p:txBody>
      </p:sp>
      <p:sp>
        <p:nvSpPr>
          <p:cNvPr id="5" name="Rectangle 4">
            <a:extLst>
              <a:ext uri="{FF2B5EF4-FFF2-40B4-BE49-F238E27FC236}">
                <a16:creationId xmlns:a16="http://schemas.microsoft.com/office/drawing/2014/main" id="{C2546391-1094-CF5D-69B9-EDAF24ADC474}"/>
              </a:ext>
            </a:extLst>
          </p:cNvPr>
          <p:cNvSpPr/>
          <p:nvPr userDrawn="1"/>
        </p:nvSpPr>
        <p:spPr>
          <a:xfrm>
            <a:off x="0" y="0"/>
            <a:ext cx="12192000" cy="1446663"/>
          </a:xfrm>
          <a:prstGeom prst="rect">
            <a:avLst/>
          </a:prstGeom>
          <a:solidFill>
            <a:srgbClr val="0925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Titre 5">
            <a:extLst>
              <a:ext uri="{FF2B5EF4-FFF2-40B4-BE49-F238E27FC236}">
                <a16:creationId xmlns:a16="http://schemas.microsoft.com/office/drawing/2014/main" id="{72730BCE-E539-722C-8C1E-BAF7C8BAE0E2}"/>
              </a:ext>
            </a:extLst>
          </p:cNvPr>
          <p:cNvSpPr>
            <a:spLocks noGrp="1"/>
          </p:cNvSpPr>
          <p:nvPr>
            <p:ph type="title" hasCustomPrompt="1"/>
          </p:nvPr>
        </p:nvSpPr>
        <p:spPr>
          <a:xfrm>
            <a:off x="320725" y="344557"/>
            <a:ext cx="7635922" cy="496366"/>
          </a:xfrm>
        </p:spPr>
        <p:txBody>
          <a:bodyPr>
            <a:noAutofit/>
          </a:bodyPr>
          <a:lstStyle>
            <a:lvl1pPr>
              <a:defRPr cap="all" baseline="0"/>
            </a:lvl1pPr>
          </a:lstStyle>
          <a:p>
            <a:r>
              <a:rPr lang="fr-FR" sz="4800" dirty="0">
                <a:solidFill>
                  <a:srgbClr val="42C5A5"/>
                </a:solidFill>
              </a:rPr>
              <a:t>TITRE DE LA PARTIE</a:t>
            </a:r>
          </a:p>
        </p:txBody>
      </p:sp>
      <p:pic>
        <p:nvPicPr>
          <p:cNvPr id="8" name="Image 7">
            <a:extLst>
              <a:ext uri="{FF2B5EF4-FFF2-40B4-BE49-F238E27FC236}">
                <a16:creationId xmlns:a16="http://schemas.microsoft.com/office/drawing/2014/main" id="{C70AB178-9C5F-8E81-3514-0F4C3A6A3D0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65809" y="0"/>
            <a:ext cx="1426192" cy="1426192"/>
          </a:xfrm>
          <a:prstGeom prst="rect">
            <a:avLst/>
          </a:prstGeom>
        </p:spPr>
      </p:pic>
      <p:sp>
        <p:nvSpPr>
          <p:cNvPr id="11" name="ZoneTexte 10">
            <a:extLst>
              <a:ext uri="{FF2B5EF4-FFF2-40B4-BE49-F238E27FC236}">
                <a16:creationId xmlns:a16="http://schemas.microsoft.com/office/drawing/2014/main" id="{3CA203BA-5CAB-A7BA-71FB-D1E58993C4C4}"/>
              </a:ext>
            </a:extLst>
          </p:cNvPr>
          <p:cNvSpPr txBox="1"/>
          <p:nvPr userDrawn="1"/>
        </p:nvSpPr>
        <p:spPr>
          <a:xfrm>
            <a:off x="419622" y="1008345"/>
            <a:ext cx="3757808" cy="594987"/>
          </a:xfrm>
          <a:prstGeom prst="rect">
            <a:avLst/>
          </a:prstGeom>
        </p:spPr>
        <p:txBody>
          <a:bodyPr vert="horz" wrap="square" lIns="91440" tIns="45720" rIns="91440" bIns="45720" rtlCol="0" anchor="t">
            <a:noAutofit/>
          </a:bodyPr>
          <a:lstStyle/>
          <a:p>
            <a:pPr algn="l"/>
            <a:endParaRPr lang="fr-FR" sz="2400" dirty="0">
              <a:solidFill>
                <a:schemeClr val="bg1"/>
              </a:solidFill>
            </a:endParaRPr>
          </a:p>
        </p:txBody>
      </p:sp>
      <p:sp>
        <p:nvSpPr>
          <p:cNvPr id="12" name="Sous-titre 2">
            <a:extLst>
              <a:ext uri="{FF2B5EF4-FFF2-40B4-BE49-F238E27FC236}">
                <a16:creationId xmlns:a16="http://schemas.microsoft.com/office/drawing/2014/main" id="{B787A820-9F20-BD46-E6A5-7BCA12161E67}"/>
              </a:ext>
            </a:extLst>
          </p:cNvPr>
          <p:cNvSpPr>
            <a:spLocks noGrp="1"/>
          </p:cNvSpPr>
          <p:nvPr>
            <p:ph type="subTitle" idx="1" hasCustomPrompt="1"/>
          </p:nvPr>
        </p:nvSpPr>
        <p:spPr>
          <a:xfrm>
            <a:off x="488515" y="861170"/>
            <a:ext cx="5517715" cy="365125"/>
          </a:xfrm>
        </p:spPr>
        <p:txBody>
          <a:bodyPr lIns="0" tIns="0" rIns="0" bIns="0"/>
          <a:lstStyle>
            <a:lvl1pPr marL="0" indent="0" algn="l">
              <a:spcBef>
                <a:spcPts val="0"/>
              </a:spcBef>
              <a:buNone/>
              <a:defRPr sz="24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Sous-titre de la partie</a:t>
            </a:r>
          </a:p>
        </p:txBody>
      </p:sp>
      <p:sp>
        <p:nvSpPr>
          <p:cNvPr id="10" name="Espace réservé du texte 2">
            <a:extLst>
              <a:ext uri="{FF2B5EF4-FFF2-40B4-BE49-F238E27FC236}">
                <a16:creationId xmlns:a16="http://schemas.microsoft.com/office/drawing/2014/main" id="{A4ECD6E8-9284-B5E8-B15B-F3D8B1640EBF}"/>
              </a:ext>
            </a:extLst>
          </p:cNvPr>
          <p:cNvSpPr>
            <a:spLocks noGrp="1"/>
          </p:cNvSpPr>
          <p:nvPr>
            <p:ph type="body" idx="13"/>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3" name="Espace réservé du contenu 3">
            <a:extLst>
              <a:ext uri="{FF2B5EF4-FFF2-40B4-BE49-F238E27FC236}">
                <a16:creationId xmlns:a16="http://schemas.microsoft.com/office/drawing/2014/main" id="{4C70BB0F-547C-4F5C-A4F4-ACB1BEB0A502}"/>
              </a:ext>
            </a:extLst>
          </p:cNvPr>
          <p:cNvSpPr>
            <a:spLocks noGrp="1"/>
          </p:cNvSpPr>
          <p:nvPr>
            <p:ph sz="half" idx="2"/>
          </p:nvPr>
        </p:nvSpPr>
        <p:spPr>
          <a:xfrm>
            <a:off x="839788" y="2505075"/>
            <a:ext cx="5157787" cy="3684588"/>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4" name="Espace réservé du texte 4">
            <a:extLst>
              <a:ext uri="{FF2B5EF4-FFF2-40B4-BE49-F238E27FC236}">
                <a16:creationId xmlns:a16="http://schemas.microsoft.com/office/drawing/2014/main" id="{1CB437E0-374D-DE9B-DCCF-26DB30586B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5" name="Espace réservé du contenu 5">
            <a:extLst>
              <a:ext uri="{FF2B5EF4-FFF2-40B4-BE49-F238E27FC236}">
                <a16:creationId xmlns:a16="http://schemas.microsoft.com/office/drawing/2014/main" id="{411729F8-9DC1-3F1A-D088-031CE3DB2243}"/>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049083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9E8F67-5A01-2F3C-4B6C-18B9501B72F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5EAC9CA1-5E7D-65B9-C876-EBC4B4B48B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4B84087E-A181-AED2-3DDC-F0946D9170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6" name="Espace réservé du pied de page 5">
            <a:extLst>
              <a:ext uri="{FF2B5EF4-FFF2-40B4-BE49-F238E27FC236}">
                <a16:creationId xmlns:a16="http://schemas.microsoft.com/office/drawing/2014/main" id="{29975F65-66B7-A37F-39A0-DE7E5132566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6E87D35-4882-36BC-262D-62994AF24598}"/>
              </a:ext>
            </a:extLst>
          </p:cNvPr>
          <p:cNvSpPr>
            <a:spLocks noGrp="1"/>
          </p:cNvSpPr>
          <p:nvPr>
            <p:ph type="sldNum" sz="quarter" idx="12"/>
          </p:nvPr>
        </p:nvSpPr>
        <p:spPr/>
        <p:txBody>
          <a:bodyPr/>
          <a:lstStyle/>
          <a:p>
            <a:fld id="{48BF9B48-BC2F-40A4-A632-8A2868BDB581}" type="slidenum">
              <a:rPr lang="fr-FR" smtClean="0"/>
              <a:t>‹N°›</a:t>
            </a:fld>
            <a:endParaRPr lang="fr-FR"/>
          </a:p>
        </p:txBody>
      </p:sp>
    </p:spTree>
    <p:extLst>
      <p:ext uri="{BB962C8B-B14F-4D97-AF65-F5344CB8AC3E}">
        <p14:creationId xmlns:p14="http://schemas.microsoft.com/office/powerpoint/2010/main" val="3791470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0A8F7D-5A68-AB9A-8359-806010EA792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9F53435A-D966-C233-7ED7-7613D3EAFE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2807B455-A9BC-AAA8-F9FD-152969F9D3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6" name="Espace réservé du pied de page 5">
            <a:extLst>
              <a:ext uri="{FF2B5EF4-FFF2-40B4-BE49-F238E27FC236}">
                <a16:creationId xmlns:a16="http://schemas.microsoft.com/office/drawing/2014/main" id="{8610555A-665B-AAD9-00A1-AC93CC97855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18CA1D5-2308-121F-4DC6-EDCB2CE214D8}"/>
              </a:ext>
            </a:extLst>
          </p:cNvPr>
          <p:cNvSpPr>
            <a:spLocks noGrp="1"/>
          </p:cNvSpPr>
          <p:nvPr>
            <p:ph type="sldNum" sz="quarter" idx="12"/>
          </p:nvPr>
        </p:nvSpPr>
        <p:spPr/>
        <p:txBody>
          <a:bodyPr/>
          <a:lstStyle/>
          <a:p>
            <a:fld id="{48BF9B48-BC2F-40A4-A632-8A2868BDB581}" type="slidenum">
              <a:rPr lang="fr-FR" smtClean="0"/>
              <a:t>‹N°›</a:t>
            </a:fld>
            <a:endParaRPr lang="fr-FR"/>
          </a:p>
        </p:txBody>
      </p:sp>
    </p:spTree>
    <p:extLst>
      <p:ext uri="{BB962C8B-B14F-4D97-AF65-F5344CB8AC3E}">
        <p14:creationId xmlns:p14="http://schemas.microsoft.com/office/powerpoint/2010/main" val="263390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37485773-87AA-F8FE-92A1-4D48250187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dirty="0"/>
              <a:t>Modifiez le style du titre</a:t>
            </a:r>
          </a:p>
        </p:txBody>
      </p:sp>
      <p:sp>
        <p:nvSpPr>
          <p:cNvPr id="3" name="Espace réservé du texte 2">
            <a:extLst>
              <a:ext uri="{FF2B5EF4-FFF2-40B4-BE49-F238E27FC236}">
                <a16:creationId xmlns:a16="http://schemas.microsoft.com/office/drawing/2014/main" id="{A75E9D83-ABE1-645E-7A2E-0B03C62495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7A36F0A-AF56-9F22-8040-09CE4F18AA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rgbClr val="09253D"/>
                </a:solidFill>
              </a:defRPr>
            </a:lvl1pPr>
          </a:lstStyle>
          <a:p>
            <a:fld id="{65C0AB4D-8F29-4C0E-ADA2-B82FB05857E5}" type="datetimeFigureOut">
              <a:rPr lang="fr-FR" smtClean="0"/>
              <a:pPr/>
              <a:t>03/03/2026</a:t>
            </a:fld>
            <a:endParaRPr lang="fr-FR"/>
          </a:p>
        </p:txBody>
      </p:sp>
      <p:sp>
        <p:nvSpPr>
          <p:cNvPr id="5" name="Espace réservé du pied de page 4">
            <a:extLst>
              <a:ext uri="{FF2B5EF4-FFF2-40B4-BE49-F238E27FC236}">
                <a16:creationId xmlns:a16="http://schemas.microsoft.com/office/drawing/2014/main" id="{7A31860E-872E-4C35-769E-E00DD8A2A9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rgbClr val="09253D"/>
                </a:solidFill>
              </a:defRPr>
            </a:lvl1pPr>
          </a:lstStyle>
          <a:p>
            <a:endParaRPr lang="fr-FR"/>
          </a:p>
        </p:txBody>
      </p:sp>
      <p:sp>
        <p:nvSpPr>
          <p:cNvPr id="6" name="Espace réservé du numéro de diapositive 5">
            <a:extLst>
              <a:ext uri="{FF2B5EF4-FFF2-40B4-BE49-F238E27FC236}">
                <a16:creationId xmlns:a16="http://schemas.microsoft.com/office/drawing/2014/main" id="{83DB33D0-7320-5708-FFBC-F61AF45445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09253D"/>
                </a:solidFill>
              </a:defRPr>
            </a:lvl1pPr>
          </a:lstStyle>
          <a:p>
            <a:fld id="{48BF9B48-BC2F-40A4-A632-8A2868BDB581}" type="slidenum">
              <a:rPr lang="fr-FR" smtClean="0"/>
              <a:pPr/>
              <a:t>‹N°›</a:t>
            </a:fld>
            <a:endParaRPr lang="fr-FR"/>
          </a:p>
        </p:txBody>
      </p:sp>
    </p:spTree>
    <p:extLst>
      <p:ext uri="{BB962C8B-B14F-4D97-AF65-F5344CB8AC3E}">
        <p14:creationId xmlns:p14="http://schemas.microsoft.com/office/powerpoint/2010/main" val="812221380"/>
      </p:ext>
    </p:extLst>
  </p:cSld>
  <p:clrMap bg1="lt1" tx1="dk1" bg2="lt2" tx2="dk2" accent1="accent1" accent2="accent2" accent3="accent3" accent4="accent4" accent5="accent5" accent6="accent6" hlink="hlink" folHlink="folHlink"/>
  <p:sldLayoutIdLst>
    <p:sldLayoutId id="2147483655" r:id="rId1"/>
    <p:sldLayoutId id="2147483659" r:id="rId2"/>
    <p:sldLayoutId id="2147483649" r:id="rId3"/>
    <p:sldLayoutId id="2147483660" r:id="rId4"/>
    <p:sldLayoutId id="2147483663" r:id="rId5"/>
    <p:sldLayoutId id="2147483661" r:id="rId6"/>
    <p:sldLayoutId id="2147483662"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rgbClr val="42C5A5"/>
          </a:solidFill>
          <a:effectLst/>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9253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9253D"/>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9253D"/>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9253D"/>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9253D"/>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secnumacademie.gouv.fr/"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8.xml"/><Relationship Id="rId1" Type="http://schemas.openxmlformats.org/officeDocument/2006/relationships/slideLayout" Target="../slideLayouts/slideLayout4.xml"/><Relationship Id="rId6" Type="http://schemas.openxmlformats.org/officeDocument/2006/relationships/image" Target="../media/image26.emf"/><Relationship Id="rId5" Type="http://schemas.openxmlformats.org/officeDocument/2006/relationships/oleObject" Target="../embeddings/oleObject2.bin"/><Relationship Id="rId4" Type="http://schemas.openxmlformats.org/officeDocument/2006/relationships/image" Target="../media/image25.e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image" Target="../media/image27.emf"/></Relationships>
</file>

<file path=ppt/slides/_rels/slide5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5.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9.xml"/><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0.xml"/><Relationship Id="rId1" Type="http://schemas.openxmlformats.org/officeDocument/2006/relationships/slideLayout" Target="../slideLayouts/slideLayout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1.xml"/><Relationship Id="rId1" Type="http://schemas.openxmlformats.org/officeDocument/2006/relationships/slideLayout" Target="../slideLayouts/slideLayout5.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64.xml"/><Relationship Id="rId1" Type="http://schemas.openxmlformats.org/officeDocument/2006/relationships/slideLayout" Target="../slideLayouts/slideLayout4.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6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65.xml"/><Relationship Id="rId1" Type="http://schemas.openxmlformats.org/officeDocument/2006/relationships/slideLayout" Target="../slideLayouts/slideLayout4.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3.xml"/><Relationship Id="rId1" Type="http://schemas.openxmlformats.org/officeDocument/2006/relationships/video" Target="https://www.youtube.com/embed/9-Jj5Ma-DD8?feature=oembed" TargetMode="External"/><Relationship Id="rId4" Type="http://schemas.openxmlformats.org/officeDocument/2006/relationships/image" Target="../media/image31.jpe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3.xml"/><Relationship Id="rId1" Type="http://schemas.openxmlformats.org/officeDocument/2006/relationships/video" Target="https://www.youtube.com/embed/FXpTftnjqM8?feature=oembed" TargetMode="External"/><Relationship Id="rId4" Type="http://schemas.openxmlformats.org/officeDocument/2006/relationships/image" Target="../media/image3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99F763-C981-BE78-F796-7905EEC8FD31}"/>
              </a:ext>
            </a:extLst>
          </p:cNvPr>
          <p:cNvSpPr>
            <a:spLocks noGrp="1"/>
          </p:cNvSpPr>
          <p:nvPr>
            <p:ph type="title"/>
          </p:nvPr>
        </p:nvSpPr>
        <p:spPr>
          <a:xfrm>
            <a:off x="320725" y="366967"/>
            <a:ext cx="10133460" cy="496366"/>
          </a:xfrm>
        </p:spPr>
        <p:txBody>
          <a:bodyPr anchor="ctr" anchorCtr="0"/>
          <a:lstStyle/>
          <a:p>
            <a:r>
              <a:rPr lang="fr-FR" sz="4000" dirty="0" err="1"/>
              <a:t>CRyptographie</a:t>
            </a:r>
            <a:endParaRPr lang="fr-FR" sz="4000" dirty="0"/>
          </a:p>
        </p:txBody>
      </p:sp>
      <p:sp>
        <p:nvSpPr>
          <p:cNvPr id="3" name="Sous-titre 2">
            <a:extLst>
              <a:ext uri="{FF2B5EF4-FFF2-40B4-BE49-F238E27FC236}">
                <a16:creationId xmlns:a16="http://schemas.microsoft.com/office/drawing/2014/main" id="{046D19B3-6440-FE2E-99F7-6DE583C42B66}"/>
              </a:ext>
            </a:extLst>
          </p:cNvPr>
          <p:cNvSpPr>
            <a:spLocks noGrp="1"/>
          </p:cNvSpPr>
          <p:nvPr>
            <p:ph type="subTitle" idx="1"/>
          </p:nvPr>
        </p:nvSpPr>
        <p:spPr>
          <a:xfrm>
            <a:off x="449766" y="861170"/>
            <a:ext cx="7741086" cy="365125"/>
          </a:xfrm>
        </p:spPr>
        <p:txBody>
          <a:bodyPr anchor="ctr" anchorCtr="0"/>
          <a:lstStyle/>
          <a:p>
            <a:r>
              <a:rPr lang="fr-FR" dirty="0"/>
              <a:t>Signatures, Certificats et PKI</a:t>
            </a:r>
          </a:p>
        </p:txBody>
      </p:sp>
      <p:sp>
        <p:nvSpPr>
          <p:cNvPr id="4" name="Sous-titre 2">
            <a:extLst>
              <a:ext uri="{FF2B5EF4-FFF2-40B4-BE49-F238E27FC236}">
                <a16:creationId xmlns:a16="http://schemas.microsoft.com/office/drawing/2014/main" id="{4639A06E-2E5E-49DE-D7D9-2C22EA1C4542}"/>
              </a:ext>
            </a:extLst>
          </p:cNvPr>
          <p:cNvSpPr txBox="1">
            <a:spLocks/>
          </p:cNvSpPr>
          <p:nvPr/>
        </p:nvSpPr>
        <p:spPr>
          <a:xfrm>
            <a:off x="449766" y="66855"/>
            <a:ext cx="1935972" cy="293312"/>
          </a:xfrm>
          <a:prstGeom prst="rect">
            <a:avLst/>
          </a:prstGeom>
        </p:spPr>
        <p:txBody>
          <a:bodyPr vert="horz" lIns="0" tIns="0" rIns="0" bIns="0" rtlCol="0" anchor="ctr" anchorCtr="0">
            <a:normAutofit fontScale="85000" lnSpcReduction="10000"/>
          </a:bodyPr>
          <a:lstStyle>
            <a:lvl1pPr marL="0" indent="0" algn="l" defTabSz="914400" rtl="0" eaLnBrk="1" latinLnBrk="0" hangingPunct="1">
              <a:lnSpc>
                <a:spcPct val="90000"/>
              </a:lnSpc>
              <a:spcBef>
                <a:spcPts val="0"/>
              </a:spcBef>
              <a:buFont typeface="Arial" panose="020B0604020202020204" pitchFamily="34" charset="0"/>
              <a:buNone/>
              <a:defRPr sz="2400" kern="1200">
                <a:solidFill>
                  <a:schemeClr val="bg1"/>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9253D"/>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9253D"/>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9253D"/>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9253D"/>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1800" dirty="0">
                <a:solidFill>
                  <a:schemeClr val="tx1">
                    <a:lumMod val="50000"/>
                    <a:lumOff val="50000"/>
                  </a:schemeClr>
                </a:solidFill>
              </a:rPr>
              <a:t>TSSR / AIS / ASR / M1 SI</a:t>
            </a:r>
          </a:p>
        </p:txBody>
      </p:sp>
      <p:sp>
        <p:nvSpPr>
          <p:cNvPr id="5" name="Sous-titre 2">
            <a:extLst>
              <a:ext uri="{FF2B5EF4-FFF2-40B4-BE49-F238E27FC236}">
                <a16:creationId xmlns:a16="http://schemas.microsoft.com/office/drawing/2014/main" id="{F76669DB-96B4-1E52-4CB3-FE3F69E93444}"/>
              </a:ext>
            </a:extLst>
          </p:cNvPr>
          <p:cNvSpPr txBox="1">
            <a:spLocks/>
          </p:cNvSpPr>
          <p:nvPr/>
        </p:nvSpPr>
        <p:spPr>
          <a:xfrm>
            <a:off x="1" y="6379167"/>
            <a:ext cx="12192000" cy="365125"/>
          </a:xfrm>
          <a:prstGeom prst="rect">
            <a:avLst/>
          </a:prstGeom>
          <a:solidFill>
            <a:schemeClr val="bg1">
              <a:alpha val="70000"/>
            </a:schemeClr>
          </a:solidFill>
        </p:spPr>
        <p:txBody>
          <a:bodyPr vert="horz" lIns="0" tIns="0" rIns="0" bIns="0" rtlCol="0" anchor="ctr" anchorCtr="0">
            <a:normAutofit/>
          </a:bodyPr>
          <a:lstStyle>
            <a:lvl1pPr marL="0" indent="0" algn="l" defTabSz="914400" rtl="0" eaLnBrk="1" latinLnBrk="0" hangingPunct="1">
              <a:lnSpc>
                <a:spcPct val="90000"/>
              </a:lnSpc>
              <a:spcBef>
                <a:spcPts val="0"/>
              </a:spcBef>
              <a:buFont typeface="Arial" panose="020B0604020202020204" pitchFamily="34" charset="0"/>
              <a:buNone/>
              <a:defRPr sz="2400" kern="1200">
                <a:solidFill>
                  <a:schemeClr val="bg1"/>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09253D"/>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09253D"/>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09253D"/>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09253D"/>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fr-FR" sz="2000" dirty="0">
                <a:solidFill>
                  <a:srgbClr val="09253D"/>
                </a:solidFill>
              </a:rPr>
              <a:t>Yanis AFENDOU – Formateur en systèmes et réseaux informatiques</a:t>
            </a:r>
          </a:p>
        </p:txBody>
      </p:sp>
    </p:spTree>
    <p:extLst>
      <p:ext uri="{BB962C8B-B14F-4D97-AF65-F5344CB8AC3E}">
        <p14:creationId xmlns:p14="http://schemas.microsoft.com/office/powerpoint/2010/main" val="808509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0BB5E-A7E3-3D09-49DE-01F73F18FC84}"/>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F45C5739-F5D0-7634-F5D8-C774072A4687}"/>
              </a:ext>
            </a:extLst>
          </p:cNvPr>
          <p:cNvSpPr>
            <a:spLocks noGrp="1"/>
          </p:cNvSpPr>
          <p:nvPr>
            <p:ph type="title"/>
          </p:nvPr>
        </p:nvSpPr>
        <p:spPr>
          <a:xfrm>
            <a:off x="320725" y="344557"/>
            <a:ext cx="10128200" cy="496366"/>
          </a:xfrm>
        </p:spPr>
        <p:txBody>
          <a:bodyPr/>
          <a:lstStyle/>
          <a:p>
            <a:r>
              <a:rPr lang="fr-FR" dirty="0"/>
              <a:t>cryptographie, Chiffrement, Hachage</a:t>
            </a:r>
          </a:p>
        </p:txBody>
      </p:sp>
      <p:sp>
        <p:nvSpPr>
          <p:cNvPr id="4" name="Sous-titre 3">
            <a:extLst>
              <a:ext uri="{FF2B5EF4-FFF2-40B4-BE49-F238E27FC236}">
                <a16:creationId xmlns:a16="http://schemas.microsoft.com/office/drawing/2014/main" id="{EB9308B7-BC16-C9BD-017D-CE8CCEA7AD7E}"/>
              </a:ext>
            </a:extLst>
          </p:cNvPr>
          <p:cNvSpPr>
            <a:spLocks noGrp="1"/>
          </p:cNvSpPr>
          <p:nvPr>
            <p:ph type="subTitle" idx="1"/>
          </p:nvPr>
        </p:nvSpPr>
        <p:spPr/>
        <p:txBody>
          <a:bodyPr>
            <a:normAutofit/>
          </a:bodyPr>
          <a:lstStyle/>
          <a:p>
            <a:r>
              <a:rPr lang="fr-FR" b="1" dirty="0"/>
              <a:t>⚠️ Mentions légales / Crédits</a:t>
            </a:r>
            <a:endParaRPr lang="fr-FR" sz="2400" dirty="0"/>
          </a:p>
          <a:p>
            <a:endParaRPr lang="fr-FR" sz="2400" dirty="0"/>
          </a:p>
        </p:txBody>
      </p:sp>
      <p:sp>
        <p:nvSpPr>
          <p:cNvPr id="5" name="Espace réservé du texte 4">
            <a:extLst>
              <a:ext uri="{FF2B5EF4-FFF2-40B4-BE49-F238E27FC236}">
                <a16:creationId xmlns:a16="http://schemas.microsoft.com/office/drawing/2014/main" id="{C9DFB69B-8E61-5CE4-742E-0CCB63086156}"/>
              </a:ext>
            </a:extLst>
          </p:cNvPr>
          <p:cNvSpPr>
            <a:spLocks noGrp="1"/>
          </p:cNvSpPr>
          <p:nvPr>
            <p:ph type="body" idx="13"/>
          </p:nvPr>
        </p:nvSpPr>
        <p:spPr/>
        <p:txBody>
          <a:bodyPr anchor="ctr">
            <a:normAutofit/>
          </a:bodyPr>
          <a:lstStyle/>
          <a:p>
            <a:pPr algn="ctr"/>
            <a:r>
              <a:rPr lang="fr-FR" dirty="0"/>
              <a:t>Certains visuels et blocs de texte utilisés dans ce diaporama proviennent du cours </a:t>
            </a:r>
            <a:r>
              <a:rPr lang="fr-FR" dirty="0" err="1"/>
              <a:t>SecNumAcadémie</a:t>
            </a:r>
            <a:r>
              <a:rPr lang="fr-FR" dirty="0"/>
              <a:t>, mis à disposition par l’ANSSI (Agence nationale de la sécurité des systèmes d'information).</a:t>
            </a:r>
          </a:p>
          <a:p>
            <a:pPr algn="ctr"/>
            <a:r>
              <a:rPr lang="fr-FR" dirty="0"/>
              <a:t>Ces ressources sont réutilisées dans un cadre pédagogique, conformément aux conditions d’utilisation de la plateforme.</a:t>
            </a:r>
          </a:p>
          <a:p>
            <a:pPr algn="ctr"/>
            <a:r>
              <a:rPr lang="fr-FR" dirty="0"/>
              <a:t>Pour en savoir plus : </a:t>
            </a:r>
            <a:r>
              <a:rPr lang="fr-FR" dirty="0">
                <a:hlinkClick r:id="rId3"/>
              </a:rPr>
              <a:t>https://www.secnumacademie.gouv.fr</a:t>
            </a:r>
            <a:endParaRPr lang="fr-FR" dirty="0"/>
          </a:p>
        </p:txBody>
      </p:sp>
    </p:spTree>
    <p:extLst>
      <p:ext uri="{BB962C8B-B14F-4D97-AF65-F5344CB8AC3E}">
        <p14:creationId xmlns:p14="http://schemas.microsoft.com/office/powerpoint/2010/main" val="3842290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11C58-5B4A-8721-E091-4383BEAC484C}"/>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58597B9B-025A-4F54-E8E2-119D6A0DE9D6}"/>
              </a:ext>
            </a:extLst>
          </p:cNvPr>
          <p:cNvSpPr>
            <a:spLocks noGrp="1"/>
          </p:cNvSpPr>
          <p:nvPr>
            <p:ph type="title"/>
          </p:nvPr>
        </p:nvSpPr>
        <p:spPr>
          <a:xfrm>
            <a:off x="320725" y="344557"/>
            <a:ext cx="10128200" cy="496366"/>
          </a:xfrm>
        </p:spPr>
        <p:txBody>
          <a:bodyPr/>
          <a:lstStyle/>
          <a:p>
            <a:r>
              <a:rPr lang="fr-FR" dirty="0"/>
              <a:t>cryptographie, Chiffrement, Hachage</a:t>
            </a:r>
          </a:p>
        </p:txBody>
      </p:sp>
      <p:sp>
        <p:nvSpPr>
          <p:cNvPr id="4" name="Sous-titre 3">
            <a:extLst>
              <a:ext uri="{FF2B5EF4-FFF2-40B4-BE49-F238E27FC236}">
                <a16:creationId xmlns:a16="http://schemas.microsoft.com/office/drawing/2014/main" id="{ABE83BE6-08DF-A227-D5CC-CCA1867B97D7}"/>
              </a:ext>
            </a:extLst>
          </p:cNvPr>
          <p:cNvSpPr>
            <a:spLocks noGrp="1"/>
          </p:cNvSpPr>
          <p:nvPr>
            <p:ph type="subTitle" idx="1"/>
          </p:nvPr>
        </p:nvSpPr>
        <p:spPr/>
        <p:txBody>
          <a:bodyPr>
            <a:normAutofit/>
          </a:bodyPr>
          <a:lstStyle/>
          <a:p>
            <a:r>
              <a:rPr lang="fr-FR" sz="2400" dirty="0"/>
              <a:t>Introduction - Problématique</a:t>
            </a:r>
          </a:p>
        </p:txBody>
      </p:sp>
      <p:sp>
        <p:nvSpPr>
          <p:cNvPr id="5" name="Espace réservé du texte 4">
            <a:extLst>
              <a:ext uri="{FF2B5EF4-FFF2-40B4-BE49-F238E27FC236}">
                <a16:creationId xmlns:a16="http://schemas.microsoft.com/office/drawing/2014/main" id="{D483213D-9995-2494-CFB1-6E26A50908DE}"/>
              </a:ext>
            </a:extLst>
          </p:cNvPr>
          <p:cNvSpPr>
            <a:spLocks noGrp="1"/>
          </p:cNvSpPr>
          <p:nvPr>
            <p:ph type="body" idx="13"/>
          </p:nvPr>
        </p:nvSpPr>
        <p:spPr>
          <a:xfrm>
            <a:off x="831850" y="1750507"/>
            <a:ext cx="5370830" cy="4339143"/>
          </a:xfrm>
        </p:spPr>
        <p:txBody>
          <a:bodyPr anchor="ctr">
            <a:normAutofit/>
          </a:bodyPr>
          <a:lstStyle/>
          <a:p>
            <a:pPr algn="ctr"/>
            <a:r>
              <a:rPr lang="fr-FR" dirty="0"/>
              <a:t>Le </a:t>
            </a:r>
            <a:r>
              <a:rPr lang="fr-FR" dirty="0">
                <a:solidFill>
                  <a:srgbClr val="42C5A5"/>
                </a:solidFill>
              </a:rPr>
              <a:t>chiffrement asymétrique </a:t>
            </a:r>
            <a:r>
              <a:rPr lang="fr-FR" dirty="0"/>
              <a:t>n’est pas à l’abri d’une attaque informatique. </a:t>
            </a:r>
          </a:p>
          <a:p>
            <a:pPr algn="ctr"/>
            <a:endParaRPr lang="fr-FR" dirty="0"/>
          </a:p>
          <a:p>
            <a:pPr algn="ctr"/>
            <a:r>
              <a:rPr lang="fr-FR" dirty="0"/>
              <a:t>Il reste en effet vulnérable à une attaque </a:t>
            </a:r>
            <a:r>
              <a:rPr lang="fr-FR" dirty="0" err="1">
                <a:solidFill>
                  <a:srgbClr val="42C5A5"/>
                </a:solidFill>
              </a:rPr>
              <a:t>MitM</a:t>
            </a:r>
            <a:r>
              <a:rPr lang="fr-FR" dirty="0">
                <a:solidFill>
                  <a:srgbClr val="42C5A5"/>
                </a:solidFill>
              </a:rPr>
              <a:t>  (man in the middle) </a:t>
            </a:r>
            <a:r>
              <a:rPr lang="fr-FR" dirty="0"/>
              <a:t>qui a pour but d'intercepter les communications entre deux parties, sans que ni l'une ni l'autre ne puissent se douter que le canal de communication a été compromis. </a:t>
            </a:r>
          </a:p>
        </p:txBody>
      </p:sp>
      <p:pic>
        <p:nvPicPr>
          <p:cNvPr id="2" name="Image 1">
            <a:extLst>
              <a:ext uri="{FF2B5EF4-FFF2-40B4-BE49-F238E27FC236}">
                <a16:creationId xmlns:a16="http://schemas.microsoft.com/office/drawing/2014/main" id="{4ED850FF-2B4B-7BB1-5C4B-FC75BE5BD3E5}"/>
              </a:ext>
            </a:extLst>
          </p:cNvPr>
          <p:cNvPicPr>
            <a:picLocks noChangeAspect="1"/>
          </p:cNvPicPr>
          <p:nvPr/>
        </p:nvPicPr>
        <p:blipFill>
          <a:blip r:embed="rId3"/>
          <a:stretch>
            <a:fillRect/>
          </a:stretch>
        </p:blipFill>
        <p:spPr>
          <a:xfrm>
            <a:off x="6777990" y="2367503"/>
            <a:ext cx="4991100" cy="3105150"/>
          </a:xfrm>
          <a:prstGeom prst="rect">
            <a:avLst/>
          </a:prstGeom>
        </p:spPr>
      </p:pic>
    </p:spTree>
    <p:extLst>
      <p:ext uri="{BB962C8B-B14F-4D97-AF65-F5344CB8AC3E}">
        <p14:creationId xmlns:p14="http://schemas.microsoft.com/office/powerpoint/2010/main" val="2767024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9A8CD-58A1-E6E3-E86A-2F4C0F54583E}"/>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BC75CA5C-39BE-B342-C117-D65D816F6599}"/>
              </a:ext>
            </a:extLst>
          </p:cNvPr>
          <p:cNvSpPr>
            <a:spLocks noGrp="1"/>
          </p:cNvSpPr>
          <p:nvPr>
            <p:ph type="title"/>
          </p:nvPr>
        </p:nvSpPr>
        <p:spPr>
          <a:xfrm>
            <a:off x="320725" y="344557"/>
            <a:ext cx="10128200" cy="496366"/>
          </a:xfrm>
        </p:spPr>
        <p:txBody>
          <a:bodyPr/>
          <a:lstStyle/>
          <a:p>
            <a:r>
              <a:rPr lang="fr-FR" dirty="0"/>
              <a:t>cryptographie, Chiffrement, Hachage</a:t>
            </a:r>
          </a:p>
        </p:txBody>
      </p:sp>
      <p:sp>
        <p:nvSpPr>
          <p:cNvPr id="4" name="Sous-titre 3">
            <a:extLst>
              <a:ext uri="{FF2B5EF4-FFF2-40B4-BE49-F238E27FC236}">
                <a16:creationId xmlns:a16="http://schemas.microsoft.com/office/drawing/2014/main" id="{BA45F51A-75F7-6E71-74F2-B42E2A9AFF9D}"/>
              </a:ext>
            </a:extLst>
          </p:cNvPr>
          <p:cNvSpPr>
            <a:spLocks noGrp="1"/>
          </p:cNvSpPr>
          <p:nvPr>
            <p:ph type="subTitle" idx="1"/>
          </p:nvPr>
        </p:nvSpPr>
        <p:spPr/>
        <p:txBody>
          <a:bodyPr>
            <a:normAutofit/>
          </a:bodyPr>
          <a:lstStyle/>
          <a:p>
            <a:r>
              <a:rPr lang="fr-FR" dirty="0"/>
              <a:t>Introduction - Problématique</a:t>
            </a:r>
            <a:endParaRPr lang="fr-FR" sz="2400" dirty="0"/>
          </a:p>
        </p:txBody>
      </p:sp>
      <p:sp>
        <p:nvSpPr>
          <p:cNvPr id="5" name="Espace réservé du texte 4">
            <a:extLst>
              <a:ext uri="{FF2B5EF4-FFF2-40B4-BE49-F238E27FC236}">
                <a16:creationId xmlns:a16="http://schemas.microsoft.com/office/drawing/2014/main" id="{EF7FAF75-FC19-E2FD-DEE2-AC7AD9309404}"/>
              </a:ext>
            </a:extLst>
          </p:cNvPr>
          <p:cNvSpPr>
            <a:spLocks noGrp="1"/>
          </p:cNvSpPr>
          <p:nvPr>
            <p:ph type="body" idx="13"/>
          </p:nvPr>
        </p:nvSpPr>
        <p:spPr>
          <a:xfrm>
            <a:off x="6276025" y="1750506"/>
            <a:ext cx="5370830" cy="4339143"/>
          </a:xfrm>
        </p:spPr>
        <p:txBody>
          <a:bodyPr anchor="ctr">
            <a:normAutofit/>
          </a:bodyPr>
          <a:lstStyle/>
          <a:p>
            <a:pPr algn="r"/>
            <a:r>
              <a:rPr lang="fr-FR" dirty="0"/>
              <a:t>Si </a:t>
            </a:r>
            <a:r>
              <a:rPr lang="fr-FR" dirty="0">
                <a:solidFill>
                  <a:srgbClr val="42C5A5"/>
                </a:solidFill>
              </a:rPr>
              <a:t>Charlie (adversaire) </a:t>
            </a:r>
            <a:r>
              <a:rPr lang="fr-FR" dirty="0"/>
              <a:t>souhaite intercepter les messages échangés entre </a:t>
            </a:r>
            <a:r>
              <a:rPr lang="fr-FR" dirty="0">
                <a:solidFill>
                  <a:srgbClr val="42C5A5"/>
                </a:solidFill>
              </a:rPr>
              <a:t>Alice</a:t>
            </a:r>
            <a:r>
              <a:rPr lang="fr-FR" dirty="0"/>
              <a:t> et </a:t>
            </a:r>
            <a:r>
              <a:rPr lang="fr-FR" dirty="0">
                <a:solidFill>
                  <a:srgbClr val="42C5A5"/>
                </a:solidFill>
              </a:rPr>
              <a:t>Bob</a:t>
            </a:r>
            <a:r>
              <a:rPr lang="fr-FR" dirty="0"/>
              <a:t>, il peut le faire mais ceux-ci étant chiffrés il ne pourra pas les lire. Supposons maintenant qu’</a:t>
            </a:r>
            <a:r>
              <a:rPr lang="fr-FR" dirty="0">
                <a:solidFill>
                  <a:srgbClr val="42C5A5"/>
                </a:solidFill>
              </a:rPr>
              <a:t>Alice</a:t>
            </a:r>
            <a:r>
              <a:rPr lang="fr-FR" dirty="0"/>
              <a:t> récupère la clé publique de </a:t>
            </a:r>
            <a:r>
              <a:rPr lang="fr-FR" dirty="0">
                <a:solidFill>
                  <a:srgbClr val="42C5A5"/>
                </a:solidFill>
              </a:rPr>
              <a:t>Bob</a:t>
            </a:r>
            <a:r>
              <a:rPr lang="fr-FR" dirty="0"/>
              <a:t> par un email.</a:t>
            </a:r>
          </a:p>
          <a:p>
            <a:pPr algn="r"/>
            <a:r>
              <a:rPr lang="fr-FR" dirty="0"/>
              <a:t>Si cet échange n'est pas protégé en intégrité, </a:t>
            </a:r>
            <a:r>
              <a:rPr lang="fr-FR" dirty="0">
                <a:solidFill>
                  <a:srgbClr val="42C5A5"/>
                </a:solidFill>
              </a:rPr>
              <a:t>Charlie</a:t>
            </a:r>
            <a:r>
              <a:rPr lang="fr-FR" dirty="0"/>
              <a:t> peut remplacer la </a:t>
            </a:r>
            <a:r>
              <a:rPr lang="fr-FR" dirty="0">
                <a:solidFill>
                  <a:srgbClr val="42C5A5"/>
                </a:solidFill>
              </a:rPr>
              <a:t>clé publique </a:t>
            </a:r>
            <a:r>
              <a:rPr lang="fr-FR" dirty="0"/>
              <a:t>envoyée par </a:t>
            </a:r>
            <a:r>
              <a:rPr lang="fr-FR" dirty="0">
                <a:solidFill>
                  <a:srgbClr val="42C5A5"/>
                </a:solidFill>
              </a:rPr>
              <a:t>Bob</a:t>
            </a:r>
            <a:r>
              <a:rPr lang="fr-FR" dirty="0"/>
              <a:t> par la sienne. Lorsqu’</a:t>
            </a:r>
            <a:r>
              <a:rPr lang="fr-FR" dirty="0">
                <a:solidFill>
                  <a:srgbClr val="42C5A5"/>
                </a:solidFill>
              </a:rPr>
              <a:t>Alice</a:t>
            </a:r>
            <a:r>
              <a:rPr lang="fr-FR" dirty="0"/>
              <a:t> chiffrera son message et l'enverra à </a:t>
            </a:r>
            <a:r>
              <a:rPr lang="fr-FR" dirty="0">
                <a:solidFill>
                  <a:srgbClr val="42C5A5"/>
                </a:solidFill>
              </a:rPr>
              <a:t>Bob</a:t>
            </a:r>
            <a:r>
              <a:rPr lang="fr-FR" dirty="0"/>
              <a:t>, </a:t>
            </a:r>
            <a:r>
              <a:rPr lang="fr-FR" dirty="0">
                <a:solidFill>
                  <a:srgbClr val="42C5A5"/>
                </a:solidFill>
              </a:rPr>
              <a:t>Charlie</a:t>
            </a:r>
            <a:r>
              <a:rPr lang="fr-FR" dirty="0"/>
              <a:t> pourra déchiffrer celui-ci en utilisant sa </a:t>
            </a:r>
            <a:r>
              <a:rPr lang="fr-FR" dirty="0">
                <a:solidFill>
                  <a:srgbClr val="42C5A5"/>
                </a:solidFill>
              </a:rPr>
              <a:t>clé privée</a:t>
            </a:r>
            <a:r>
              <a:rPr lang="fr-FR" dirty="0"/>
              <a:t>.</a:t>
            </a:r>
          </a:p>
        </p:txBody>
      </p:sp>
      <p:pic>
        <p:nvPicPr>
          <p:cNvPr id="6" name="Image 5">
            <a:extLst>
              <a:ext uri="{FF2B5EF4-FFF2-40B4-BE49-F238E27FC236}">
                <a16:creationId xmlns:a16="http://schemas.microsoft.com/office/drawing/2014/main" id="{9E092A84-AC70-4724-4346-4C0199EB2CDF}"/>
              </a:ext>
            </a:extLst>
          </p:cNvPr>
          <p:cNvPicPr>
            <a:picLocks noChangeAspect="1"/>
          </p:cNvPicPr>
          <p:nvPr/>
        </p:nvPicPr>
        <p:blipFill>
          <a:blip r:embed="rId3"/>
          <a:stretch>
            <a:fillRect/>
          </a:stretch>
        </p:blipFill>
        <p:spPr>
          <a:xfrm>
            <a:off x="-932498" y="2367503"/>
            <a:ext cx="6848475" cy="3105150"/>
          </a:xfrm>
          <a:prstGeom prst="rect">
            <a:avLst/>
          </a:prstGeom>
        </p:spPr>
      </p:pic>
    </p:spTree>
    <p:extLst>
      <p:ext uri="{BB962C8B-B14F-4D97-AF65-F5344CB8AC3E}">
        <p14:creationId xmlns:p14="http://schemas.microsoft.com/office/powerpoint/2010/main" val="3826748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A9917-0BD7-CB79-292B-64BFFDAB119C}"/>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E84DE3D4-CD8A-B284-CAF6-C43D41DAA903}"/>
              </a:ext>
            </a:extLst>
          </p:cNvPr>
          <p:cNvSpPr>
            <a:spLocks noGrp="1"/>
          </p:cNvSpPr>
          <p:nvPr>
            <p:ph type="title"/>
          </p:nvPr>
        </p:nvSpPr>
        <p:spPr>
          <a:xfrm>
            <a:off x="320725" y="344557"/>
            <a:ext cx="10128200" cy="496366"/>
          </a:xfrm>
        </p:spPr>
        <p:txBody>
          <a:bodyPr/>
          <a:lstStyle/>
          <a:p>
            <a:r>
              <a:rPr lang="fr-FR" dirty="0"/>
              <a:t>cryptographie, Chiffrement, Hachage</a:t>
            </a:r>
          </a:p>
        </p:txBody>
      </p:sp>
      <p:sp>
        <p:nvSpPr>
          <p:cNvPr id="4" name="Sous-titre 3">
            <a:extLst>
              <a:ext uri="{FF2B5EF4-FFF2-40B4-BE49-F238E27FC236}">
                <a16:creationId xmlns:a16="http://schemas.microsoft.com/office/drawing/2014/main" id="{E020E267-8421-9CB3-9A85-8B35353041D0}"/>
              </a:ext>
            </a:extLst>
          </p:cNvPr>
          <p:cNvSpPr>
            <a:spLocks noGrp="1"/>
          </p:cNvSpPr>
          <p:nvPr>
            <p:ph type="subTitle" idx="1"/>
          </p:nvPr>
        </p:nvSpPr>
        <p:spPr/>
        <p:txBody>
          <a:bodyPr>
            <a:normAutofit/>
          </a:bodyPr>
          <a:lstStyle/>
          <a:p>
            <a:r>
              <a:rPr lang="fr-FR" dirty="0"/>
              <a:t>Introduction - Problématique</a:t>
            </a:r>
            <a:endParaRPr lang="fr-FR" sz="2400" dirty="0"/>
          </a:p>
          <a:p>
            <a:endParaRPr lang="fr-FR" sz="2400" dirty="0"/>
          </a:p>
        </p:txBody>
      </p:sp>
      <p:sp>
        <p:nvSpPr>
          <p:cNvPr id="5" name="Espace réservé du texte 4">
            <a:extLst>
              <a:ext uri="{FF2B5EF4-FFF2-40B4-BE49-F238E27FC236}">
                <a16:creationId xmlns:a16="http://schemas.microsoft.com/office/drawing/2014/main" id="{1BDA315B-1EE7-91FC-9EEA-830081723420}"/>
              </a:ext>
            </a:extLst>
          </p:cNvPr>
          <p:cNvSpPr>
            <a:spLocks noGrp="1"/>
          </p:cNvSpPr>
          <p:nvPr>
            <p:ph type="body" idx="13"/>
          </p:nvPr>
        </p:nvSpPr>
        <p:spPr>
          <a:xfrm>
            <a:off x="2303462" y="1699260"/>
            <a:ext cx="7585075" cy="1952463"/>
          </a:xfrm>
        </p:spPr>
        <p:txBody>
          <a:bodyPr anchor="ctr">
            <a:normAutofit/>
          </a:bodyPr>
          <a:lstStyle/>
          <a:p>
            <a:pPr algn="ctr"/>
            <a:r>
              <a:rPr lang="fr-FR" dirty="0"/>
              <a:t>Rien ne l'empêche ensuite de chiffrer ce message en utilisant la clé publique légitime de Bob et de lui envoyer au nom d’Alice.</a:t>
            </a:r>
          </a:p>
        </p:txBody>
      </p:sp>
      <p:pic>
        <p:nvPicPr>
          <p:cNvPr id="2" name="Image 1">
            <a:extLst>
              <a:ext uri="{FF2B5EF4-FFF2-40B4-BE49-F238E27FC236}">
                <a16:creationId xmlns:a16="http://schemas.microsoft.com/office/drawing/2014/main" id="{4514B2AF-66FC-1461-275C-B2FF280DEB2D}"/>
              </a:ext>
            </a:extLst>
          </p:cNvPr>
          <p:cNvPicPr>
            <a:picLocks noChangeAspect="1"/>
          </p:cNvPicPr>
          <p:nvPr/>
        </p:nvPicPr>
        <p:blipFill>
          <a:blip r:embed="rId3"/>
          <a:stretch>
            <a:fillRect/>
          </a:stretch>
        </p:blipFill>
        <p:spPr>
          <a:xfrm>
            <a:off x="2581992" y="3592830"/>
            <a:ext cx="6848475" cy="3105150"/>
          </a:xfrm>
          <a:prstGeom prst="rect">
            <a:avLst/>
          </a:prstGeom>
        </p:spPr>
      </p:pic>
    </p:spTree>
    <p:extLst>
      <p:ext uri="{BB962C8B-B14F-4D97-AF65-F5344CB8AC3E}">
        <p14:creationId xmlns:p14="http://schemas.microsoft.com/office/powerpoint/2010/main" val="1652617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41629-03EA-47E8-24A3-1697024CD74C}"/>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697B6BA2-375B-C843-7117-A58B579CF849}"/>
              </a:ext>
            </a:extLst>
          </p:cNvPr>
          <p:cNvSpPr>
            <a:spLocks noGrp="1"/>
          </p:cNvSpPr>
          <p:nvPr>
            <p:ph type="title"/>
          </p:nvPr>
        </p:nvSpPr>
        <p:spPr>
          <a:xfrm>
            <a:off x="320725" y="344557"/>
            <a:ext cx="10128200" cy="496366"/>
          </a:xfrm>
        </p:spPr>
        <p:txBody>
          <a:bodyPr/>
          <a:lstStyle/>
          <a:p>
            <a:r>
              <a:rPr lang="fr-FR" dirty="0"/>
              <a:t>cryptographie, Chiffrement, Hachage</a:t>
            </a:r>
          </a:p>
        </p:txBody>
      </p:sp>
      <p:sp>
        <p:nvSpPr>
          <p:cNvPr id="4" name="Sous-titre 3">
            <a:extLst>
              <a:ext uri="{FF2B5EF4-FFF2-40B4-BE49-F238E27FC236}">
                <a16:creationId xmlns:a16="http://schemas.microsoft.com/office/drawing/2014/main" id="{21D4C27B-000E-E395-57CB-BCE0BCA7A3B9}"/>
              </a:ext>
            </a:extLst>
          </p:cNvPr>
          <p:cNvSpPr>
            <a:spLocks noGrp="1"/>
          </p:cNvSpPr>
          <p:nvPr>
            <p:ph type="subTitle" idx="1"/>
          </p:nvPr>
        </p:nvSpPr>
        <p:spPr/>
        <p:txBody>
          <a:bodyPr>
            <a:normAutofit/>
          </a:bodyPr>
          <a:lstStyle/>
          <a:p>
            <a:r>
              <a:rPr lang="fr-FR" dirty="0"/>
              <a:t>Introduction - Problématique</a:t>
            </a:r>
            <a:endParaRPr lang="fr-FR" sz="2400" dirty="0"/>
          </a:p>
        </p:txBody>
      </p:sp>
      <p:sp>
        <p:nvSpPr>
          <p:cNvPr id="5" name="Espace réservé du texte 4">
            <a:extLst>
              <a:ext uri="{FF2B5EF4-FFF2-40B4-BE49-F238E27FC236}">
                <a16:creationId xmlns:a16="http://schemas.microsoft.com/office/drawing/2014/main" id="{232112AB-E824-F173-1BC0-E1175B1426B9}"/>
              </a:ext>
            </a:extLst>
          </p:cNvPr>
          <p:cNvSpPr>
            <a:spLocks noGrp="1"/>
          </p:cNvSpPr>
          <p:nvPr>
            <p:ph type="body" idx="13"/>
          </p:nvPr>
        </p:nvSpPr>
        <p:spPr>
          <a:xfrm>
            <a:off x="1228766" y="4560980"/>
            <a:ext cx="9554927" cy="1952463"/>
          </a:xfrm>
        </p:spPr>
        <p:txBody>
          <a:bodyPr anchor="ctr">
            <a:normAutofit/>
          </a:bodyPr>
          <a:lstStyle/>
          <a:p>
            <a:pPr algn="ctr"/>
            <a:r>
              <a:rPr lang="fr-FR" dirty="0"/>
              <a:t>Ni Alice ni Bob ne détecteront la manipulation et Charlie sera en mesure de lire mais aussi de modifier le message envoyé. Il peut procéder de la même manière pour la réponse renvoyée.</a:t>
            </a:r>
          </a:p>
          <a:p>
            <a:pPr algn="ctr"/>
            <a:r>
              <a:rPr lang="fr-FR" dirty="0"/>
              <a:t>Pour résoudre cette problématique, la clé publique doit être transmise de manière intègre (c’est-à-dire non modifiée) à ses correspondants.</a:t>
            </a:r>
          </a:p>
        </p:txBody>
      </p:sp>
      <p:pic>
        <p:nvPicPr>
          <p:cNvPr id="7" name="Image 6">
            <a:extLst>
              <a:ext uri="{FF2B5EF4-FFF2-40B4-BE49-F238E27FC236}">
                <a16:creationId xmlns:a16="http://schemas.microsoft.com/office/drawing/2014/main" id="{C6AC1163-EF1F-187A-FBC1-0D7398F125C0}"/>
              </a:ext>
            </a:extLst>
          </p:cNvPr>
          <p:cNvPicPr>
            <a:picLocks noChangeAspect="1"/>
          </p:cNvPicPr>
          <p:nvPr/>
        </p:nvPicPr>
        <p:blipFill>
          <a:blip r:embed="rId3"/>
          <a:stretch>
            <a:fillRect/>
          </a:stretch>
        </p:blipFill>
        <p:spPr>
          <a:xfrm>
            <a:off x="2671762" y="1525905"/>
            <a:ext cx="6848475" cy="3105150"/>
          </a:xfrm>
          <a:prstGeom prst="rect">
            <a:avLst/>
          </a:prstGeom>
        </p:spPr>
      </p:pic>
    </p:spTree>
    <p:extLst>
      <p:ext uri="{BB962C8B-B14F-4D97-AF65-F5344CB8AC3E}">
        <p14:creationId xmlns:p14="http://schemas.microsoft.com/office/powerpoint/2010/main" val="10435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87EE9-6F43-90DE-6B03-FDAC56C9AA7D}"/>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C4B40253-7985-D878-E9EA-6F774CB08220}"/>
              </a:ext>
            </a:extLst>
          </p:cNvPr>
          <p:cNvSpPr>
            <a:spLocks noGrp="1"/>
          </p:cNvSpPr>
          <p:nvPr>
            <p:ph type="title"/>
          </p:nvPr>
        </p:nvSpPr>
        <p:spPr>
          <a:xfrm>
            <a:off x="320724" y="344557"/>
            <a:ext cx="10126295" cy="496366"/>
          </a:xfrm>
        </p:spPr>
        <p:txBody>
          <a:bodyPr/>
          <a:lstStyle/>
          <a:p>
            <a:r>
              <a:rPr lang="fr-FR" dirty="0"/>
              <a:t>cryptographie, Chiffrement, Hachage</a:t>
            </a:r>
          </a:p>
        </p:txBody>
      </p:sp>
      <p:sp>
        <p:nvSpPr>
          <p:cNvPr id="4" name="Sous-titre 3">
            <a:extLst>
              <a:ext uri="{FF2B5EF4-FFF2-40B4-BE49-F238E27FC236}">
                <a16:creationId xmlns:a16="http://schemas.microsoft.com/office/drawing/2014/main" id="{6DFAD4AF-9EC5-76C4-7FE6-2293CA1AB42E}"/>
              </a:ext>
            </a:extLst>
          </p:cNvPr>
          <p:cNvSpPr>
            <a:spLocks noGrp="1"/>
          </p:cNvSpPr>
          <p:nvPr>
            <p:ph type="subTitle" idx="1"/>
          </p:nvPr>
        </p:nvSpPr>
        <p:spPr/>
        <p:txBody>
          <a:bodyPr>
            <a:normAutofit fontScale="77500" lnSpcReduction="20000"/>
          </a:bodyPr>
          <a:lstStyle/>
          <a:p>
            <a:r>
              <a:rPr lang="fr-FR" dirty="0"/>
              <a:t>Introduction – Déplacement du problème à une autorité</a:t>
            </a:r>
            <a:endParaRPr lang="fr-FR" sz="2400" dirty="0"/>
          </a:p>
        </p:txBody>
      </p:sp>
      <p:sp>
        <p:nvSpPr>
          <p:cNvPr id="5" name="Espace réservé du texte 4">
            <a:extLst>
              <a:ext uri="{FF2B5EF4-FFF2-40B4-BE49-F238E27FC236}">
                <a16:creationId xmlns:a16="http://schemas.microsoft.com/office/drawing/2014/main" id="{481CE438-7C50-63B1-0692-B4822C564FF6}"/>
              </a:ext>
            </a:extLst>
          </p:cNvPr>
          <p:cNvSpPr>
            <a:spLocks noGrp="1"/>
          </p:cNvSpPr>
          <p:nvPr>
            <p:ph type="body" idx="13"/>
          </p:nvPr>
        </p:nvSpPr>
        <p:spPr>
          <a:xfrm>
            <a:off x="831850" y="1750507"/>
            <a:ext cx="7435850" cy="4339143"/>
          </a:xfrm>
        </p:spPr>
        <p:txBody>
          <a:bodyPr anchor="ctr">
            <a:normAutofit/>
          </a:bodyPr>
          <a:lstStyle/>
          <a:p>
            <a:pPr algn="r"/>
            <a:r>
              <a:rPr lang="fr-FR" dirty="0"/>
              <a:t>Les </a:t>
            </a:r>
            <a:r>
              <a:rPr lang="fr-FR" dirty="0">
                <a:solidFill>
                  <a:srgbClr val="42C5A5"/>
                </a:solidFill>
              </a:rPr>
              <a:t>mécanismes de cryptographie </a:t>
            </a:r>
            <a:r>
              <a:rPr lang="fr-FR" dirty="0"/>
              <a:t>permettent de déplacer le problème de protection d’un message à la </a:t>
            </a:r>
            <a:r>
              <a:rPr lang="fr-FR" dirty="0">
                <a:solidFill>
                  <a:srgbClr val="42C5A5"/>
                </a:solidFill>
              </a:rPr>
              <a:t>protection d’une clé</a:t>
            </a:r>
            <a:r>
              <a:rPr lang="fr-FR" dirty="0"/>
              <a:t>.</a:t>
            </a:r>
          </a:p>
          <a:p>
            <a:pPr algn="r"/>
            <a:endParaRPr lang="fr-FR" dirty="0"/>
          </a:p>
          <a:p>
            <a:pPr algn="r"/>
            <a:r>
              <a:rPr lang="fr-FR" dirty="0"/>
              <a:t>Grâce au </a:t>
            </a:r>
            <a:r>
              <a:rPr lang="fr-FR" dirty="0">
                <a:solidFill>
                  <a:srgbClr val="42C5A5"/>
                </a:solidFill>
              </a:rPr>
              <a:t>chiffrement symétrique</a:t>
            </a:r>
            <a:r>
              <a:rPr lang="fr-FR" dirty="0"/>
              <a:t>, on ramène le problème à </a:t>
            </a:r>
            <a:r>
              <a:rPr lang="fr-FR" dirty="0">
                <a:solidFill>
                  <a:srgbClr val="42C5A5"/>
                </a:solidFill>
              </a:rPr>
              <a:t>l’envoi sécurisé d’une clé symétrique </a:t>
            </a:r>
            <a:r>
              <a:rPr lang="fr-FR" dirty="0"/>
              <a:t>(qui servira à chiffrer un ou plusieurs messages).</a:t>
            </a:r>
          </a:p>
        </p:txBody>
      </p:sp>
      <p:pic>
        <p:nvPicPr>
          <p:cNvPr id="6" name="Image 5">
            <a:extLst>
              <a:ext uri="{FF2B5EF4-FFF2-40B4-BE49-F238E27FC236}">
                <a16:creationId xmlns:a16="http://schemas.microsoft.com/office/drawing/2014/main" id="{0635DABA-6145-9306-4D14-F12A8885C942}"/>
              </a:ext>
            </a:extLst>
          </p:cNvPr>
          <p:cNvPicPr>
            <a:picLocks noChangeAspect="1"/>
          </p:cNvPicPr>
          <p:nvPr/>
        </p:nvPicPr>
        <p:blipFill>
          <a:blip r:embed="rId3"/>
          <a:stretch>
            <a:fillRect/>
          </a:stretch>
        </p:blipFill>
        <p:spPr>
          <a:xfrm>
            <a:off x="8542019" y="2015078"/>
            <a:ext cx="3810000" cy="3810000"/>
          </a:xfrm>
          <a:prstGeom prst="rect">
            <a:avLst/>
          </a:prstGeom>
        </p:spPr>
      </p:pic>
    </p:spTree>
    <p:extLst>
      <p:ext uri="{BB962C8B-B14F-4D97-AF65-F5344CB8AC3E}">
        <p14:creationId xmlns:p14="http://schemas.microsoft.com/office/powerpoint/2010/main" val="443231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52DE0-962E-2A3B-81E9-074C5F89C3D6}"/>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11E099CB-21EF-C500-502A-CCE90B1F3C26}"/>
              </a:ext>
            </a:extLst>
          </p:cNvPr>
          <p:cNvSpPr>
            <a:spLocks noGrp="1"/>
          </p:cNvSpPr>
          <p:nvPr>
            <p:ph type="title"/>
          </p:nvPr>
        </p:nvSpPr>
        <p:spPr>
          <a:xfrm>
            <a:off x="320724" y="344557"/>
            <a:ext cx="10126295" cy="496366"/>
          </a:xfrm>
        </p:spPr>
        <p:txBody>
          <a:bodyPr/>
          <a:lstStyle/>
          <a:p>
            <a:r>
              <a:rPr lang="fr-FR" dirty="0"/>
              <a:t>cryptographie, Chiffrement, Hachage</a:t>
            </a:r>
          </a:p>
        </p:txBody>
      </p:sp>
      <p:sp>
        <p:nvSpPr>
          <p:cNvPr id="4" name="Sous-titre 3">
            <a:extLst>
              <a:ext uri="{FF2B5EF4-FFF2-40B4-BE49-F238E27FC236}">
                <a16:creationId xmlns:a16="http://schemas.microsoft.com/office/drawing/2014/main" id="{77B67077-CBAE-385B-5857-2B324F60964E}"/>
              </a:ext>
            </a:extLst>
          </p:cNvPr>
          <p:cNvSpPr>
            <a:spLocks noGrp="1"/>
          </p:cNvSpPr>
          <p:nvPr>
            <p:ph type="subTitle" idx="1"/>
          </p:nvPr>
        </p:nvSpPr>
        <p:spPr/>
        <p:txBody>
          <a:bodyPr>
            <a:normAutofit fontScale="77500" lnSpcReduction="20000"/>
          </a:bodyPr>
          <a:lstStyle/>
          <a:p>
            <a:r>
              <a:rPr lang="fr-FR" dirty="0"/>
              <a:t>Introduction – Déplacement du problème à une autorité</a:t>
            </a:r>
            <a:endParaRPr lang="fr-FR" sz="2400" dirty="0"/>
          </a:p>
        </p:txBody>
      </p:sp>
      <p:sp>
        <p:nvSpPr>
          <p:cNvPr id="5" name="Espace réservé du texte 4">
            <a:extLst>
              <a:ext uri="{FF2B5EF4-FFF2-40B4-BE49-F238E27FC236}">
                <a16:creationId xmlns:a16="http://schemas.microsoft.com/office/drawing/2014/main" id="{FE9CB7F1-EC65-CAD4-D25D-0411D26B55C6}"/>
              </a:ext>
            </a:extLst>
          </p:cNvPr>
          <p:cNvSpPr>
            <a:spLocks noGrp="1"/>
          </p:cNvSpPr>
          <p:nvPr>
            <p:ph type="body" idx="13"/>
          </p:nvPr>
        </p:nvSpPr>
        <p:spPr>
          <a:xfrm>
            <a:off x="831850" y="1750507"/>
            <a:ext cx="7435850" cy="4339143"/>
          </a:xfrm>
        </p:spPr>
        <p:txBody>
          <a:bodyPr anchor="ctr">
            <a:normAutofit/>
          </a:bodyPr>
          <a:lstStyle/>
          <a:p>
            <a:pPr algn="r"/>
            <a:r>
              <a:rPr lang="fr-FR" dirty="0"/>
              <a:t>Grâce au </a:t>
            </a:r>
            <a:r>
              <a:rPr lang="fr-FR" dirty="0">
                <a:solidFill>
                  <a:srgbClr val="42C5A5"/>
                </a:solidFill>
              </a:rPr>
              <a:t>chiffrement asymétrique</a:t>
            </a:r>
            <a:r>
              <a:rPr lang="fr-FR" dirty="0"/>
              <a:t>, on ramène le problème à </a:t>
            </a:r>
            <a:r>
              <a:rPr lang="fr-FR" dirty="0">
                <a:solidFill>
                  <a:srgbClr val="42C5A5"/>
                </a:solidFill>
              </a:rPr>
              <a:t>l’envoi intègre d’une clé publique </a:t>
            </a:r>
            <a:r>
              <a:rPr lang="fr-FR" dirty="0"/>
              <a:t>(qui peut être utilisé pour protéger les clés symétriques à usage unique).</a:t>
            </a:r>
          </a:p>
        </p:txBody>
      </p:sp>
      <p:pic>
        <p:nvPicPr>
          <p:cNvPr id="2" name="Image 1">
            <a:extLst>
              <a:ext uri="{FF2B5EF4-FFF2-40B4-BE49-F238E27FC236}">
                <a16:creationId xmlns:a16="http://schemas.microsoft.com/office/drawing/2014/main" id="{EA3EB799-E97B-499F-8D19-00A2497EF8B7}"/>
              </a:ext>
            </a:extLst>
          </p:cNvPr>
          <p:cNvPicPr>
            <a:picLocks noChangeAspect="1"/>
          </p:cNvPicPr>
          <p:nvPr/>
        </p:nvPicPr>
        <p:blipFill>
          <a:blip r:embed="rId3"/>
          <a:stretch>
            <a:fillRect/>
          </a:stretch>
        </p:blipFill>
        <p:spPr>
          <a:xfrm>
            <a:off x="8542019" y="2015078"/>
            <a:ext cx="3810000" cy="3810000"/>
          </a:xfrm>
          <a:prstGeom prst="rect">
            <a:avLst/>
          </a:prstGeom>
        </p:spPr>
      </p:pic>
    </p:spTree>
    <p:extLst>
      <p:ext uri="{BB962C8B-B14F-4D97-AF65-F5344CB8AC3E}">
        <p14:creationId xmlns:p14="http://schemas.microsoft.com/office/powerpoint/2010/main" val="677709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71BF2-25BF-FAF0-A37A-F69DF85101D9}"/>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6CD6F682-B462-305C-5C39-28EBA4409CBA}"/>
              </a:ext>
            </a:extLst>
          </p:cNvPr>
          <p:cNvSpPr>
            <a:spLocks noGrp="1"/>
          </p:cNvSpPr>
          <p:nvPr>
            <p:ph type="title"/>
          </p:nvPr>
        </p:nvSpPr>
        <p:spPr>
          <a:xfrm>
            <a:off x="320724" y="344557"/>
            <a:ext cx="10126295" cy="496366"/>
          </a:xfrm>
        </p:spPr>
        <p:txBody>
          <a:bodyPr/>
          <a:lstStyle/>
          <a:p>
            <a:r>
              <a:rPr lang="fr-FR" dirty="0"/>
              <a:t>cryptographie, Chiffrement, Hachage</a:t>
            </a:r>
          </a:p>
        </p:txBody>
      </p:sp>
      <p:sp>
        <p:nvSpPr>
          <p:cNvPr id="4" name="Sous-titre 3">
            <a:extLst>
              <a:ext uri="{FF2B5EF4-FFF2-40B4-BE49-F238E27FC236}">
                <a16:creationId xmlns:a16="http://schemas.microsoft.com/office/drawing/2014/main" id="{9F0A4484-4638-789D-9B5C-DCC65B542CFC}"/>
              </a:ext>
            </a:extLst>
          </p:cNvPr>
          <p:cNvSpPr>
            <a:spLocks noGrp="1"/>
          </p:cNvSpPr>
          <p:nvPr>
            <p:ph type="subTitle" idx="1"/>
          </p:nvPr>
        </p:nvSpPr>
        <p:spPr/>
        <p:txBody>
          <a:bodyPr>
            <a:normAutofit fontScale="77500" lnSpcReduction="20000"/>
          </a:bodyPr>
          <a:lstStyle/>
          <a:p>
            <a:r>
              <a:rPr lang="fr-FR" dirty="0"/>
              <a:t>Introduction – Déplacement du problème à une autorité</a:t>
            </a:r>
            <a:endParaRPr lang="fr-FR" sz="2400" dirty="0"/>
          </a:p>
        </p:txBody>
      </p:sp>
      <p:sp>
        <p:nvSpPr>
          <p:cNvPr id="5" name="Espace réservé du texte 4">
            <a:extLst>
              <a:ext uri="{FF2B5EF4-FFF2-40B4-BE49-F238E27FC236}">
                <a16:creationId xmlns:a16="http://schemas.microsoft.com/office/drawing/2014/main" id="{00C3356F-BF90-294C-E42A-1EAC8AC56031}"/>
              </a:ext>
            </a:extLst>
          </p:cNvPr>
          <p:cNvSpPr>
            <a:spLocks noGrp="1"/>
          </p:cNvSpPr>
          <p:nvPr>
            <p:ph type="body" idx="13"/>
          </p:nvPr>
        </p:nvSpPr>
        <p:spPr>
          <a:xfrm>
            <a:off x="831850" y="1750507"/>
            <a:ext cx="7435850" cy="4673153"/>
          </a:xfrm>
        </p:spPr>
        <p:txBody>
          <a:bodyPr anchor="ctr">
            <a:normAutofit/>
          </a:bodyPr>
          <a:lstStyle/>
          <a:p>
            <a:r>
              <a:rPr lang="fr-FR" dirty="0"/>
              <a:t>Une manière de </a:t>
            </a:r>
            <a:r>
              <a:rPr lang="fr-FR" dirty="0">
                <a:solidFill>
                  <a:srgbClr val="42C5A5"/>
                </a:solidFill>
              </a:rPr>
              <a:t>transmettre la clé publique </a:t>
            </a:r>
            <a:r>
              <a:rPr lang="fr-FR" dirty="0"/>
              <a:t>de façon intègre est de </a:t>
            </a:r>
            <a:r>
              <a:rPr lang="fr-FR" dirty="0">
                <a:solidFill>
                  <a:srgbClr val="42C5A5"/>
                </a:solidFill>
              </a:rPr>
              <a:t>rencontrer physiquement son correspondant </a:t>
            </a:r>
            <a:r>
              <a:rPr lang="fr-FR" dirty="0"/>
              <a:t>à cet effet.</a:t>
            </a:r>
          </a:p>
          <a:p>
            <a:r>
              <a:rPr lang="fr-FR" dirty="0"/>
              <a:t>Cependant, cette méthode n’est pas toujours possible !</a:t>
            </a:r>
          </a:p>
          <a:p>
            <a:endParaRPr lang="fr-FR" dirty="0"/>
          </a:p>
          <a:p>
            <a:r>
              <a:rPr lang="fr-FR" dirty="0"/>
              <a:t>D’autres mécanismes de cryptographie asymétrique apportent une solution à ce problème</a:t>
            </a:r>
          </a:p>
          <a:p>
            <a:pPr marL="342900" indent="-342900">
              <a:buFont typeface="Arial" panose="020B0604020202020204" pitchFamily="34" charset="0"/>
              <a:buChar char="•"/>
            </a:pPr>
            <a:r>
              <a:rPr lang="fr-FR" dirty="0"/>
              <a:t>La signature électronique</a:t>
            </a:r>
          </a:p>
          <a:p>
            <a:pPr marL="342900" indent="-342900">
              <a:buFont typeface="Arial" panose="020B0604020202020204" pitchFamily="34" charset="0"/>
              <a:buChar char="•"/>
            </a:pPr>
            <a:r>
              <a:rPr lang="fr-FR" dirty="0"/>
              <a:t>Les certificats</a:t>
            </a:r>
          </a:p>
          <a:p>
            <a:pPr marL="342900" indent="-342900">
              <a:buFont typeface="Arial" panose="020B0604020202020204" pitchFamily="34" charset="0"/>
              <a:buChar char="•"/>
            </a:pPr>
            <a:r>
              <a:rPr lang="fr-FR" dirty="0"/>
              <a:t>Les PKI (Public Key Infrastructure) </a:t>
            </a:r>
          </a:p>
          <a:p>
            <a:pPr marL="800100" lvl="1" indent="-342900">
              <a:buFont typeface="Arial" panose="020B0604020202020204" pitchFamily="34" charset="0"/>
              <a:buChar char="•"/>
            </a:pPr>
            <a:r>
              <a:rPr lang="fr-FR" dirty="0"/>
              <a:t>IGC (Infrastructures de Gestion de Clés) en français</a:t>
            </a:r>
          </a:p>
        </p:txBody>
      </p:sp>
      <p:pic>
        <p:nvPicPr>
          <p:cNvPr id="6" name="Image 5">
            <a:extLst>
              <a:ext uri="{FF2B5EF4-FFF2-40B4-BE49-F238E27FC236}">
                <a16:creationId xmlns:a16="http://schemas.microsoft.com/office/drawing/2014/main" id="{CA50BD13-A402-3EBC-D992-7C30CE999A9A}"/>
              </a:ext>
            </a:extLst>
          </p:cNvPr>
          <p:cNvPicPr>
            <a:picLocks noChangeAspect="1"/>
          </p:cNvPicPr>
          <p:nvPr/>
        </p:nvPicPr>
        <p:blipFill>
          <a:blip r:embed="rId3"/>
          <a:stretch>
            <a:fillRect/>
          </a:stretch>
        </p:blipFill>
        <p:spPr>
          <a:xfrm>
            <a:off x="8542019" y="2015078"/>
            <a:ext cx="3810000" cy="3810000"/>
          </a:xfrm>
          <a:prstGeom prst="rect">
            <a:avLst/>
          </a:prstGeom>
        </p:spPr>
      </p:pic>
    </p:spTree>
    <p:extLst>
      <p:ext uri="{BB962C8B-B14F-4D97-AF65-F5344CB8AC3E}">
        <p14:creationId xmlns:p14="http://schemas.microsoft.com/office/powerpoint/2010/main" val="326345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012D1-5DB7-8A30-8F8E-D4126356F9BA}"/>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8EC5B4C0-8EAB-08C5-EBE4-20CF8B8C4CC4}"/>
              </a:ext>
            </a:extLst>
          </p:cNvPr>
          <p:cNvSpPr>
            <a:spLocks noGrp="1"/>
          </p:cNvSpPr>
          <p:nvPr>
            <p:ph type="title"/>
          </p:nvPr>
        </p:nvSpPr>
        <p:spPr>
          <a:xfrm>
            <a:off x="320724" y="344557"/>
            <a:ext cx="10126295" cy="496366"/>
          </a:xfrm>
        </p:spPr>
        <p:txBody>
          <a:bodyPr/>
          <a:lstStyle/>
          <a:p>
            <a:r>
              <a:rPr lang="fr-FR" dirty="0"/>
              <a:t>cryptographie, Chiffrement, Hachage</a:t>
            </a:r>
          </a:p>
        </p:txBody>
      </p:sp>
      <p:sp>
        <p:nvSpPr>
          <p:cNvPr id="4" name="Sous-titre 3">
            <a:extLst>
              <a:ext uri="{FF2B5EF4-FFF2-40B4-BE49-F238E27FC236}">
                <a16:creationId xmlns:a16="http://schemas.microsoft.com/office/drawing/2014/main" id="{4D9DEA19-D39B-D096-1AF9-8C9B8B9B1BEA}"/>
              </a:ext>
            </a:extLst>
          </p:cNvPr>
          <p:cNvSpPr>
            <a:spLocks noGrp="1"/>
          </p:cNvSpPr>
          <p:nvPr>
            <p:ph type="subTitle" idx="1"/>
          </p:nvPr>
        </p:nvSpPr>
        <p:spPr/>
        <p:txBody>
          <a:bodyPr>
            <a:normAutofit fontScale="77500" lnSpcReduction="20000"/>
          </a:bodyPr>
          <a:lstStyle/>
          <a:p>
            <a:r>
              <a:rPr lang="fr-FR" dirty="0"/>
              <a:t>Introduction – Déplacement du problème à une autorité</a:t>
            </a:r>
            <a:endParaRPr lang="fr-FR" sz="2400" dirty="0"/>
          </a:p>
        </p:txBody>
      </p:sp>
      <p:sp>
        <p:nvSpPr>
          <p:cNvPr id="5" name="Espace réservé du texte 4">
            <a:extLst>
              <a:ext uri="{FF2B5EF4-FFF2-40B4-BE49-F238E27FC236}">
                <a16:creationId xmlns:a16="http://schemas.microsoft.com/office/drawing/2014/main" id="{DA1EB729-3C4A-A9AB-3CD3-8E6D0D21F2FD}"/>
              </a:ext>
            </a:extLst>
          </p:cNvPr>
          <p:cNvSpPr>
            <a:spLocks noGrp="1"/>
          </p:cNvSpPr>
          <p:nvPr>
            <p:ph type="body" idx="13"/>
          </p:nvPr>
        </p:nvSpPr>
        <p:spPr>
          <a:xfrm>
            <a:off x="831850" y="1750507"/>
            <a:ext cx="7435850" cy="4762936"/>
          </a:xfrm>
        </p:spPr>
        <p:txBody>
          <a:bodyPr anchor="ctr">
            <a:normAutofit/>
          </a:bodyPr>
          <a:lstStyle/>
          <a:p>
            <a:pPr algn="r"/>
            <a:r>
              <a:rPr lang="fr-FR" dirty="0"/>
              <a:t>Grâce à ces mécanismes, il est possible </a:t>
            </a:r>
            <a:r>
              <a:rPr lang="fr-FR" dirty="0">
                <a:solidFill>
                  <a:srgbClr val="42C5A5"/>
                </a:solidFill>
              </a:rPr>
              <a:t>d’associer une identité à une clé publique</a:t>
            </a:r>
            <a:r>
              <a:rPr lang="fr-FR" dirty="0"/>
              <a:t>, ce qui va permettre de </a:t>
            </a:r>
            <a:r>
              <a:rPr lang="fr-FR" dirty="0">
                <a:solidFill>
                  <a:srgbClr val="42C5A5"/>
                </a:solidFill>
              </a:rPr>
              <a:t>déplacer le problème à la distribution de la clé publique d’une autorité</a:t>
            </a:r>
            <a:r>
              <a:rPr lang="fr-FR" dirty="0"/>
              <a:t>.</a:t>
            </a:r>
          </a:p>
          <a:p>
            <a:pPr algn="r"/>
            <a:endParaRPr lang="fr-FR" dirty="0"/>
          </a:p>
          <a:p>
            <a:pPr algn="r"/>
            <a:r>
              <a:rPr lang="fr-FR" dirty="0"/>
              <a:t>Ce procédé est celui utilisé par les navigateurs et les systèmes d’exploitation.</a:t>
            </a:r>
          </a:p>
        </p:txBody>
      </p:sp>
      <p:pic>
        <p:nvPicPr>
          <p:cNvPr id="7" name="Image 6">
            <a:extLst>
              <a:ext uri="{FF2B5EF4-FFF2-40B4-BE49-F238E27FC236}">
                <a16:creationId xmlns:a16="http://schemas.microsoft.com/office/drawing/2014/main" id="{36F6DFA9-0A68-EE15-C814-DCBA7DFF5C5B}"/>
              </a:ext>
            </a:extLst>
          </p:cNvPr>
          <p:cNvPicPr>
            <a:picLocks noChangeAspect="1"/>
          </p:cNvPicPr>
          <p:nvPr/>
        </p:nvPicPr>
        <p:blipFill>
          <a:blip r:embed="rId3"/>
          <a:stretch>
            <a:fillRect/>
          </a:stretch>
        </p:blipFill>
        <p:spPr>
          <a:xfrm>
            <a:off x="8542019" y="2015078"/>
            <a:ext cx="3810000" cy="3810000"/>
          </a:xfrm>
          <a:prstGeom prst="rect">
            <a:avLst/>
          </a:prstGeom>
        </p:spPr>
      </p:pic>
    </p:spTree>
    <p:extLst>
      <p:ext uri="{BB962C8B-B14F-4D97-AF65-F5344CB8AC3E}">
        <p14:creationId xmlns:p14="http://schemas.microsoft.com/office/powerpoint/2010/main" val="280078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45FEE-BC50-55AA-5EE5-2BA3514631EC}"/>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11143BC6-8EF9-458D-4760-4812C96B81E2}"/>
              </a:ext>
            </a:extLst>
          </p:cNvPr>
          <p:cNvSpPr>
            <a:spLocks noGrp="1"/>
          </p:cNvSpPr>
          <p:nvPr>
            <p:ph type="title"/>
          </p:nvPr>
        </p:nvSpPr>
        <p:spPr>
          <a:xfrm>
            <a:off x="320725" y="344557"/>
            <a:ext cx="10128200" cy="496366"/>
          </a:xfrm>
        </p:spPr>
        <p:txBody>
          <a:bodyPr/>
          <a:lstStyle/>
          <a:p>
            <a:r>
              <a:rPr lang="fr-FR" dirty="0"/>
              <a:t>cryptographie, Chiffrement, Hachage</a:t>
            </a:r>
          </a:p>
        </p:txBody>
      </p:sp>
      <p:sp>
        <p:nvSpPr>
          <p:cNvPr id="4" name="Sous-titre 3">
            <a:extLst>
              <a:ext uri="{FF2B5EF4-FFF2-40B4-BE49-F238E27FC236}">
                <a16:creationId xmlns:a16="http://schemas.microsoft.com/office/drawing/2014/main" id="{E403764E-8559-6E16-60D0-06BE06AD0447}"/>
              </a:ext>
            </a:extLst>
          </p:cNvPr>
          <p:cNvSpPr>
            <a:spLocks noGrp="1"/>
          </p:cNvSpPr>
          <p:nvPr>
            <p:ph type="subTitle" idx="1"/>
          </p:nvPr>
        </p:nvSpPr>
        <p:spPr/>
        <p:txBody>
          <a:bodyPr>
            <a:normAutofit/>
          </a:bodyPr>
          <a:lstStyle/>
          <a:p>
            <a:r>
              <a:rPr lang="fr-FR" sz="2400" dirty="0"/>
              <a:t>Introduction</a:t>
            </a:r>
          </a:p>
          <a:p>
            <a:endParaRPr lang="fr-FR" sz="2400" dirty="0"/>
          </a:p>
        </p:txBody>
      </p:sp>
      <p:sp>
        <p:nvSpPr>
          <p:cNvPr id="5" name="Espace réservé du texte 4">
            <a:extLst>
              <a:ext uri="{FF2B5EF4-FFF2-40B4-BE49-F238E27FC236}">
                <a16:creationId xmlns:a16="http://schemas.microsoft.com/office/drawing/2014/main" id="{9892EDBD-C5E8-CD3D-75E6-1D5840647F02}"/>
              </a:ext>
            </a:extLst>
          </p:cNvPr>
          <p:cNvSpPr>
            <a:spLocks noGrp="1"/>
          </p:cNvSpPr>
          <p:nvPr>
            <p:ph type="body" idx="13"/>
          </p:nvPr>
        </p:nvSpPr>
        <p:spPr>
          <a:xfrm>
            <a:off x="1228766" y="1805940"/>
            <a:ext cx="9554927" cy="4707503"/>
          </a:xfrm>
        </p:spPr>
        <p:txBody>
          <a:bodyPr anchor="ctr">
            <a:normAutofit/>
          </a:bodyPr>
          <a:lstStyle/>
          <a:p>
            <a:pPr algn="ctr"/>
            <a:r>
              <a:rPr lang="fr-FR" dirty="0"/>
              <a:t>Dans ce cours, nous aborderons ces concepts de signature électronique, certificats et infrastructures à clés publiques.</a:t>
            </a:r>
          </a:p>
          <a:p>
            <a:pPr algn="ctr"/>
            <a:r>
              <a:rPr lang="fr-FR" dirty="0"/>
              <a:t>Ces mécanismes permettent en effet de répondre à la problématique que nous venons de souligner.</a:t>
            </a:r>
          </a:p>
          <a:p>
            <a:pPr algn="ctr"/>
            <a:endParaRPr lang="fr-FR" dirty="0"/>
          </a:p>
        </p:txBody>
      </p:sp>
    </p:spTree>
    <p:extLst>
      <p:ext uri="{BB962C8B-B14F-4D97-AF65-F5344CB8AC3E}">
        <p14:creationId xmlns:p14="http://schemas.microsoft.com/office/powerpoint/2010/main" val="1940397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091C2A07-311A-AF88-E58A-C1A83A346E25}"/>
              </a:ext>
            </a:extLst>
          </p:cNvPr>
          <p:cNvSpPr>
            <a:spLocks noGrp="1"/>
          </p:cNvSpPr>
          <p:nvPr>
            <p:ph sz="quarter" idx="4"/>
          </p:nvPr>
        </p:nvSpPr>
        <p:spPr>
          <a:xfrm>
            <a:off x="5561806" y="228600"/>
            <a:ext cx="6424006" cy="6400800"/>
          </a:xfrm>
        </p:spPr>
        <p:txBody>
          <a:bodyPr>
            <a:normAutofit fontScale="62500" lnSpcReduction="20000"/>
          </a:bodyPr>
          <a:lstStyle/>
          <a:p>
            <a:pPr marL="0" indent="0">
              <a:buNone/>
            </a:pPr>
            <a:r>
              <a:rPr lang="fr-FR" dirty="0">
                <a:solidFill>
                  <a:srgbClr val="42C5A5"/>
                </a:solidFill>
              </a:rPr>
              <a:t>Signature électronique</a:t>
            </a:r>
          </a:p>
          <a:p>
            <a:r>
              <a:rPr lang="fr-FR" sz="3100" dirty="0"/>
              <a:t>Définition</a:t>
            </a:r>
          </a:p>
          <a:p>
            <a:r>
              <a:rPr lang="fr-FR" sz="3100" dirty="0"/>
              <a:t>Rôle</a:t>
            </a:r>
          </a:p>
          <a:p>
            <a:r>
              <a:rPr lang="fr-FR" sz="3100" dirty="0"/>
              <a:t>Fonctionnement</a:t>
            </a:r>
          </a:p>
          <a:p>
            <a:pPr marL="0" indent="0">
              <a:buNone/>
            </a:pPr>
            <a:endParaRPr lang="fr-FR" dirty="0"/>
          </a:p>
          <a:p>
            <a:pPr marL="0" indent="0">
              <a:buNone/>
            </a:pPr>
            <a:r>
              <a:rPr lang="fr-FR" dirty="0">
                <a:solidFill>
                  <a:srgbClr val="42C5A5"/>
                </a:solidFill>
              </a:rPr>
              <a:t>Certificats</a:t>
            </a:r>
          </a:p>
          <a:p>
            <a:r>
              <a:rPr lang="fr-FR" sz="3000" dirty="0"/>
              <a:t>Définition</a:t>
            </a:r>
          </a:p>
          <a:p>
            <a:r>
              <a:rPr lang="fr-FR" sz="3000" dirty="0"/>
              <a:t>Certificat auto-signé vs autorité de confiance</a:t>
            </a:r>
          </a:p>
          <a:p>
            <a:r>
              <a:rPr lang="fr-FR" sz="3000" dirty="0"/>
              <a:t>Certificat (X.509)</a:t>
            </a:r>
          </a:p>
          <a:p>
            <a:r>
              <a:rPr lang="fr-FR" sz="3000" dirty="0"/>
              <a:t>Usages courants des certificats</a:t>
            </a:r>
          </a:p>
          <a:p>
            <a:endParaRPr lang="fr-FR" sz="3000" dirty="0"/>
          </a:p>
          <a:p>
            <a:pPr marL="0" indent="0">
              <a:buNone/>
            </a:pPr>
            <a:r>
              <a:rPr lang="fr-FR" dirty="0">
                <a:solidFill>
                  <a:srgbClr val="42C5A5"/>
                </a:solidFill>
              </a:rPr>
              <a:t>PKI – Public Key Infrastructure</a:t>
            </a:r>
          </a:p>
          <a:p>
            <a:r>
              <a:rPr lang="fr-FR" sz="3000" dirty="0"/>
              <a:t>Définition</a:t>
            </a:r>
          </a:p>
          <a:p>
            <a:r>
              <a:rPr lang="fr-FR" sz="3000" dirty="0"/>
              <a:t>Généralités</a:t>
            </a:r>
          </a:p>
          <a:p>
            <a:r>
              <a:rPr lang="fr-FR" sz="3000" dirty="0"/>
              <a:t>Rôles</a:t>
            </a:r>
          </a:p>
          <a:p>
            <a:r>
              <a:rPr lang="fr-FR" sz="3000" dirty="0"/>
              <a:t>Cycle de vie d’un certificat</a:t>
            </a:r>
          </a:p>
          <a:p>
            <a:r>
              <a:rPr lang="fr-FR" sz="3000" dirty="0"/>
              <a:t>Révocation</a:t>
            </a:r>
          </a:p>
          <a:p>
            <a:r>
              <a:rPr lang="fr-FR" sz="3000" dirty="0"/>
              <a:t>Chaîne de certification</a:t>
            </a:r>
          </a:p>
        </p:txBody>
      </p:sp>
    </p:spTree>
    <p:extLst>
      <p:ext uri="{BB962C8B-B14F-4D97-AF65-F5344CB8AC3E}">
        <p14:creationId xmlns:p14="http://schemas.microsoft.com/office/powerpoint/2010/main" val="3844427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D7410AF7-D7C9-F5D5-4900-ECFEC3868A31}"/>
              </a:ext>
            </a:extLst>
          </p:cNvPr>
          <p:cNvSpPr>
            <a:spLocks noGrp="1"/>
          </p:cNvSpPr>
          <p:nvPr>
            <p:ph type="ctrTitle"/>
          </p:nvPr>
        </p:nvSpPr>
        <p:spPr/>
        <p:txBody>
          <a:bodyPr>
            <a:normAutofit fontScale="90000"/>
          </a:bodyPr>
          <a:lstStyle/>
          <a:p>
            <a:r>
              <a:rPr lang="fr-FR" dirty="0"/>
              <a:t>SIGNATURE électronique</a:t>
            </a:r>
          </a:p>
        </p:txBody>
      </p:sp>
      <p:sp>
        <p:nvSpPr>
          <p:cNvPr id="6" name="Sous-titre 5">
            <a:extLst>
              <a:ext uri="{FF2B5EF4-FFF2-40B4-BE49-F238E27FC236}">
                <a16:creationId xmlns:a16="http://schemas.microsoft.com/office/drawing/2014/main" id="{0C391754-04B0-CA95-003E-1BC9E06B58A8}"/>
              </a:ext>
            </a:extLst>
          </p:cNvPr>
          <p:cNvSpPr>
            <a:spLocks noGrp="1"/>
          </p:cNvSpPr>
          <p:nvPr>
            <p:ph type="subTitle" idx="1"/>
          </p:nvPr>
        </p:nvSpPr>
        <p:spPr/>
        <p:txBody>
          <a:bodyPr/>
          <a:lstStyle/>
          <a:p>
            <a:r>
              <a:rPr lang="fr-FR" dirty="0"/>
              <a:t>Prouver que le message vient bien de la bonne personne</a:t>
            </a:r>
          </a:p>
        </p:txBody>
      </p:sp>
    </p:spTree>
    <p:extLst>
      <p:ext uri="{BB962C8B-B14F-4D97-AF65-F5344CB8AC3E}">
        <p14:creationId xmlns:p14="http://schemas.microsoft.com/office/powerpoint/2010/main" val="1887824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28EDE4B3-40F2-370A-609D-4C235F2D9E5D}"/>
              </a:ext>
            </a:extLst>
          </p:cNvPr>
          <p:cNvSpPr>
            <a:spLocks noGrp="1"/>
          </p:cNvSpPr>
          <p:nvPr>
            <p:ph type="title"/>
          </p:nvPr>
        </p:nvSpPr>
        <p:spPr/>
        <p:txBody>
          <a:bodyPr/>
          <a:lstStyle/>
          <a:p>
            <a:r>
              <a:rPr lang="fr-FR" dirty="0"/>
              <a:t>Signature électronique</a:t>
            </a:r>
          </a:p>
        </p:txBody>
      </p:sp>
      <p:sp>
        <p:nvSpPr>
          <p:cNvPr id="4" name="Sous-titre 3">
            <a:extLst>
              <a:ext uri="{FF2B5EF4-FFF2-40B4-BE49-F238E27FC236}">
                <a16:creationId xmlns:a16="http://schemas.microsoft.com/office/drawing/2014/main" id="{BF875AA4-AF1A-D057-B4F3-EB2F188FDDE7}"/>
              </a:ext>
            </a:extLst>
          </p:cNvPr>
          <p:cNvSpPr>
            <a:spLocks noGrp="1"/>
          </p:cNvSpPr>
          <p:nvPr>
            <p:ph type="subTitle" idx="1"/>
          </p:nvPr>
        </p:nvSpPr>
        <p:spPr/>
        <p:txBody>
          <a:bodyPr>
            <a:normAutofit/>
          </a:bodyPr>
          <a:lstStyle/>
          <a:p>
            <a:r>
              <a:rPr lang="fr-FR" sz="2400" dirty="0"/>
              <a:t>Définition</a:t>
            </a:r>
          </a:p>
          <a:p>
            <a:endParaRPr lang="fr-FR" sz="2400" dirty="0"/>
          </a:p>
        </p:txBody>
      </p:sp>
      <p:sp>
        <p:nvSpPr>
          <p:cNvPr id="5" name="Espace réservé du texte 4">
            <a:extLst>
              <a:ext uri="{FF2B5EF4-FFF2-40B4-BE49-F238E27FC236}">
                <a16:creationId xmlns:a16="http://schemas.microsoft.com/office/drawing/2014/main" id="{9A876296-908A-1007-C2C9-5782DF6A6DAF}"/>
              </a:ext>
            </a:extLst>
          </p:cNvPr>
          <p:cNvSpPr>
            <a:spLocks noGrp="1"/>
          </p:cNvSpPr>
          <p:nvPr>
            <p:ph type="body" idx="13"/>
          </p:nvPr>
        </p:nvSpPr>
        <p:spPr>
          <a:xfrm>
            <a:off x="831850" y="1750507"/>
            <a:ext cx="7984490" cy="4901753"/>
          </a:xfrm>
        </p:spPr>
        <p:txBody>
          <a:bodyPr anchor="ctr">
            <a:normAutofit fontScale="92500" lnSpcReduction="10000"/>
          </a:bodyPr>
          <a:lstStyle/>
          <a:p>
            <a:r>
              <a:rPr lang="fr-FR" sz="3200" dirty="0">
                <a:solidFill>
                  <a:srgbClr val="09253D"/>
                </a:solidFill>
              </a:rPr>
              <a:t>Qu'est-ce qu'une signature électronique ?</a:t>
            </a:r>
          </a:p>
          <a:p>
            <a:pPr marL="457200" indent="-457200">
              <a:buFont typeface="Arial" panose="020B0604020202020204" pitchFamily="34" charset="0"/>
              <a:buChar char="•"/>
            </a:pPr>
            <a:r>
              <a:rPr lang="fr-FR" sz="3200" dirty="0"/>
              <a:t>Une signature électronique est un mécanisme permettant de garantir</a:t>
            </a:r>
          </a:p>
          <a:p>
            <a:pPr marL="914400" lvl="1" indent="-457200">
              <a:buFont typeface="Arial" panose="020B0604020202020204" pitchFamily="34" charset="0"/>
              <a:buChar char="•"/>
            </a:pPr>
            <a:r>
              <a:rPr lang="fr-FR" sz="2800" dirty="0"/>
              <a:t>L'intégrité du document (il n’a pas été modifié)</a:t>
            </a:r>
          </a:p>
          <a:p>
            <a:pPr marL="914400" lvl="1" indent="-457200">
              <a:buFont typeface="Arial" panose="020B0604020202020204" pitchFamily="34" charset="0"/>
              <a:buChar char="•"/>
            </a:pPr>
            <a:r>
              <a:rPr lang="fr-FR" sz="2800" dirty="0"/>
              <a:t>L’authenticité de l’auteur (identité vérifiable)</a:t>
            </a:r>
          </a:p>
          <a:p>
            <a:pPr marL="914400" lvl="1" indent="-457200">
              <a:buFont typeface="Arial" panose="020B0604020202020204" pitchFamily="34" charset="0"/>
              <a:buChar char="•"/>
            </a:pPr>
            <a:r>
              <a:rPr lang="fr-FR" sz="2800" dirty="0"/>
              <a:t>La non-répudiation (l’auteur ne peut pas nier avoir signé)</a:t>
            </a:r>
          </a:p>
          <a:p>
            <a:endParaRPr lang="fr-FR" sz="3200" dirty="0"/>
          </a:p>
          <a:p>
            <a:pPr marL="457200" indent="-457200">
              <a:buFont typeface="Arial" panose="020B0604020202020204" pitchFamily="34" charset="0"/>
              <a:buChar char="•"/>
            </a:pPr>
            <a:r>
              <a:rPr lang="fr-FR" sz="3200" dirty="0"/>
              <a:t>Elle repose sur la cryptographie asymétrique </a:t>
            </a:r>
          </a:p>
          <a:p>
            <a:pPr marL="971550" lvl="1" indent="-514350">
              <a:buFont typeface="+mj-lt"/>
              <a:buAutoNum type="arabicPeriod"/>
            </a:pPr>
            <a:r>
              <a:rPr lang="fr-FR" sz="2800" dirty="0"/>
              <a:t>L’émetteur signe avec sa clé privée</a:t>
            </a:r>
          </a:p>
          <a:p>
            <a:pPr marL="971550" lvl="1" indent="-514350">
              <a:buFont typeface="+mj-lt"/>
              <a:buAutoNum type="arabicPeriod"/>
            </a:pPr>
            <a:r>
              <a:rPr lang="fr-FR" sz="2800" dirty="0"/>
              <a:t>Le récepteur vérifie avec la clé publique</a:t>
            </a:r>
          </a:p>
        </p:txBody>
      </p:sp>
      <p:pic>
        <p:nvPicPr>
          <p:cNvPr id="6" name="Image 5">
            <a:extLst>
              <a:ext uri="{FF2B5EF4-FFF2-40B4-BE49-F238E27FC236}">
                <a16:creationId xmlns:a16="http://schemas.microsoft.com/office/drawing/2014/main" id="{391A46FA-9F29-3052-09F1-981ED798BA4C}"/>
              </a:ext>
            </a:extLst>
          </p:cNvPr>
          <p:cNvPicPr>
            <a:picLocks noChangeAspect="1"/>
          </p:cNvPicPr>
          <p:nvPr/>
        </p:nvPicPr>
        <p:blipFill>
          <a:blip r:embed="rId3"/>
          <a:srcRect l="23588" r="26361"/>
          <a:stretch>
            <a:fillRect/>
          </a:stretch>
        </p:blipFill>
        <p:spPr>
          <a:xfrm>
            <a:off x="8987883" y="1991059"/>
            <a:ext cx="3103787" cy="3858037"/>
          </a:xfrm>
          <a:prstGeom prst="rect">
            <a:avLst/>
          </a:prstGeom>
        </p:spPr>
      </p:pic>
    </p:spTree>
    <p:extLst>
      <p:ext uri="{BB962C8B-B14F-4D97-AF65-F5344CB8AC3E}">
        <p14:creationId xmlns:p14="http://schemas.microsoft.com/office/powerpoint/2010/main" val="38416674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DA71C-C97B-F751-880B-3B187E90F417}"/>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AFCE646F-D853-D91B-BA32-A239ECEFC292}"/>
              </a:ext>
            </a:extLst>
          </p:cNvPr>
          <p:cNvSpPr>
            <a:spLocks noGrp="1"/>
          </p:cNvSpPr>
          <p:nvPr>
            <p:ph type="title"/>
          </p:nvPr>
        </p:nvSpPr>
        <p:spPr/>
        <p:txBody>
          <a:bodyPr/>
          <a:lstStyle/>
          <a:p>
            <a:r>
              <a:rPr lang="fr-FR" dirty="0"/>
              <a:t>Signature électronique</a:t>
            </a:r>
          </a:p>
        </p:txBody>
      </p:sp>
      <p:sp>
        <p:nvSpPr>
          <p:cNvPr id="4" name="Sous-titre 3">
            <a:extLst>
              <a:ext uri="{FF2B5EF4-FFF2-40B4-BE49-F238E27FC236}">
                <a16:creationId xmlns:a16="http://schemas.microsoft.com/office/drawing/2014/main" id="{4A880285-CEED-9D31-AC84-E9373C189C4C}"/>
              </a:ext>
            </a:extLst>
          </p:cNvPr>
          <p:cNvSpPr>
            <a:spLocks noGrp="1"/>
          </p:cNvSpPr>
          <p:nvPr>
            <p:ph type="subTitle" idx="1"/>
          </p:nvPr>
        </p:nvSpPr>
        <p:spPr/>
        <p:txBody>
          <a:bodyPr>
            <a:normAutofit/>
          </a:bodyPr>
          <a:lstStyle/>
          <a:p>
            <a:r>
              <a:rPr lang="fr-FR" sz="2400" dirty="0"/>
              <a:t>Rôle</a:t>
            </a:r>
          </a:p>
          <a:p>
            <a:endParaRPr lang="fr-FR" sz="2400" dirty="0"/>
          </a:p>
        </p:txBody>
      </p:sp>
      <p:sp>
        <p:nvSpPr>
          <p:cNvPr id="5" name="Espace réservé du texte 4">
            <a:extLst>
              <a:ext uri="{FF2B5EF4-FFF2-40B4-BE49-F238E27FC236}">
                <a16:creationId xmlns:a16="http://schemas.microsoft.com/office/drawing/2014/main" id="{99A26C45-EE78-7DC6-2D62-61390C75F96F}"/>
              </a:ext>
            </a:extLst>
          </p:cNvPr>
          <p:cNvSpPr>
            <a:spLocks noGrp="1"/>
          </p:cNvSpPr>
          <p:nvPr>
            <p:ph type="body" idx="13"/>
          </p:nvPr>
        </p:nvSpPr>
        <p:spPr>
          <a:xfrm>
            <a:off x="831850" y="1750507"/>
            <a:ext cx="10515600" cy="4886513"/>
          </a:xfrm>
        </p:spPr>
        <p:txBody>
          <a:bodyPr anchor="ctr">
            <a:normAutofit fontScale="92500" lnSpcReduction="20000"/>
          </a:bodyPr>
          <a:lstStyle/>
          <a:p>
            <a:r>
              <a:rPr lang="fr-FR" sz="3200" dirty="0">
                <a:solidFill>
                  <a:srgbClr val="09253D"/>
                </a:solidFill>
              </a:rPr>
              <a:t>Pourquoi utiliser une signature électronique ?</a:t>
            </a:r>
          </a:p>
          <a:p>
            <a:pPr marL="457200" indent="-457200">
              <a:buFont typeface="Arial" panose="020B0604020202020204" pitchFamily="34" charset="0"/>
              <a:buChar char="•"/>
            </a:pPr>
            <a:r>
              <a:rPr lang="fr-FR" sz="3200" dirty="0"/>
              <a:t>Pour éviter une attaque de type Man-in-the-Middle (</a:t>
            </a:r>
            <a:r>
              <a:rPr lang="fr-FR" sz="3200" dirty="0" err="1"/>
              <a:t>MiTM</a:t>
            </a:r>
            <a:r>
              <a:rPr lang="fr-FR" sz="3200" dirty="0"/>
              <a:t>), il est essentiel</a:t>
            </a:r>
          </a:p>
          <a:p>
            <a:pPr marL="914400" lvl="1" indent="-457200">
              <a:buFont typeface="Arial" panose="020B0604020202020204" pitchFamily="34" charset="0"/>
              <a:buChar char="•"/>
            </a:pPr>
            <a:r>
              <a:rPr lang="fr-FR" sz="2800" dirty="0"/>
              <a:t>D'obtenir la clé publique depuis une source de confiance </a:t>
            </a:r>
          </a:p>
          <a:p>
            <a:pPr marL="914400" lvl="1" indent="-457200">
              <a:buFont typeface="Arial" panose="020B0604020202020204" pitchFamily="34" charset="0"/>
              <a:buChar char="•"/>
            </a:pPr>
            <a:r>
              <a:rPr lang="fr-FR" sz="2800" dirty="0"/>
              <a:t>De pouvoir en vérifier l’intégrité de cette clé</a:t>
            </a:r>
          </a:p>
          <a:p>
            <a:pPr marL="457200" indent="-457200">
              <a:buFont typeface="Arial" panose="020B0604020202020204" pitchFamily="34" charset="0"/>
              <a:buChar char="•"/>
            </a:pPr>
            <a:r>
              <a:rPr lang="fr-FR" sz="3200" dirty="0"/>
              <a:t>Cela garantit que la clé n’a pas été altérée ou remplacée par un tiers malveillant</a:t>
            </a:r>
          </a:p>
          <a:p>
            <a:pPr marL="457200" indent="-457200">
              <a:buFont typeface="Arial" panose="020B0604020202020204" pitchFamily="34" charset="0"/>
              <a:buChar char="•"/>
            </a:pPr>
            <a:r>
              <a:rPr lang="fr-FR" sz="3200" dirty="0"/>
              <a:t>Pour s’assurer qu’une donnée est transmise de manière intègre, deux procédés de cryptographie asymétrique doivent être utilisés</a:t>
            </a:r>
          </a:p>
          <a:p>
            <a:pPr marL="914400" lvl="1" indent="-457200">
              <a:buFont typeface="Arial" panose="020B0604020202020204" pitchFamily="34" charset="0"/>
              <a:buChar char="•"/>
            </a:pPr>
            <a:r>
              <a:rPr lang="fr-FR" sz="2800" dirty="0"/>
              <a:t>La signature </a:t>
            </a:r>
          </a:p>
          <a:p>
            <a:pPr marL="914400" lvl="1" indent="-457200">
              <a:buFont typeface="Arial" panose="020B0604020202020204" pitchFamily="34" charset="0"/>
              <a:buChar char="•"/>
            </a:pPr>
            <a:r>
              <a:rPr lang="fr-FR" sz="2800" dirty="0"/>
              <a:t>Le certificat numérique</a:t>
            </a:r>
          </a:p>
        </p:txBody>
      </p:sp>
    </p:spTree>
    <p:extLst>
      <p:ext uri="{BB962C8B-B14F-4D97-AF65-F5344CB8AC3E}">
        <p14:creationId xmlns:p14="http://schemas.microsoft.com/office/powerpoint/2010/main" val="2172029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02793-3E48-4932-9B7B-33F87264DE35}"/>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67B1F8F7-7941-6CA3-B643-B5C1CE0347C6}"/>
              </a:ext>
            </a:extLst>
          </p:cNvPr>
          <p:cNvSpPr>
            <a:spLocks noGrp="1"/>
          </p:cNvSpPr>
          <p:nvPr>
            <p:ph type="title"/>
          </p:nvPr>
        </p:nvSpPr>
        <p:spPr/>
        <p:txBody>
          <a:bodyPr/>
          <a:lstStyle/>
          <a:p>
            <a:r>
              <a:rPr lang="fr-FR" dirty="0"/>
              <a:t>Signature électronique</a:t>
            </a:r>
          </a:p>
        </p:txBody>
      </p:sp>
      <p:sp>
        <p:nvSpPr>
          <p:cNvPr id="4" name="Sous-titre 3">
            <a:extLst>
              <a:ext uri="{FF2B5EF4-FFF2-40B4-BE49-F238E27FC236}">
                <a16:creationId xmlns:a16="http://schemas.microsoft.com/office/drawing/2014/main" id="{69944C6C-9C78-B671-3C62-28B703A1C78A}"/>
              </a:ext>
            </a:extLst>
          </p:cNvPr>
          <p:cNvSpPr>
            <a:spLocks noGrp="1"/>
          </p:cNvSpPr>
          <p:nvPr>
            <p:ph type="subTitle" idx="1"/>
          </p:nvPr>
        </p:nvSpPr>
        <p:spPr/>
        <p:txBody>
          <a:bodyPr>
            <a:normAutofit/>
          </a:bodyPr>
          <a:lstStyle/>
          <a:p>
            <a:r>
              <a:rPr lang="fr-FR" sz="2400" dirty="0"/>
              <a:t>Fonctionnement</a:t>
            </a:r>
          </a:p>
          <a:p>
            <a:endParaRPr lang="fr-FR" sz="2400" dirty="0"/>
          </a:p>
        </p:txBody>
      </p:sp>
      <p:sp>
        <p:nvSpPr>
          <p:cNvPr id="5" name="Espace réservé du texte 4">
            <a:extLst>
              <a:ext uri="{FF2B5EF4-FFF2-40B4-BE49-F238E27FC236}">
                <a16:creationId xmlns:a16="http://schemas.microsoft.com/office/drawing/2014/main" id="{8E12B535-82D5-65D1-949F-02C3CA28E69E}"/>
              </a:ext>
            </a:extLst>
          </p:cNvPr>
          <p:cNvSpPr>
            <a:spLocks noGrp="1"/>
          </p:cNvSpPr>
          <p:nvPr>
            <p:ph type="body" idx="13"/>
          </p:nvPr>
        </p:nvSpPr>
        <p:spPr>
          <a:xfrm>
            <a:off x="4701540" y="1630681"/>
            <a:ext cx="7414260" cy="5044440"/>
          </a:xfrm>
        </p:spPr>
        <p:txBody>
          <a:bodyPr anchor="ctr">
            <a:normAutofit/>
          </a:bodyPr>
          <a:lstStyle/>
          <a:p>
            <a:r>
              <a:rPr lang="fr-FR" sz="3200" dirty="0">
                <a:solidFill>
                  <a:srgbClr val="09253D"/>
                </a:solidFill>
              </a:rPr>
              <a:t>Comment ça marche ?</a:t>
            </a:r>
          </a:p>
          <a:p>
            <a:pPr marL="457200" indent="-457200">
              <a:buFont typeface="Arial" panose="020B0604020202020204" pitchFamily="34" charset="0"/>
              <a:buChar char="•"/>
            </a:pPr>
            <a:r>
              <a:rPr lang="fr-FR" dirty="0"/>
              <a:t>Le processus de signature diffère du chiffrement</a:t>
            </a:r>
          </a:p>
          <a:p>
            <a:pPr marL="914400" lvl="1" indent="-457200">
              <a:buFont typeface="Arial" panose="020B0604020202020204" pitchFamily="34" charset="0"/>
              <a:buChar char="•"/>
            </a:pPr>
            <a:r>
              <a:rPr lang="fr-FR" dirty="0"/>
              <a:t>Pour signer une donnée (message, clé publique, etc.), on utilise une clé privée</a:t>
            </a:r>
          </a:p>
          <a:p>
            <a:pPr marL="914400" lvl="1" indent="-457200">
              <a:buFont typeface="Arial" panose="020B0604020202020204" pitchFamily="34" charset="0"/>
              <a:buChar char="•"/>
            </a:pPr>
            <a:r>
              <a:rPr lang="fr-FR" dirty="0"/>
              <a:t>Pour vérifier cette signature, on utilise la clé publique correspondante</a:t>
            </a:r>
          </a:p>
          <a:p>
            <a:pPr marL="457200" indent="-457200">
              <a:buFont typeface="Arial" panose="020B0604020202020204" pitchFamily="34" charset="0"/>
              <a:buChar char="•"/>
            </a:pPr>
            <a:r>
              <a:rPr lang="fr-FR" dirty="0"/>
              <a:t>Ce mécanisme permet au destinataire</a:t>
            </a:r>
          </a:p>
          <a:p>
            <a:pPr marL="914400" lvl="1" indent="-457200">
              <a:buFont typeface="Arial" panose="020B0604020202020204" pitchFamily="34" charset="0"/>
              <a:buChar char="•"/>
            </a:pPr>
            <a:r>
              <a:rPr lang="fr-FR" dirty="0"/>
              <a:t>De garantir l’intégrité de la donnée reçue</a:t>
            </a:r>
          </a:p>
          <a:p>
            <a:pPr marL="914400" lvl="1" indent="-457200">
              <a:buFont typeface="Arial" panose="020B0604020202020204" pitchFamily="34" charset="0"/>
              <a:buChar char="•"/>
            </a:pPr>
            <a:r>
              <a:rPr lang="fr-FR" dirty="0"/>
              <a:t>De s’assurer qu’elle provient bien du détenteur légitime de la clé privée</a:t>
            </a:r>
          </a:p>
          <a:p>
            <a:pPr marL="914400" lvl="1" indent="-457200">
              <a:buFont typeface="Arial" panose="020B0604020202020204" pitchFamily="34" charset="0"/>
              <a:buChar char="•"/>
            </a:pPr>
            <a:r>
              <a:rPr lang="fr-FR" dirty="0"/>
              <a:t>Autrement dit, que la donnée n’a pas été altérée pendant la transmission</a:t>
            </a:r>
            <a:endParaRPr lang="fr-FR" sz="1600" dirty="0"/>
          </a:p>
        </p:txBody>
      </p:sp>
      <p:pic>
        <p:nvPicPr>
          <p:cNvPr id="7" name="Image 6">
            <a:extLst>
              <a:ext uri="{FF2B5EF4-FFF2-40B4-BE49-F238E27FC236}">
                <a16:creationId xmlns:a16="http://schemas.microsoft.com/office/drawing/2014/main" id="{3A54C069-986C-D016-9ACE-1AA9D6FDA98E}"/>
              </a:ext>
            </a:extLst>
          </p:cNvPr>
          <p:cNvPicPr>
            <a:picLocks noChangeAspect="1"/>
          </p:cNvPicPr>
          <p:nvPr/>
        </p:nvPicPr>
        <p:blipFill>
          <a:blip r:embed="rId3"/>
          <a:srcRect l="5877" r="4504"/>
          <a:stretch>
            <a:fillRect/>
          </a:stretch>
        </p:blipFill>
        <p:spPr>
          <a:xfrm>
            <a:off x="76200" y="2367503"/>
            <a:ext cx="4472940" cy="3105150"/>
          </a:xfrm>
          <a:prstGeom prst="rect">
            <a:avLst/>
          </a:prstGeom>
        </p:spPr>
      </p:pic>
    </p:spTree>
    <p:extLst>
      <p:ext uri="{BB962C8B-B14F-4D97-AF65-F5344CB8AC3E}">
        <p14:creationId xmlns:p14="http://schemas.microsoft.com/office/powerpoint/2010/main" val="16809050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6880A-4DD5-4FB4-DFE8-BCA42B477E99}"/>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DA0DEA6C-F9EE-6CCF-393C-030CE7812D66}"/>
              </a:ext>
            </a:extLst>
          </p:cNvPr>
          <p:cNvSpPr>
            <a:spLocks noGrp="1"/>
          </p:cNvSpPr>
          <p:nvPr>
            <p:ph type="title"/>
          </p:nvPr>
        </p:nvSpPr>
        <p:spPr/>
        <p:txBody>
          <a:bodyPr/>
          <a:lstStyle/>
          <a:p>
            <a:r>
              <a:rPr lang="fr-FR" dirty="0"/>
              <a:t>Signature électronique</a:t>
            </a:r>
          </a:p>
        </p:txBody>
      </p:sp>
      <p:sp>
        <p:nvSpPr>
          <p:cNvPr id="4" name="Sous-titre 3">
            <a:extLst>
              <a:ext uri="{FF2B5EF4-FFF2-40B4-BE49-F238E27FC236}">
                <a16:creationId xmlns:a16="http://schemas.microsoft.com/office/drawing/2014/main" id="{3D4E8253-C35C-7A1C-5099-50669426E0C4}"/>
              </a:ext>
            </a:extLst>
          </p:cNvPr>
          <p:cNvSpPr>
            <a:spLocks noGrp="1"/>
          </p:cNvSpPr>
          <p:nvPr>
            <p:ph type="subTitle" idx="1"/>
          </p:nvPr>
        </p:nvSpPr>
        <p:spPr/>
        <p:txBody>
          <a:bodyPr>
            <a:normAutofit/>
          </a:bodyPr>
          <a:lstStyle/>
          <a:p>
            <a:r>
              <a:rPr lang="fr-FR" sz="2400" dirty="0"/>
              <a:t>Fonctionnement</a:t>
            </a:r>
          </a:p>
          <a:p>
            <a:endParaRPr lang="fr-FR" sz="2400" dirty="0"/>
          </a:p>
        </p:txBody>
      </p:sp>
      <p:sp>
        <p:nvSpPr>
          <p:cNvPr id="5" name="Espace réservé du texte 4">
            <a:extLst>
              <a:ext uri="{FF2B5EF4-FFF2-40B4-BE49-F238E27FC236}">
                <a16:creationId xmlns:a16="http://schemas.microsoft.com/office/drawing/2014/main" id="{17FB8C0A-9FA9-9A1D-E2A1-09C25BAD716B}"/>
              </a:ext>
            </a:extLst>
          </p:cNvPr>
          <p:cNvSpPr>
            <a:spLocks noGrp="1"/>
          </p:cNvSpPr>
          <p:nvPr>
            <p:ph type="body" idx="13"/>
          </p:nvPr>
        </p:nvSpPr>
        <p:spPr>
          <a:xfrm>
            <a:off x="84210" y="1552530"/>
            <a:ext cx="6011790" cy="5227319"/>
          </a:xfrm>
        </p:spPr>
        <p:txBody>
          <a:bodyPr anchor="ctr">
            <a:normAutofit/>
          </a:bodyPr>
          <a:lstStyle/>
          <a:p>
            <a:r>
              <a:rPr lang="fr-FR" sz="3200" dirty="0">
                <a:solidFill>
                  <a:srgbClr val="09253D"/>
                </a:solidFill>
              </a:rPr>
              <a:t>Comment ça marche ?</a:t>
            </a:r>
          </a:p>
          <a:p>
            <a:r>
              <a:rPr lang="fr-FR" sz="2000" dirty="0"/>
              <a:t>Le processus de signature diffère du chiffrement</a:t>
            </a:r>
          </a:p>
          <a:p>
            <a:pPr marL="914400" lvl="1" indent="-457200">
              <a:buFont typeface="+mj-lt"/>
              <a:buAutoNum type="arabicPeriod"/>
            </a:pPr>
            <a:r>
              <a:rPr lang="fr-FR" dirty="0">
                <a:solidFill>
                  <a:srgbClr val="42C5A5"/>
                </a:solidFill>
              </a:rPr>
              <a:t>Signature </a:t>
            </a:r>
            <a:r>
              <a:rPr lang="fr-FR" dirty="0">
                <a:solidFill>
                  <a:srgbClr val="898989"/>
                </a:solidFill>
              </a:rPr>
              <a:t>avec la </a:t>
            </a:r>
            <a:r>
              <a:rPr lang="fr-FR" dirty="0">
                <a:solidFill>
                  <a:srgbClr val="42C5A5"/>
                </a:solidFill>
              </a:rPr>
              <a:t>clé privée</a:t>
            </a:r>
          </a:p>
          <a:p>
            <a:pPr marL="1371600" lvl="2" indent="-457200">
              <a:buFont typeface="Arial" panose="020B0604020202020204" pitchFamily="34" charset="0"/>
              <a:buChar char="•"/>
            </a:pPr>
            <a:r>
              <a:rPr lang="fr-FR" dirty="0"/>
              <a:t>Pour signer le hash d’une donnée (message, clé publique, etc.), on utilise une</a:t>
            </a:r>
            <a:r>
              <a:rPr lang="fr-FR" dirty="0">
                <a:solidFill>
                  <a:srgbClr val="898989"/>
                </a:solidFill>
              </a:rPr>
              <a:t> clé privée</a:t>
            </a:r>
          </a:p>
          <a:p>
            <a:pPr marL="914400" lvl="1" indent="-457200">
              <a:buFont typeface="+mj-lt"/>
              <a:buAutoNum type="arabicPeriod"/>
            </a:pPr>
            <a:r>
              <a:rPr lang="fr-FR" dirty="0">
                <a:solidFill>
                  <a:srgbClr val="42C5A5"/>
                </a:solidFill>
              </a:rPr>
              <a:t>Vérification </a:t>
            </a:r>
            <a:r>
              <a:rPr lang="fr-FR" dirty="0">
                <a:solidFill>
                  <a:srgbClr val="898989"/>
                </a:solidFill>
              </a:rPr>
              <a:t>de la signature avec la </a:t>
            </a:r>
            <a:r>
              <a:rPr lang="fr-FR" dirty="0">
                <a:solidFill>
                  <a:srgbClr val="42C5A5"/>
                </a:solidFill>
              </a:rPr>
              <a:t>clé publique</a:t>
            </a:r>
          </a:p>
          <a:p>
            <a:pPr marL="1371600" lvl="2" indent="-457200">
              <a:buFont typeface="Arial" panose="020B0604020202020204" pitchFamily="34" charset="0"/>
              <a:buChar char="•"/>
            </a:pPr>
            <a:r>
              <a:rPr lang="fr-FR" dirty="0"/>
              <a:t>Pour vérifier cette signature, </a:t>
            </a:r>
            <a:r>
              <a:rPr lang="fr-FR" dirty="0">
                <a:solidFill>
                  <a:srgbClr val="898989"/>
                </a:solidFill>
              </a:rPr>
              <a:t>on utilise la clé publique correspondante</a:t>
            </a:r>
          </a:p>
          <a:p>
            <a:pPr marL="457200" indent="-457200">
              <a:buFont typeface="Arial" panose="020B0604020202020204" pitchFamily="34" charset="0"/>
              <a:buChar char="•"/>
            </a:pPr>
            <a:r>
              <a:rPr lang="fr-FR" dirty="0"/>
              <a:t>Ce mécanisme permet au destinataire</a:t>
            </a:r>
          </a:p>
          <a:p>
            <a:pPr marL="914400" lvl="1" indent="-457200">
              <a:buFont typeface="Arial" panose="020B0604020202020204" pitchFamily="34" charset="0"/>
              <a:buChar char="•"/>
            </a:pPr>
            <a:r>
              <a:rPr lang="fr-FR" dirty="0"/>
              <a:t>De garantir l’intégrité de la donnée reçue</a:t>
            </a:r>
          </a:p>
          <a:p>
            <a:pPr marL="914400" lvl="1" indent="-457200">
              <a:buFont typeface="Arial" panose="020B0604020202020204" pitchFamily="34" charset="0"/>
              <a:buChar char="•"/>
            </a:pPr>
            <a:r>
              <a:rPr lang="fr-FR" dirty="0"/>
              <a:t>De s’assurer qu’elle provient bien du détenteur de la clé privée</a:t>
            </a:r>
          </a:p>
          <a:p>
            <a:pPr marL="914400" lvl="1" indent="-457200">
              <a:buFont typeface="Arial" panose="020B0604020202020204" pitchFamily="34" charset="0"/>
              <a:buChar char="•"/>
            </a:pPr>
            <a:r>
              <a:rPr lang="fr-FR" dirty="0"/>
              <a:t>Autrement dit, que la donnée n’a pas été altérée pendant la transmission !</a:t>
            </a:r>
            <a:endParaRPr lang="fr-FR" sz="1600" dirty="0"/>
          </a:p>
        </p:txBody>
      </p:sp>
      <p:pic>
        <p:nvPicPr>
          <p:cNvPr id="7" name="Image 6">
            <a:extLst>
              <a:ext uri="{FF2B5EF4-FFF2-40B4-BE49-F238E27FC236}">
                <a16:creationId xmlns:a16="http://schemas.microsoft.com/office/drawing/2014/main" id="{4512839F-B791-630A-125F-F5C1B293567A}"/>
              </a:ext>
            </a:extLst>
          </p:cNvPr>
          <p:cNvPicPr>
            <a:picLocks noChangeAspect="1"/>
          </p:cNvPicPr>
          <p:nvPr/>
        </p:nvPicPr>
        <p:blipFill>
          <a:blip r:embed="rId3"/>
          <a:srcRect l="5877" r="4504"/>
          <a:stretch>
            <a:fillRect/>
          </a:stretch>
        </p:blipFill>
        <p:spPr>
          <a:xfrm>
            <a:off x="6170142" y="2161420"/>
            <a:ext cx="5775702" cy="4009538"/>
          </a:xfrm>
          <a:prstGeom prst="rect">
            <a:avLst/>
          </a:prstGeom>
        </p:spPr>
      </p:pic>
    </p:spTree>
    <p:extLst>
      <p:ext uri="{BB962C8B-B14F-4D97-AF65-F5344CB8AC3E}">
        <p14:creationId xmlns:p14="http://schemas.microsoft.com/office/powerpoint/2010/main" val="12823519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69F26-CEF4-0F90-8CE2-0F7BFF188DBC}"/>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74AE8A94-2C1C-33CE-7A0B-18C457DDE9BF}"/>
              </a:ext>
            </a:extLst>
          </p:cNvPr>
          <p:cNvSpPr>
            <a:spLocks noGrp="1"/>
          </p:cNvSpPr>
          <p:nvPr>
            <p:ph type="title"/>
          </p:nvPr>
        </p:nvSpPr>
        <p:spPr/>
        <p:txBody>
          <a:bodyPr/>
          <a:lstStyle/>
          <a:p>
            <a:r>
              <a:rPr lang="fr-FR" dirty="0"/>
              <a:t>Signature électronique</a:t>
            </a:r>
          </a:p>
        </p:txBody>
      </p:sp>
      <p:sp>
        <p:nvSpPr>
          <p:cNvPr id="4" name="Sous-titre 3">
            <a:extLst>
              <a:ext uri="{FF2B5EF4-FFF2-40B4-BE49-F238E27FC236}">
                <a16:creationId xmlns:a16="http://schemas.microsoft.com/office/drawing/2014/main" id="{AD6514E1-22BD-22F9-CE9B-E470175A72A1}"/>
              </a:ext>
            </a:extLst>
          </p:cNvPr>
          <p:cNvSpPr>
            <a:spLocks noGrp="1"/>
          </p:cNvSpPr>
          <p:nvPr>
            <p:ph type="subTitle" idx="1"/>
          </p:nvPr>
        </p:nvSpPr>
        <p:spPr/>
        <p:txBody>
          <a:bodyPr>
            <a:normAutofit/>
          </a:bodyPr>
          <a:lstStyle/>
          <a:p>
            <a:r>
              <a:rPr lang="fr-FR" sz="2400" dirty="0"/>
              <a:t>Fonctionnement</a:t>
            </a:r>
          </a:p>
          <a:p>
            <a:endParaRPr lang="fr-FR" sz="2400" dirty="0"/>
          </a:p>
        </p:txBody>
      </p:sp>
      <p:graphicFrame>
        <p:nvGraphicFramePr>
          <p:cNvPr id="9" name="Diagramme 8">
            <a:extLst>
              <a:ext uri="{FF2B5EF4-FFF2-40B4-BE49-F238E27FC236}">
                <a16:creationId xmlns:a16="http://schemas.microsoft.com/office/drawing/2014/main" id="{4FEA4E2B-E7BD-9EF8-43C2-5EE82622AD16}"/>
              </a:ext>
            </a:extLst>
          </p:cNvPr>
          <p:cNvGraphicFramePr/>
          <p:nvPr>
            <p:extLst>
              <p:ext uri="{D42A27DB-BD31-4B8C-83A1-F6EECF244321}">
                <p14:modId xmlns:p14="http://schemas.microsoft.com/office/powerpoint/2010/main" val="2237759298"/>
              </p:ext>
            </p:extLst>
          </p:nvPr>
        </p:nvGraphicFramePr>
        <p:xfrm>
          <a:off x="376222" y="2414814"/>
          <a:ext cx="11260016" cy="43391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Espace réservé du texte 4">
            <a:extLst>
              <a:ext uri="{FF2B5EF4-FFF2-40B4-BE49-F238E27FC236}">
                <a16:creationId xmlns:a16="http://schemas.microsoft.com/office/drawing/2014/main" id="{F0991C70-4273-EFEC-4076-13E1915F5756}"/>
              </a:ext>
            </a:extLst>
          </p:cNvPr>
          <p:cNvSpPr txBox="1">
            <a:spLocks/>
          </p:cNvSpPr>
          <p:nvPr/>
        </p:nvSpPr>
        <p:spPr>
          <a:xfrm>
            <a:off x="838200" y="1613738"/>
            <a:ext cx="10515600" cy="1004416"/>
          </a:xfrm>
          <a:prstGeom prst="rect">
            <a:avLst/>
          </a:prstGeom>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fr-FR" sz="3200" dirty="0">
                <a:solidFill>
                  <a:srgbClr val="09253D"/>
                </a:solidFill>
              </a:rPr>
              <a:t>En résumé</a:t>
            </a:r>
          </a:p>
          <a:p>
            <a:r>
              <a:rPr lang="fr-FR" sz="2000" dirty="0"/>
              <a:t>Une signature électronique repose sur trois principes clés</a:t>
            </a:r>
          </a:p>
        </p:txBody>
      </p:sp>
    </p:spTree>
    <p:extLst>
      <p:ext uri="{BB962C8B-B14F-4D97-AF65-F5344CB8AC3E}">
        <p14:creationId xmlns:p14="http://schemas.microsoft.com/office/powerpoint/2010/main" val="39240975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07A68-B25D-C86A-F64D-C1DF6B81E5A1}"/>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B976BA68-607C-D3C6-4330-422260188A55}"/>
              </a:ext>
            </a:extLst>
          </p:cNvPr>
          <p:cNvSpPr>
            <a:spLocks noGrp="1"/>
          </p:cNvSpPr>
          <p:nvPr>
            <p:ph type="title"/>
          </p:nvPr>
        </p:nvSpPr>
        <p:spPr/>
        <p:txBody>
          <a:bodyPr/>
          <a:lstStyle/>
          <a:p>
            <a:r>
              <a:rPr lang="fr-FR" dirty="0"/>
              <a:t>Signature électronique</a:t>
            </a:r>
          </a:p>
        </p:txBody>
      </p:sp>
      <p:sp>
        <p:nvSpPr>
          <p:cNvPr id="4" name="Sous-titre 3">
            <a:extLst>
              <a:ext uri="{FF2B5EF4-FFF2-40B4-BE49-F238E27FC236}">
                <a16:creationId xmlns:a16="http://schemas.microsoft.com/office/drawing/2014/main" id="{4269E50B-B8E0-6163-98C4-9B3E0B670903}"/>
              </a:ext>
            </a:extLst>
          </p:cNvPr>
          <p:cNvSpPr>
            <a:spLocks noGrp="1"/>
          </p:cNvSpPr>
          <p:nvPr>
            <p:ph type="subTitle" idx="1"/>
          </p:nvPr>
        </p:nvSpPr>
        <p:spPr/>
        <p:txBody>
          <a:bodyPr>
            <a:normAutofit/>
          </a:bodyPr>
          <a:lstStyle/>
          <a:p>
            <a:r>
              <a:rPr lang="fr-FR" sz="2400" dirty="0"/>
              <a:t>Problématique</a:t>
            </a:r>
          </a:p>
          <a:p>
            <a:endParaRPr lang="fr-FR" sz="2400" dirty="0"/>
          </a:p>
        </p:txBody>
      </p:sp>
      <p:sp>
        <p:nvSpPr>
          <p:cNvPr id="5" name="Espace réservé du texte 4">
            <a:extLst>
              <a:ext uri="{FF2B5EF4-FFF2-40B4-BE49-F238E27FC236}">
                <a16:creationId xmlns:a16="http://schemas.microsoft.com/office/drawing/2014/main" id="{DD8374A0-A895-005D-9E29-2084CEDB71AE}"/>
              </a:ext>
            </a:extLst>
          </p:cNvPr>
          <p:cNvSpPr>
            <a:spLocks noGrp="1"/>
          </p:cNvSpPr>
          <p:nvPr>
            <p:ph type="body" idx="13"/>
          </p:nvPr>
        </p:nvSpPr>
        <p:spPr>
          <a:xfrm>
            <a:off x="167640" y="1630681"/>
            <a:ext cx="7414260" cy="5044440"/>
          </a:xfrm>
        </p:spPr>
        <p:txBody>
          <a:bodyPr anchor="ctr">
            <a:normAutofit/>
          </a:bodyPr>
          <a:lstStyle/>
          <a:p>
            <a:pPr marL="342900" indent="-342900">
              <a:buFont typeface="Arial" panose="020B0604020202020204" pitchFamily="34" charset="0"/>
              <a:buChar char="•"/>
            </a:pPr>
            <a:endParaRPr lang="fr-FR" dirty="0"/>
          </a:p>
          <a:p>
            <a:r>
              <a:rPr lang="fr-FR" sz="3600" dirty="0">
                <a:solidFill>
                  <a:srgbClr val="09253D"/>
                </a:solidFill>
              </a:rPr>
              <a:t>Cela suffit-il ?</a:t>
            </a:r>
            <a:endParaRPr lang="fr-FR" sz="3600" dirty="0"/>
          </a:p>
          <a:p>
            <a:pPr marL="342900" indent="-342900">
              <a:buFont typeface="Arial" panose="020B0604020202020204" pitchFamily="34" charset="0"/>
              <a:buChar char="•"/>
            </a:pPr>
            <a:r>
              <a:rPr lang="fr-FR" dirty="0"/>
              <a:t>À ce stade la signature numérique permet de garantir l’intégrité de la donnée mais ne permet néanmoins pas encore de garantir son authenticité</a:t>
            </a:r>
          </a:p>
          <a:p>
            <a:pPr marL="457200" indent="-457200">
              <a:buFont typeface="Arial" panose="020B0604020202020204" pitchFamily="34" charset="0"/>
              <a:buChar char="•"/>
            </a:pPr>
            <a:r>
              <a:rPr lang="fr-FR" dirty="0"/>
              <a:t>Comment peut-on s’assurer que le couple clé publique/clé privée utilisé pour signer le document appartient bien à notre correspondant ?</a:t>
            </a:r>
          </a:p>
          <a:p>
            <a:pPr marL="914400" lvl="1" indent="-457200">
              <a:buFont typeface="Arial" panose="020B0604020202020204" pitchFamily="34" charset="0"/>
              <a:buChar char="•"/>
            </a:pPr>
            <a:r>
              <a:rPr lang="fr-FR" dirty="0"/>
              <a:t>C’est là qu’entre en jeu le certificat...</a:t>
            </a:r>
            <a:endParaRPr lang="fr-FR" sz="1200" dirty="0"/>
          </a:p>
        </p:txBody>
      </p:sp>
      <p:pic>
        <p:nvPicPr>
          <p:cNvPr id="2" name="Image 1">
            <a:extLst>
              <a:ext uri="{FF2B5EF4-FFF2-40B4-BE49-F238E27FC236}">
                <a16:creationId xmlns:a16="http://schemas.microsoft.com/office/drawing/2014/main" id="{0F730DFC-F77A-21F9-DCD2-A04E0CC49272}"/>
              </a:ext>
            </a:extLst>
          </p:cNvPr>
          <p:cNvPicPr>
            <a:picLocks noChangeAspect="1"/>
          </p:cNvPicPr>
          <p:nvPr/>
        </p:nvPicPr>
        <p:blipFill>
          <a:blip r:embed="rId3"/>
          <a:stretch>
            <a:fillRect/>
          </a:stretch>
        </p:blipFill>
        <p:spPr>
          <a:xfrm>
            <a:off x="7200900" y="2600326"/>
            <a:ext cx="4991100" cy="3105150"/>
          </a:xfrm>
          <a:prstGeom prst="rect">
            <a:avLst/>
          </a:prstGeom>
        </p:spPr>
      </p:pic>
    </p:spTree>
    <p:extLst>
      <p:ext uri="{BB962C8B-B14F-4D97-AF65-F5344CB8AC3E}">
        <p14:creationId xmlns:p14="http://schemas.microsoft.com/office/powerpoint/2010/main" val="25554705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19F11-B126-06D8-B444-2D0ED5962D9A}"/>
            </a:ext>
          </a:extLst>
        </p:cNvPr>
        <p:cNvGrpSpPr/>
        <p:nvPr/>
      </p:nvGrpSpPr>
      <p:grpSpPr>
        <a:xfrm>
          <a:off x="0" y="0"/>
          <a:ext cx="0" cy="0"/>
          <a:chOff x="0" y="0"/>
          <a:chExt cx="0" cy="0"/>
        </a:xfrm>
      </p:grpSpPr>
      <p:sp>
        <p:nvSpPr>
          <p:cNvPr id="5" name="Titre 4">
            <a:extLst>
              <a:ext uri="{FF2B5EF4-FFF2-40B4-BE49-F238E27FC236}">
                <a16:creationId xmlns:a16="http://schemas.microsoft.com/office/drawing/2014/main" id="{22297B49-3510-E210-E0B3-F823507F7393}"/>
              </a:ext>
            </a:extLst>
          </p:cNvPr>
          <p:cNvSpPr>
            <a:spLocks noGrp="1"/>
          </p:cNvSpPr>
          <p:nvPr>
            <p:ph type="ctrTitle"/>
          </p:nvPr>
        </p:nvSpPr>
        <p:spPr/>
        <p:txBody>
          <a:bodyPr>
            <a:normAutofit fontScale="90000"/>
          </a:bodyPr>
          <a:lstStyle/>
          <a:p>
            <a:r>
              <a:rPr lang="fr-FR" dirty="0"/>
              <a:t>Certificats numériques</a:t>
            </a:r>
          </a:p>
        </p:txBody>
      </p:sp>
      <p:sp>
        <p:nvSpPr>
          <p:cNvPr id="6" name="Sous-titre 5">
            <a:extLst>
              <a:ext uri="{FF2B5EF4-FFF2-40B4-BE49-F238E27FC236}">
                <a16:creationId xmlns:a16="http://schemas.microsoft.com/office/drawing/2014/main" id="{04F3AE8D-60A4-4965-F102-6E5115BA132C}"/>
              </a:ext>
            </a:extLst>
          </p:cNvPr>
          <p:cNvSpPr>
            <a:spLocks noGrp="1"/>
          </p:cNvSpPr>
          <p:nvPr>
            <p:ph type="subTitle" idx="1"/>
          </p:nvPr>
        </p:nvSpPr>
        <p:spPr/>
        <p:txBody>
          <a:bodyPr/>
          <a:lstStyle/>
          <a:p>
            <a:r>
              <a:rPr lang="fr-FR" dirty="0"/>
              <a:t>Une signature ne suffit pas… encore faut-il prouver qui l’a faite !</a:t>
            </a:r>
          </a:p>
        </p:txBody>
      </p:sp>
    </p:spTree>
    <p:extLst>
      <p:ext uri="{BB962C8B-B14F-4D97-AF65-F5344CB8AC3E}">
        <p14:creationId xmlns:p14="http://schemas.microsoft.com/office/powerpoint/2010/main" val="12231930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937DA-DDFC-EE3B-F6A4-7CE6BA653FD2}"/>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1468D515-422C-7293-05DD-0C499A13692C}"/>
              </a:ext>
            </a:extLst>
          </p:cNvPr>
          <p:cNvSpPr>
            <a:spLocks noGrp="1"/>
          </p:cNvSpPr>
          <p:nvPr>
            <p:ph type="title"/>
          </p:nvPr>
        </p:nvSpPr>
        <p:spPr>
          <a:xfrm>
            <a:off x="320724" y="344557"/>
            <a:ext cx="10356511" cy="496366"/>
          </a:xfrm>
        </p:spPr>
        <p:txBody>
          <a:bodyPr/>
          <a:lstStyle/>
          <a:p>
            <a:r>
              <a:rPr lang="fr-FR" dirty="0"/>
              <a:t>Certificats numériques</a:t>
            </a:r>
          </a:p>
        </p:txBody>
      </p:sp>
      <p:sp>
        <p:nvSpPr>
          <p:cNvPr id="4" name="Sous-titre 3">
            <a:extLst>
              <a:ext uri="{FF2B5EF4-FFF2-40B4-BE49-F238E27FC236}">
                <a16:creationId xmlns:a16="http://schemas.microsoft.com/office/drawing/2014/main" id="{39F2F510-720F-A39F-9694-033C16FBDA88}"/>
              </a:ext>
            </a:extLst>
          </p:cNvPr>
          <p:cNvSpPr>
            <a:spLocks noGrp="1"/>
          </p:cNvSpPr>
          <p:nvPr>
            <p:ph type="subTitle" idx="1"/>
          </p:nvPr>
        </p:nvSpPr>
        <p:spPr>
          <a:xfrm>
            <a:off x="488515" y="861170"/>
            <a:ext cx="8464099" cy="365125"/>
          </a:xfrm>
        </p:spPr>
        <p:txBody>
          <a:bodyPr>
            <a:normAutofit/>
          </a:bodyPr>
          <a:lstStyle/>
          <a:p>
            <a:r>
              <a:rPr lang="fr-FR" sz="2400" dirty="0"/>
              <a:t>Définition</a:t>
            </a:r>
          </a:p>
          <a:p>
            <a:endParaRPr lang="fr-FR" sz="2400" dirty="0"/>
          </a:p>
        </p:txBody>
      </p:sp>
      <p:sp>
        <p:nvSpPr>
          <p:cNvPr id="8" name="Espace réservé du texte 4">
            <a:extLst>
              <a:ext uri="{FF2B5EF4-FFF2-40B4-BE49-F238E27FC236}">
                <a16:creationId xmlns:a16="http://schemas.microsoft.com/office/drawing/2014/main" id="{8CF75EE2-3359-E066-2C87-8BA1DEF41231}"/>
              </a:ext>
            </a:extLst>
          </p:cNvPr>
          <p:cNvSpPr>
            <a:spLocks noGrp="1"/>
          </p:cNvSpPr>
          <p:nvPr>
            <p:ph type="body" idx="13"/>
          </p:nvPr>
        </p:nvSpPr>
        <p:spPr>
          <a:xfrm>
            <a:off x="251460" y="1546860"/>
            <a:ext cx="9532620" cy="5196839"/>
          </a:xfrm>
        </p:spPr>
        <p:txBody>
          <a:bodyPr anchor="ctr">
            <a:normAutofit/>
          </a:bodyPr>
          <a:lstStyle/>
          <a:p>
            <a:r>
              <a:rPr lang="fr-FR" sz="3200" dirty="0">
                <a:solidFill>
                  <a:srgbClr val="09253D"/>
                </a:solidFill>
              </a:rPr>
              <a:t>Qu'est-ce un certificat numérique ?</a:t>
            </a:r>
          </a:p>
          <a:p>
            <a:pPr marL="457200" indent="-457200">
              <a:buFont typeface="Arial" panose="020B0604020202020204" pitchFamily="34" charset="0"/>
              <a:buChar char="•"/>
            </a:pPr>
            <a:r>
              <a:rPr lang="fr-FR" sz="3200" dirty="0"/>
              <a:t>Un certificat numérique est un fichier électronique qui lie</a:t>
            </a:r>
          </a:p>
          <a:p>
            <a:pPr marL="914400" lvl="1" indent="-457200">
              <a:buFont typeface="Arial" panose="020B0604020202020204" pitchFamily="34" charset="0"/>
              <a:buChar char="•"/>
            </a:pPr>
            <a:r>
              <a:rPr lang="fr-FR" sz="2800" dirty="0"/>
              <a:t>Une identité (personne, organisation, site web)</a:t>
            </a:r>
          </a:p>
          <a:p>
            <a:pPr marL="914400" lvl="1" indent="-457200">
              <a:buFont typeface="Arial" panose="020B0604020202020204" pitchFamily="34" charset="0"/>
              <a:buChar char="•"/>
            </a:pPr>
            <a:r>
              <a:rPr lang="fr-FR" sz="2800" dirty="0"/>
              <a:t>À une clé publique</a:t>
            </a:r>
          </a:p>
          <a:p>
            <a:pPr marL="457200" indent="-457200">
              <a:buFont typeface="Arial" panose="020B0604020202020204" pitchFamily="34" charset="0"/>
              <a:buChar char="•"/>
            </a:pPr>
            <a:r>
              <a:rPr lang="fr-FR" sz="3200" dirty="0"/>
              <a:t>Pour garantir cette association, les données (identité + clé publique) sont signées par un tiers de confiance via sa clé privée</a:t>
            </a:r>
          </a:p>
          <a:p>
            <a:pPr marL="914400" lvl="1" indent="-457200">
              <a:lnSpc>
                <a:spcPct val="100000"/>
              </a:lnSpc>
              <a:buFont typeface="Arial" panose="020B0604020202020204" pitchFamily="34" charset="0"/>
              <a:buChar char="•"/>
            </a:pPr>
            <a:r>
              <a:rPr lang="fr-FR" sz="2800" dirty="0"/>
              <a:t>Ce tiers de confiance est une Autorité de Certification (CA)</a:t>
            </a:r>
          </a:p>
        </p:txBody>
      </p:sp>
      <p:pic>
        <p:nvPicPr>
          <p:cNvPr id="10" name="Image 9">
            <a:extLst>
              <a:ext uri="{FF2B5EF4-FFF2-40B4-BE49-F238E27FC236}">
                <a16:creationId xmlns:a16="http://schemas.microsoft.com/office/drawing/2014/main" id="{FC524B94-600E-AF65-1491-3865D2CCBF43}"/>
              </a:ext>
            </a:extLst>
          </p:cNvPr>
          <p:cNvPicPr>
            <a:picLocks noChangeAspect="1"/>
          </p:cNvPicPr>
          <p:nvPr/>
        </p:nvPicPr>
        <p:blipFill>
          <a:blip r:embed="rId3"/>
          <a:srcRect l="23435" r="48244"/>
          <a:stretch>
            <a:fillRect/>
          </a:stretch>
        </p:blipFill>
        <p:spPr>
          <a:xfrm>
            <a:off x="9883140" y="1609267"/>
            <a:ext cx="2308860" cy="5072024"/>
          </a:xfrm>
          <a:prstGeom prst="rect">
            <a:avLst/>
          </a:prstGeom>
        </p:spPr>
      </p:pic>
    </p:spTree>
    <p:extLst>
      <p:ext uri="{BB962C8B-B14F-4D97-AF65-F5344CB8AC3E}">
        <p14:creationId xmlns:p14="http://schemas.microsoft.com/office/powerpoint/2010/main" val="28957514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22EB0-6822-F699-5F63-60F1BBABB824}"/>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9B6831F8-D135-DF16-5DFB-34362853FD58}"/>
              </a:ext>
            </a:extLst>
          </p:cNvPr>
          <p:cNvSpPr>
            <a:spLocks noGrp="1"/>
          </p:cNvSpPr>
          <p:nvPr>
            <p:ph type="title"/>
          </p:nvPr>
        </p:nvSpPr>
        <p:spPr>
          <a:xfrm>
            <a:off x="320724" y="344557"/>
            <a:ext cx="10356511" cy="496366"/>
          </a:xfrm>
        </p:spPr>
        <p:txBody>
          <a:bodyPr/>
          <a:lstStyle/>
          <a:p>
            <a:r>
              <a:rPr lang="fr-FR" dirty="0"/>
              <a:t>Certificats numériques</a:t>
            </a:r>
          </a:p>
        </p:txBody>
      </p:sp>
      <p:sp>
        <p:nvSpPr>
          <p:cNvPr id="4" name="Sous-titre 3">
            <a:extLst>
              <a:ext uri="{FF2B5EF4-FFF2-40B4-BE49-F238E27FC236}">
                <a16:creationId xmlns:a16="http://schemas.microsoft.com/office/drawing/2014/main" id="{A26F2AC9-C0A1-3372-3993-98421ACEF1A1}"/>
              </a:ext>
            </a:extLst>
          </p:cNvPr>
          <p:cNvSpPr>
            <a:spLocks noGrp="1"/>
          </p:cNvSpPr>
          <p:nvPr>
            <p:ph type="subTitle" idx="1"/>
          </p:nvPr>
        </p:nvSpPr>
        <p:spPr>
          <a:xfrm>
            <a:off x="488515" y="861170"/>
            <a:ext cx="8464099" cy="365125"/>
          </a:xfrm>
        </p:spPr>
        <p:txBody>
          <a:bodyPr>
            <a:normAutofit/>
          </a:bodyPr>
          <a:lstStyle/>
          <a:p>
            <a:r>
              <a:rPr lang="fr-FR" sz="2400" dirty="0"/>
              <a:t>Définition</a:t>
            </a:r>
          </a:p>
          <a:p>
            <a:endParaRPr lang="fr-FR" sz="2400" dirty="0"/>
          </a:p>
        </p:txBody>
      </p:sp>
      <p:sp>
        <p:nvSpPr>
          <p:cNvPr id="8" name="Espace réservé du texte 4">
            <a:extLst>
              <a:ext uri="{FF2B5EF4-FFF2-40B4-BE49-F238E27FC236}">
                <a16:creationId xmlns:a16="http://schemas.microsoft.com/office/drawing/2014/main" id="{3C823F3D-6DAC-4917-5A33-0CF4D33893E1}"/>
              </a:ext>
            </a:extLst>
          </p:cNvPr>
          <p:cNvSpPr>
            <a:spLocks noGrp="1"/>
          </p:cNvSpPr>
          <p:nvPr>
            <p:ph type="body" idx="13"/>
          </p:nvPr>
        </p:nvSpPr>
        <p:spPr>
          <a:xfrm>
            <a:off x="2415540" y="1546859"/>
            <a:ext cx="8701154" cy="5196839"/>
          </a:xfrm>
        </p:spPr>
        <p:txBody>
          <a:bodyPr anchor="ctr">
            <a:normAutofit/>
          </a:bodyPr>
          <a:lstStyle/>
          <a:p>
            <a:r>
              <a:rPr lang="fr-FR" sz="3200" dirty="0">
                <a:solidFill>
                  <a:srgbClr val="09253D"/>
                </a:solidFill>
              </a:rPr>
              <a:t>Que contient un certificat numérique ?</a:t>
            </a:r>
          </a:p>
          <a:p>
            <a:pPr marL="914400" lvl="1" indent="-457200">
              <a:buFont typeface="Arial" panose="020B0604020202020204" pitchFamily="34" charset="0"/>
              <a:buChar char="•"/>
            </a:pPr>
            <a:r>
              <a:rPr lang="fr-FR" sz="2800" dirty="0"/>
              <a:t>Des informations d’identification</a:t>
            </a:r>
          </a:p>
          <a:p>
            <a:pPr marL="1371600" lvl="2" indent="-457200">
              <a:buFont typeface="Arial" panose="020B0604020202020204" pitchFamily="34" charset="0"/>
              <a:buChar char="•"/>
            </a:pPr>
            <a:r>
              <a:rPr lang="fr-FR" sz="2600" dirty="0"/>
              <a:t>Nom du titulaire</a:t>
            </a:r>
          </a:p>
          <a:p>
            <a:pPr marL="1371600" lvl="2" indent="-457200">
              <a:buFont typeface="Arial" panose="020B0604020202020204" pitchFamily="34" charset="0"/>
              <a:buChar char="•"/>
            </a:pPr>
            <a:r>
              <a:rPr lang="fr-FR" sz="2600" dirty="0"/>
              <a:t>Adresse</a:t>
            </a:r>
          </a:p>
          <a:p>
            <a:pPr marL="1371600" lvl="2" indent="-457200">
              <a:buFont typeface="Arial" panose="020B0604020202020204" pitchFamily="34" charset="0"/>
              <a:buChar char="•"/>
            </a:pPr>
            <a:r>
              <a:rPr lang="fr-FR" sz="2600" dirty="0"/>
              <a:t>Société</a:t>
            </a:r>
          </a:p>
          <a:p>
            <a:pPr marL="914400" lvl="1" indent="-457200">
              <a:buFont typeface="Arial" panose="020B0604020202020204" pitchFamily="34" charset="0"/>
              <a:buChar char="•"/>
            </a:pPr>
            <a:r>
              <a:rPr lang="fr-FR" sz="2800" dirty="0"/>
              <a:t>Une clé publique</a:t>
            </a:r>
          </a:p>
          <a:p>
            <a:pPr marL="914400" lvl="1" indent="-457200">
              <a:buFont typeface="Arial" panose="020B0604020202020204" pitchFamily="34" charset="0"/>
              <a:buChar char="•"/>
            </a:pPr>
            <a:r>
              <a:rPr lang="fr-FR" sz="2800" dirty="0"/>
              <a:t>La signature de l’autorité de certification (CA) ayant délivré ce certificat</a:t>
            </a:r>
          </a:p>
          <a:p>
            <a:pPr marL="914400" lvl="1" indent="-457200">
              <a:buFont typeface="Arial" panose="020B0604020202020204" pitchFamily="34" charset="0"/>
              <a:buChar char="•"/>
            </a:pPr>
            <a:r>
              <a:rPr lang="fr-FR" sz="2800" dirty="0"/>
              <a:t>Des informations complémentaires</a:t>
            </a:r>
          </a:p>
          <a:p>
            <a:pPr marL="1371600" lvl="2" indent="-457200">
              <a:buFont typeface="Arial" panose="020B0604020202020204" pitchFamily="34" charset="0"/>
              <a:buChar char="•"/>
            </a:pPr>
            <a:r>
              <a:rPr lang="fr-FR" sz="2400" dirty="0"/>
              <a:t>La durée de validité</a:t>
            </a:r>
          </a:p>
          <a:p>
            <a:pPr marL="1371600" lvl="2" indent="-457200">
              <a:buFont typeface="Arial" panose="020B0604020202020204" pitchFamily="34" charset="0"/>
              <a:buChar char="•"/>
            </a:pPr>
            <a:r>
              <a:rPr lang="fr-FR" sz="2400" dirty="0"/>
              <a:t>L’émetteur (CA)</a:t>
            </a:r>
          </a:p>
          <a:p>
            <a:pPr marL="1371600" lvl="2" indent="-457200">
              <a:buFont typeface="Arial" panose="020B0604020202020204" pitchFamily="34" charset="0"/>
              <a:buChar char="•"/>
            </a:pPr>
            <a:r>
              <a:rPr lang="fr-FR" sz="2400" dirty="0"/>
              <a:t>Un numéro de série</a:t>
            </a:r>
          </a:p>
        </p:txBody>
      </p:sp>
      <p:pic>
        <p:nvPicPr>
          <p:cNvPr id="10" name="Image 9">
            <a:extLst>
              <a:ext uri="{FF2B5EF4-FFF2-40B4-BE49-F238E27FC236}">
                <a16:creationId xmlns:a16="http://schemas.microsoft.com/office/drawing/2014/main" id="{7F175653-D493-9A54-E110-17DF7C56B071}"/>
              </a:ext>
            </a:extLst>
          </p:cNvPr>
          <p:cNvPicPr>
            <a:picLocks noChangeAspect="1"/>
          </p:cNvPicPr>
          <p:nvPr/>
        </p:nvPicPr>
        <p:blipFill>
          <a:blip r:embed="rId3"/>
          <a:srcRect l="51756" r="19924"/>
          <a:stretch>
            <a:fillRect/>
          </a:stretch>
        </p:blipFill>
        <p:spPr>
          <a:xfrm>
            <a:off x="0" y="1804986"/>
            <a:ext cx="2130671" cy="4680586"/>
          </a:xfrm>
          <a:prstGeom prst="rect">
            <a:avLst/>
          </a:prstGeom>
        </p:spPr>
      </p:pic>
    </p:spTree>
    <p:extLst>
      <p:ext uri="{BB962C8B-B14F-4D97-AF65-F5344CB8AC3E}">
        <p14:creationId xmlns:p14="http://schemas.microsoft.com/office/powerpoint/2010/main" val="11292306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34A19-9012-2B03-104E-224861B26DE2}"/>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011AD64C-653E-F918-5B22-542E2DA2B8DF}"/>
              </a:ext>
            </a:extLst>
          </p:cNvPr>
          <p:cNvSpPr>
            <a:spLocks noGrp="1"/>
          </p:cNvSpPr>
          <p:nvPr>
            <p:ph type="title"/>
          </p:nvPr>
        </p:nvSpPr>
        <p:spPr/>
        <p:txBody>
          <a:bodyPr/>
          <a:lstStyle/>
          <a:p>
            <a:r>
              <a:rPr lang="fr-FR" dirty="0"/>
              <a:t>Certificats numériques</a:t>
            </a:r>
          </a:p>
        </p:txBody>
      </p:sp>
      <p:sp>
        <p:nvSpPr>
          <p:cNvPr id="4" name="Sous-titre 3">
            <a:extLst>
              <a:ext uri="{FF2B5EF4-FFF2-40B4-BE49-F238E27FC236}">
                <a16:creationId xmlns:a16="http://schemas.microsoft.com/office/drawing/2014/main" id="{2ED5024B-90DF-F5AB-FB19-71BC39D8E4DF}"/>
              </a:ext>
            </a:extLst>
          </p:cNvPr>
          <p:cNvSpPr>
            <a:spLocks noGrp="1"/>
          </p:cNvSpPr>
          <p:nvPr>
            <p:ph type="subTitle" idx="1"/>
          </p:nvPr>
        </p:nvSpPr>
        <p:spPr/>
        <p:txBody>
          <a:bodyPr>
            <a:normAutofit/>
          </a:bodyPr>
          <a:lstStyle/>
          <a:p>
            <a:r>
              <a:rPr lang="fr-FR" sz="2400" dirty="0"/>
              <a:t>Certificat auto-signé vs autorité de confiance</a:t>
            </a:r>
          </a:p>
          <a:p>
            <a:endParaRPr lang="fr-FR" sz="2400" dirty="0"/>
          </a:p>
          <a:p>
            <a:endParaRPr lang="fr-FR" sz="2400" dirty="0"/>
          </a:p>
        </p:txBody>
      </p:sp>
      <p:sp>
        <p:nvSpPr>
          <p:cNvPr id="8" name="Espace réservé du texte 4">
            <a:extLst>
              <a:ext uri="{FF2B5EF4-FFF2-40B4-BE49-F238E27FC236}">
                <a16:creationId xmlns:a16="http://schemas.microsoft.com/office/drawing/2014/main" id="{65CDDFFF-842C-3DA8-DFAC-D4A1BEE721DC}"/>
              </a:ext>
            </a:extLst>
          </p:cNvPr>
          <p:cNvSpPr>
            <a:spLocks noGrp="1"/>
          </p:cNvSpPr>
          <p:nvPr>
            <p:ph type="body" idx="13"/>
          </p:nvPr>
        </p:nvSpPr>
        <p:spPr/>
        <p:txBody>
          <a:bodyPr anchor="ctr">
            <a:normAutofit lnSpcReduction="10000"/>
          </a:bodyPr>
          <a:lstStyle/>
          <a:p>
            <a:r>
              <a:rPr lang="fr-FR" sz="3200" dirty="0">
                <a:solidFill>
                  <a:srgbClr val="09253D"/>
                </a:solidFill>
              </a:rPr>
              <a:t>Certificats auto-signés</a:t>
            </a:r>
          </a:p>
          <a:p>
            <a:pPr marL="914400" lvl="1" indent="-457200">
              <a:buFont typeface="Arial" panose="020B0604020202020204" pitchFamily="34" charset="0"/>
              <a:buChar char="•"/>
            </a:pPr>
            <a:r>
              <a:rPr lang="fr-FR" sz="2800" dirty="0"/>
              <a:t>Si Bob signe lui-même sa clé publique avec sa propre clé privée, on parle de certificat auto-signé</a:t>
            </a:r>
          </a:p>
          <a:p>
            <a:r>
              <a:rPr lang="fr-FR" sz="3200" dirty="0">
                <a:solidFill>
                  <a:srgbClr val="42C5A5"/>
                </a:solidFill>
              </a:rPr>
              <a:t>Limites</a:t>
            </a:r>
            <a:endParaRPr lang="fr-FR" sz="3000" dirty="0">
              <a:solidFill>
                <a:srgbClr val="42C5A5"/>
              </a:solidFill>
            </a:endParaRPr>
          </a:p>
          <a:p>
            <a:pPr marL="457200" indent="-457200">
              <a:buFont typeface="Arial" panose="020B0604020202020204" pitchFamily="34" charset="0"/>
              <a:buChar char="•"/>
            </a:pPr>
            <a:r>
              <a:rPr lang="fr-FR" sz="3200" dirty="0"/>
              <a:t>Les certificats auto-signés ne sont pas fiables</a:t>
            </a:r>
          </a:p>
          <a:p>
            <a:pPr marL="914400" lvl="1" indent="-457200">
              <a:buFont typeface="Arial" panose="020B0604020202020204" pitchFamily="34" charset="0"/>
              <a:buChar char="•"/>
            </a:pPr>
            <a:r>
              <a:rPr lang="fr-FR" sz="2800" dirty="0"/>
              <a:t>On ne doit pas leur accorder de confiance par défaut !</a:t>
            </a:r>
            <a:endParaRPr lang="fr-FR" sz="2400" dirty="0"/>
          </a:p>
          <a:p>
            <a:pPr marL="1371600" lvl="2" indent="-457200">
              <a:buFont typeface="Arial" panose="020B0604020202020204" pitchFamily="34" charset="0"/>
              <a:buChar char="•"/>
            </a:pPr>
            <a:r>
              <a:rPr lang="fr-FR" sz="2600" dirty="0"/>
              <a:t>Rien ne garantit que Bob soit bien l’émetteur légitime de son prétendu certificat auto-signé</a:t>
            </a:r>
          </a:p>
          <a:p>
            <a:pPr marL="1371600" lvl="2" indent="-457200">
              <a:buFont typeface="Arial" panose="020B0604020202020204" pitchFamily="34" charset="0"/>
              <a:buChar char="•"/>
            </a:pPr>
            <a:r>
              <a:rPr lang="fr-FR" sz="2600" dirty="0"/>
              <a:t>N’importe qui (y compris un attaquant) peut créer un certificat auto-signé en prétendant être Bob...</a:t>
            </a:r>
          </a:p>
        </p:txBody>
      </p:sp>
    </p:spTree>
    <p:extLst>
      <p:ext uri="{BB962C8B-B14F-4D97-AF65-F5344CB8AC3E}">
        <p14:creationId xmlns:p14="http://schemas.microsoft.com/office/powerpoint/2010/main" val="41378865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6CCEC-5FF3-52D0-B2D4-02671B33D7AF}"/>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38B6C7FA-A982-6417-050F-A4D613ED4716}"/>
              </a:ext>
            </a:extLst>
          </p:cNvPr>
          <p:cNvSpPr>
            <a:spLocks noGrp="1"/>
          </p:cNvSpPr>
          <p:nvPr>
            <p:ph type="title"/>
          </p:nvPr>
        </p:nvSpPr>
        <p:spPr/>
        <p:txBody>
          <a:bodyPr/>
          <a:lstStyle/>
          <a:p>
            <a:r>
              <a:rPr lang="fr-FR" dirty="0"/>
              <a:t>Certificats numériques</a:t>
            </a:r>
          </a:p>
        </p:txBody>
      </p:sp>
      <p:sp>
        <p:nvSpPr>
          <p:cNvPr id="4" name="Sous-titre 3">
            <a:extLst>
              <a:ext uri="{FF2B5EF4-FFF2-40B4-BE49-F238E27FC236}">
                <a16:creationId xmlns:a16="http://schemas.microsoft.com/office/drawing/2014/main" id="{33F2DA19-34CB-870C-8434-8F57E9E36043}"/>
              </a:ext>
            </a:extLst>
          </p:cNvPr>
          <p:cNvSpPr>
            <a:spLocks noGrp="1"/>
          </p:cNvSpPr>
          <p:nvPr>
            <p:ph type="subTitle" idx="1"/>
          </p:nvPr>
        </p:nvSpPr>
        <p:spPr/>
        <p:txBody>
          <a:bodyPr>
            <a:normAutofit/>
          </a:bodyPr>
          <a:lstStyle/>
          <a:p>
            <a:r>
              <a:rPr lang="fr-FR" sz="2400" dirty="0"/>
              <a:t>Certificat auto-signé vs autorité de confiance</a:t>
            </a:r>
          </a:p>
          <a:p>
            <a:endParaRPr lang="fr-FR" sz="2400" dirty="0"/>
          </a:p>
          <a:p>
            <a:endParaRPr lang="fr-FR" sz="2400" dirty="0"/>
          </a:p>
        </p:txBody>
      </p:sp>
      <p:sp>
        <p:nvSpPr>
          <p:cNvPr id="8" name="Espace réservé du texte 4">
            <a:extLst>
              <a:ext uri="{FF2B5EF4-FFF2-40B4-BE49-F238E27FC236}">
                <a16:creationId xmlns:a16="http://schemas.microsoft.com/office/drawing/2014/main" id="{0941534C-C544-714A-2115-9D7EDC076F46}"/>
              </a:ext>
            </a:extLst>
          </p:cNvPr>
          <p:cNvSpPr>
            <a:spLocks noGrp="1"/>
          </p:cNvSpPr>
          <p:nvPr>
            <p:ph type="body" idx="13"/>
          </p:nvPr>
        </p:nvSpPr>
        <p:spPr/>
        <p:txBody>
          <a:bodyPr anchor="ctr">
            <a:normAutofit/>
          </a:bodyPr>
          <a:lstStyle/>
          <a:p>
            <a:r>
              <a:rPr lang="fr-FR" sz="3200" dirty="0">
                <a:solidFill>
                  <a:srgbClr val="09253D"/>
                </a:solidFill>
              </a:rPr>
              <a:t>Rôle du tiers de confiance</a:t>
            </a:r>
          </a:p>
          <a:p>
            <a:pPr marL="914400" lvl="1" indent="-457200">
              <a:buFont typeface="Arial" panose="020B0604020202020204" pitchFamily="34" charset="0"/>
              <a:buChar char="•"/>
            </a:pPr>
            <a:r>
              <a:rPr lang="fr-FR" sz="2800" dirty="0"/>
              <a:t>Pour garantir l’authenticité d’un certificat, on fait appel à un tiers de confiance : une Autorité de Certification (CA)</a:t>
            </a:r>
          </a:p>
          <a:p>
            <a:pPr marL="1371600" lvl="2" indent="-457200">
              <a:buFont typeface="Arial" panose="020B0604020202020204" pitchFamily="34" charset="0"/>
              <a:buChar char="•"/>
            </a:pPr>
            <a:r>
              <a:rPr lang="fr-FR" sz="2600" dirty="0"/>
              <a:t>Cette autorité signe le certificat avec sa propre clé privée</a:t>
            </a:r>
          </a:p>
          <a:p>
            <a:pPr marL="1371600" lvl="2" indent="-457200">
              <a:buFont typeface="Arial" panose="020B0604020202020204" pitchFamily="34" charset="0"/>
              <a:buChar char="•"/>
            </a:pPr>
            <a:r>
              <a:rPr lang="fr-FR" sz="2600" dirty="0"/>
              <a:t>C’est le principe fondamental des Infrastructures de Gestion des Clés (IGC / PKI)</a:t>
            </a:r>
            <a:endParaRPr lang="fr-FR" sz="2400" dirty="0"/>
          </a:p>
        </p:txBody>
      </p:sp>
    </p:spTree>
    <p:extLst>
      <p:ext uri="{BB962C8B-B14F-4D97-AF65-F5344CB8AC3E}">
        <p14:creationId xmlns:p14="http://schemas.microsoft.com/office/powerpoint/2010/main" val="4095917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22AD6-0487-1CF5-353D-2CA4AC2B20C6}"/>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21C2CBA4-5669-7D85-364B-48255BF27234}"/>
              </a:ext>
            </a:extLst>
          </p:cNvPr>
          <p:cNvSpPr>
            <a:spLocks noGrp="1"/>
          </p:cNvSpPr>
          <p:nvPr>
            <p:ph type="title"/>
          </p:nvPr>
        </p:nvSpPr>
        <p:spPr/>
        <p:txBody>
          <a:bodyPr/>
          <a:lstStyle/>
          <a:p>
            <a:r>
              <a:rPr lang="fr-FR" dirty="0"/>
              <a:t>Certificats numériques</a:t>
            </a:r>
          </a:p>
        </p:txBody>
      </p:sp>
      <p:sp>
        <p:nvSpPr>
          <p:cNvPr id="4" name="Sous-titre 3">
            <a:extLst>
              <a:ext uri="{FF2B5EF4-FFF2-40B4-BE49-F238E27FC236}">
                <a16:creationId xmlns:a16="http://schemas.microsoft.com/office/drawing/2014/main" id="{D40BD29F-EEEE-D789-25CF-F641056C547E}"/>
              </a:ext>
            </a:extLst>
          </p:cNvPr>
          <p:cNvSpPr>
            <a:spLocks noGrp="1"/>
          </p:cNvSpPr>
          <p:nvPr>
            <p:ph type="subTitle" idx="1"/>
          </p:nvPr>
        </p:nvSpPr>
        <p:spPr/>
        <p:txBody>
          <a:bodyPr>
            <a:normAutofit/>
          </a:bodyPr>
          <a:lstStyle/>
          <a:p>
            <a:r>
              <a:rPr lang="fr-FR" sz="2400" dirty="0"/>
              <a:t>Certificat X.509</a:t>
            </a:r>
          </a:p>
          <a:p>
            <a:endParaRPr lang="fr-FR" sz="2400" dirty="0"/>
          </a:p>
          <a:p>
            <a:endParaRPr lang="fr-FR" sz="2400" dirty="0"/>
          </a:p>
        </p:txBody>
      </p:sp>
      <p:sp>
        <p:nvSpPr>
          <p:cNvPr id="8" name="Espace réservé du texte 4">
            <a:extLst>
              <a:ext uri="{FF2B5EF4-FFF2-40B4-BE49-F238E27FC236}">
                <a16:creationId xmlns:a16="http://schemas.microsoft.com/office/drawing/2014/main" id="{A12ADC0C-CF6D-AFF4-0DF6-0BD6BAAF1AEE}"/>
              </a:ext>
            </a:extLst>
          </p:cNvPr>
          <p:cNvSpPr>
            <a:spLocks noGrp="1"/>
          </p:cNvSpPr>
          <p:nvPr>
            <p:ph type="body" idx="13"/>
          </p:nvPr>
        </p:nvSpPr>
        <p:spPr/>
        <p:txBody>
          <a:bodyPr anchor="ctr">
            <a:normAutofit/>
          </a:bodyPr>
          <a:lstStyle/>
          <a:p>
            <a:r>
              <a:rPr lang="fr-FR" sz="3200" dirty="0">
                <a:solidFill>
                  <a:srgbClr val="09253D"/>
                </a:solidFill>
              </a:rPr>
              <a:t>Définition</a:t>
            </a:r>
          </a:p>
          <a:p>
            <a:pPr marL="914400" lvl="1" indent="-457200">
              <a:buFont typeface="Arial" panose="020B0604020202020204" pitchFamily="34" charset="0"/>
              <a:buChar char="•"/>
            </a:pPr>
            <a:r>
              <a:rPr lang="fr-FR" sz="2800" dirty="0"/>
              <a:t>Un certificat X.509 est un fichier normalisé associant une identité à une clé publique</a:t>
            </a:r>
          </a:p>
          <a:p>
            <a:pPr marL="1371600" lvl="2" indent="-457200">
              <a:buFont typeface="Arial" panose="020B0604020202020204" pitchFamily="34" charset="0"/>
              <a:buChar char="•"/>
            </a:pPr>
            <a:r>
              <a:rPr lang="fr-FR" sz="2600" dirty="0"/>
              <a:t>Il est utilisé dans les communications sécurisées</a:t>
            </a:r>
          </a:p>
          <a:p>
            <a:pPr marL="1828800" lvl="3" indent="-457200">
              <a:buFont typeface="Arial" panose="020B0604020202020204" pitchFamily="34" charset="0"/>
              <a:buChar char="•"/>
            </a:pPr>
            <a:r>
              <a:rPr lang="fr-FR" sz="2400" dirty="0"/>
              <a:t>SSL/TLS</a:t>
            </a:r>
          </a:p>
          <a:p>
            <a:pPr marL="1828800" lvl="3" indent="-457200">
              <a:buFont typeface="Arial" panose="020B0604020202020204" pitchFamily="34" charset="0"/>
              <a:buChar char="•"/>
            </a:pPr>
            <a:r>
              <a:rPr lang="fr-FR" sz="2400" dirty="0"/>
              <a:t>S/MIME</a:t>
            </a:r>
          </a:p>
          <a:p>
            <a:pPr marL="1828800" lvl="3" indent="-457200">
              <a:buFont typeface="Arial" panose="020B0604020202020204" pitchFamily="34" charset="0"/>
              <a:buChar char="•"/>
            </a:pPr>
            <a:r>
              <a:rPr lang="fr-FR" sz="2400" dirty="0"/>
              <a:t>VPN</a:t>
            </a:r>
          </a:p>
          <a:p>
            <a:pPr marL="914400" lvl="1" indent="-457200">
              <a:buFont typeface="Arial" panose="020B0604020202020204" pitchFamily="34" charset="0"/>
              <a:buChar char="•"/>
            </a:pPr>
            <a:r>
              <a:rPr lang="fr-FR" sz="2800" dirty="0"/>
              <a:t>Il est signé par une Autorité de Certification (CA) pour garantir son authenticité</a:t>
            </a:r>
            <a:endParaRPr lang="fr-FR" sz="2400" dirty="0"/>
          </a:p>
        </p:txBody>
      </p:sp>
    </p:spTree>
    <p:extLst>
      <p:ext uri="{BB962C8B-B14F-4D97-AF65-F5344CB8AC3E}">
        <p14:creationId xmlns:p14="http://schemas.microsoft.com/office/powerpoint/2010/main" val="30477076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025FB-87B8-F02F-9175-292A82C9F333}"/>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8B686E37-0851-017F-0E84-11310D834F97}"/>
              </a:ext>
            </a:extLst>
          </p:cNvPr>
          <p:cNvSpPr>
            <a:spLocks noGrp="1"/>
          </p:cNvSpPr>
          <p:nvPr>
            <p:ph type="title"/>
          </p:nvPr>
        </p:nvSpPr>
        <p:spPr/>
        <p:txBody>
          <a:bodyPr/>
          <a:lstStyle/>
          <a:p>
            <a:r>
              <a:rPr lang="fr-FR" dirty="0"/>
              <a:t>Certificats numériques</a:t>
            </a:r>
          </a:p>
        </p:txBody>
      </p:sp>
      <p:sp>
        <p:nvSpPr>
          <p:cNvPr id="4" name="Sous-titre 3">
            <a:extLst>
              <a:ext uri="{FF2B5EF4-FFF2-40B4-BE49-F238E27FC236}">
                <a16:creationId xmlns:a16="http://schemas.microsoft.com/office/drawing/2014/main" id="{029E940D-FF7E-850A-0331-F4FD364C1C62}"/>
              </a:ext>
            </a:extLst>
          </p:cNvPr>
          <p:cNvSpPr>
            <a:spLocks noGrp="1"/>
          </p:cNvSpPr>
          <p:nvPr>
            <p:ph type="subTitle" idx="1"/>
          </p:nvPr>
        </p:nvSpPr>
        <p:spPr/>
        <p:txBody>
          <a:bodyPr>
            <a:normAutofit/>
          </a:bodyPr>
          <a:lstStyle/>
          <a:p>
            <a:r>
              <a:rPr lang="fr-FR" sz="2400" dirty="0"/>
              <a:t>Certificat X.509</a:t>
            </a:r>
          </a:p>
          <a:p>
            <a:endParaRPr lang="fr-FR" sz="2400" dirty="0"/>
          </a:p>
          <a:p>
            <a:endParaRPr lang="fr-FR" sz="2400" dirty="0"/>
          </a:p>
        </p:txBody>
      </p:sp>
      <p:sp>
        <p:nvSpPr>
          <p:cNvPr id="8" name="Espace réservé du texte 4">
            <a:extLst>
              <a:ext uri="{FF2B5EF4-FFF2-40B4-BE49-F238E27FC236}">
                <a16:creationId xmlns:a16="http://schemas.microsoft.com/office/drawing/2014/main" id="{14C252E1-A30A-1ACC-B75C-AC61370EA2EE}"/>
              </a:ext>
            </a:extLst>
          </p:cNvPr>
          <p:cNvSpPr>
            <a:spLocks noGrp="1"/>
          </p:cNvSpPr>
          <p:nvPr>
            <p:ph type="body" idx="13"/>
          </p:nvPr>
        </p:nvSpPr>
        <p:spPr>
          <a:xfrm>
            <a:off x="831850" y="1562583"/>
            <a:ext cx="10515600" cy="5081286"/>
          </a:xfrm>
        </p:spPr>
        <p:txBody>
          <a:bodyPr anchor="ctr">
            <a:normAutofit fontScale="85000" lnSpcReduction="20000"/>
          </a:bodyPr>
          <a:lstStyle/>
          <a:p>
            <a:r>
              <a:rPr lang="fr-FR" sz="3200" dirty="0">
                <a:solidFill>
                  <a:srgbClr val="09253D"/>
                </a:solidFill>
              </a:rPr>
              <a:t>Structure</a:t>
            </a:r>
          </a:p>
          <a:p>
            <a:pPr marL="914400" lvl="1" indent="-457200">
              <a:buFont typeface="Arial" panose="020B0604020202020204" pitchFamily="34" charset="0"/>
              <a:buChar char="•"/>
            </a:pPr>
            <a:r>
              <a:rPr lang="fr-FR" sz="2800" dirty="0"/>
              <a:t>Un certificat X.509 contient plusieurs champs normalisés, notamment</a:t>
            </a:r>
          </a:p>
          <a:p>
            <a:pPr marL="1828800" lvl="3" indent="-457200">
              <a:buFont typeface="Arial" panose="020B0604020202020204" pitchFamily="34" charset="0"/>
              <a:buChar char="•"/>
            </a:pPr>
            <a:r>
              <a:rPr lang="fr-FR" sz="2400" dirty="0"/>
              <a:t>Serial </a:t>
            </a:r>
            <a:r>
              <a:rPr lang="fr-FR" sz="2400" dirty="0" err="1"/>
              <a:t>Number</a:t>
            </a:r>
            <a:r>
              <a:rPr lang="fr-FR" sz="2400" dirty="0"/>
              <a:t> : identifiant unique du certificat</a:t>
            </a:r>
          </a:p>
          <a:p>
            <a:pPr marL="1828800" lvl="3" indent="-457200">
              <a:buFont typeface="Arial" panose="020B0604020202020204" pitchFamily="34" charset="0"/>
              <a:buChar char="•"/>
            </a:pPr>
            <a:r>
              <a:rPr lang="fr-FR" sz="2400" dirty="0" err="1"/>
              <a:t>Issuer</a:t>
            </a:r>
            <a:r>
              <a:rPr lang="fr-FR" sz="2400" dirty="0"/>
              <a:t> : l’autorité de certification émettrice</a:t>
            </a:r>
          </a:p>
          <a:p>
            <a:pPr marL="1828800" lvl="3" indent="-457200">
              <a:buFont typeface="Arial" panose="020B0604020202020204" pitchFamily="34" charset="0"/>
              <a:buChar char="•"/>
            </a:pPr>
            <a:r>
              <a:rPr lang="fr-FR" sz="2400" dirty="0" err="1"/>
              <a:t>Validity</a:t>
            </a:r>
            <a:r>
              <a:rPr lang="fr-FR" sz="2400" dirty="0"/>
              <a:t> : période de validité (</a:t>
            </a:r>
            <a:r>
              <a:rPr lang="fr-FR" sz="2400" dirty="0" err="1"/>
              <a:t>notBefore</a:t>
            </a:r>
            <a:r>
              <a:rPr lang="fr-FR" sz="2400" dirty="0"/>
              <a:t> / </a:t>
            </a:r>
            <a:r>
              <a:rPr lang="fr-FR" sz="2400" dirty="0" err="1"/>
              <a:t>notAfter</a:t>
            </a:r>
            <a:r>
              <a:rPr lang="fr-FR" sz="2400" dirty="0"/>
              <a:t>)</a:t>
            </a:r>
          </a:p>
          <a:p>
            <a:pPr marL="1828800" lvl="3" indent="-457200">
              <a:buFont typeface="Arial" panose="020B0604020202020204" pitchFamily="34" charset="0"/>
              <a:buChar char="•"/>
            </a:pPr>
            <a:r>
              <a:rPr lang="fr-FR" sz="2400" dirty="0" err="1"/>
              <a:t>Subject</a:t>
            </a:r>
            <a:r>
              <a:rPr lang="fr-FR" sz="2400" dirty="0"/>
              <a:t> : identité du titulaire	</a:t>
            </a:r>
          </a:p>
          <a:p>
            <a:pPr marL="2286000" lvl="4" indent="-457200">
              <a:buFont typeface="Arial" panose="020B0604020202020204" pitchFamily="34" charset="0"/>
              <a:buChar char="•"/>
            </a:pPr>
            <a:r>
              <a:rPr lang="fr-FR" sz="2400" dirty="0"/>
              <a:t>C=FR		→ Pays : France  </a:t>
            </a:r>
          </a:p>
          <a:p>
            <a:pPr marL="2286000" lvl="4" indent="-457200">
              <a:buFont typeface="Arial" panose="020B0604020202020204" pitchFamily="34" charset="0"/>
              <a:buChar char="•"/>
            </a:pPr>
            <a:r>
              <a:rPr lang="fr-FR" sz="2400" dirty="0"/>
              <a:t>ST=France		→ État / région  </a:t>
            </a:r>
          </a:p>
          <a:p>
            <a:pPr marL="2286000" lvl="4" indent="-457200">
              <a:buFont typeface="Arial" panose="020B0604020202020204" pitchFamily="34" charset="0"/>
              <a:buChar char="•"/>
            </a:pPr>
            <a:r>
              <a:rPr lang="fr-FR" sz="2400" dirty="0"/>
              <a:t>L=Grenoble		→ Ville  </a:t>
            </a:r>
          </a:p>
          <a:p>
            <a:pPr marL="2286000" lvl="4" indent="-457200">
              <a:buFont typeface="Arial" panose="020B0604020202020204" pitchFamily="34" charset="0"/>
              <a:buChar char="•"/>
            </a:pPr>
            <a:r>
              <a:rPr lang="fr-FR" sz="2400" dirty="0"/>
              <a:t>O=Entreprise		→ Organisation  </a:t>
            </a:r>
          </a:p>
          <a:p>
            <a:pPr marL="2286000" lvl="4" indent="-457200">
              <a:buFont typeface="Arial" panose="020B0604020202020204" pitchFamily="34" charset="0"/>
              <a:buChar char="•"/>
            </a:pPr>
            <a:r>
              <a:rPr lang="fr-FR" sz="2400" dirty="0"/>
              <a:t>OU=IT		→ Unité organisationnelle  </a:t>
            </a:r>
          </a:p>
          <a:p>
            <a:pPr marL="2286000" lvl="4" indent="-457200">
              <a:buFont typeface="Arial" panose="020B0604020202020204" pitchFamily="34" charset="0"/>
              <a:buChar char="•"/>
            </a:pPr>
            <a:r>
              <a:rPr lang="fr-FR" sz="2400" dirty="0"/>
              <a:t>CN=</a:t>
            </a:r>
            <a:r>
              <a:rPr lang="fr-FR" sz="2400" dirty="0" err="1"/>
              <a:t>techwave.lab</a:t>
            </a:r>
            <a:r>
              <a:rPr lang="fr-FR" sz="2400" dirty="0"/>
              <a:t>	→ Nom commun (souvent le FQDN)</a:t>
            </a:r>
          </a:p>
          <a:p>
            <a:pPr marL="1828800" lvl="3" indent="-457200">
              <a:buFont typeface="Arial" panose="020B0604020202020204" pitchFamily="34" charset="0"/>
              <a:buChar char="•"/>
            </a:pPr>
            <a:r>
              <a:rPr lang="fr-FR" sz="2400" dirty="0"/>
              <a:t>Public Key : la clé publique du titulaire</a:t>
            </a:r>
          </a:p>
          <a:p>
            <a:pPr marL="1828800" lvl="3" indent="-457200">
              <a:buFont typeface="Arial" panose="020B0604020202020204" pitchFamily="34" charset="0"/>
              <a:buChar char="•"/>
            </a:pPr>
            <a:r>
              <a:rPr lang="fr-FR" sz="2400" dirty="0"/>
              <a:t>Signature : signature du certificat par la CA</a:t>
            </a:r>
          </a:p>
          <a:p>
            <a:pPr marL="914400" lvl="1" indent="-457200">
              <a:buFont typeface="Arial" panose="020B0604020202020204" pitchFamily="34" charset="0"/>
              <a:buChar char="•"/>
            </a:pPr>
            <a:r>
              <a:rPr lang="fr-FR" sz="2800" dirty="0"/>
              <a:t>Ces champs sont encodés en ASN.1 et souvent présentés en PEM (Base64 avec en-tête)</a:t>
            </a:r>
          </a:p>
        </p:txBody>
      </p:sp>
    </p:spTree>
    <p:extLst>
      <p:ext uri="{BB962C8B-B14F-4D97-AF65-F5344CB8AC3E}">
        <p14:creationId xmlns:p14="http://schemas.microsoft.com/office/powerpoint/2010/main" val="475422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B7CF8-694F-2FAF-4A30-2B9DB59741CD}"/>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D851FBBF-5BE7-B756-DAC9-D6A8AC90EE68}"/>
              </a:ext>
            </a:extLst>
          </p:cNvPr>
          <p:cNvSpPr>
            <a:spLocks noGrp="1"/>
          </p:cNvSpPr>
          <p:nvPr>
            <p:ph type="title"/>
          </p:nvPr>
        </p:nvSpPr>
        <p:spPr/>
        <p:txBody>
          <a:bodyPr/>
          <a:lstStyle/>
          <a:p>
            <a:r>
              <a:rPr lang="fr-FR" dirty="0"/>
              <a:t>Certificats numériques</a:t>
            </a:r>
          </a:p>
        </p:txBody>
      </p:sp>
      <p:sp>
        <p:nvSpPr>
          <p:cNvPr id="4" name="Sous-titre 3">
            <a:extLst>
              <a:ext uri="{FF2B5EF4-FFF2-40B4-BE49-F238E27FC236}">
                <a16:creationId xmlns:a16="http://schemas.microsoft.com/office/drawing/2014/main" id="{275911A6-8729-1D86-ED93-7979DF698578}"/>
              </a:ext>
            </a:extLst>
          </p:cNvPr>
          <p:cNvSpPr>
            <a:spLocks noGrp="1"/>
          </p:cNvSpPr>
          <p:nvPr>
            <p:ph type="subTitle" idx="1"/>
          </p:nvPr>
        </p:nvSpPr>
        <p:spPr/>
        <p:txBody>
          <a:bodyPr>
            <a:normAutofit/>
          </a:bodyPr>
          <a:lstStyle/>
          <a:p>
            <a:r>
              <a:rPr lang="fr-FR" sz="2400" dirty="0"/>
              <a:t>Certificat X.509</a:t>
            </a:r>
          </a:p>
          <a:p>
            <a:endParaRPr lang="fr-FR" sz="2400" dirty="0"/>
          </a:p>
          <a:p>
            <a:endParaRPr lang="fr-FR" sz="2400" dirty="0"/>
          </a:p>
        </p:txBody>
      </p:sp>
      <p:sp>
        <p:nvSpPr>
          <p:cNvPr id="8" name="Espace réservé du texte 4">
            <a:extLst>
              <a:ext uri="{FF2B5EF4-FFF2-40B4-BE49-F238E27FC236}">
                <a16:creationId xmlns:a16="http://schemas.microsoft.com/office/drawing/2014/main" id="{F2544D72-BCDC-2444-A41E-79D01A3373A5}"/>
              </a:ext>
            </a:extLst>
          </p:cNvPr>
          <p:cNvSpPr>
            <a:spLocks noGrp="1"/>
          </p:cNvSpPr>
          <p:nvPr>
            <p:ph type="body" idx="13"/>
          </p:nvPr>
        </p:nvSpPr>
        <p:spPr>
          <a:xfrm>
            <a:off x="831850" y="1632029"/>
            <a:ext cx="10515600" cy="5225971"/>
          </a:xfrm>
        </p:spPr>
        <p:txBody>
          <a:bodyPr anchor="ctr">
            <a:normAutofit fontScale="92500" lnSpcReduction="20000"/>
          </a:bodyPr>
          <a:lstStyle/>
          <a:p>
            <a:r>
              <a:rPr lang="fr-FR" sz="3200" dirty="0">
                <a:solidFill>
                  <a:srgbClr val="09253D"/>
                </a:solidFill>
              </a:rPr>
              <a:t>Générer un certificat X.509</a:t>
            </a:r>
          </a:p>
          <a:p>
            <a:pPr marL="914400" lvl="1" indent="-457200">
              <a:buFont typeface="Arial" panose="020B0604020202020204" pitchFamily="34" charset="0"/>
              <a:buChar char="•"/>
            </a:pPr>
            <a:r>
              <a:rPr lang="fr-FR" sz="2800" dirty="0"/>
              <a:t>La commande suivante permet de générer un certificat X.509</a:t>
            </a:r>
          </a:p>
          <a:p>
            <a:pPr marL="914400" lvl="1" indent="-457200">
              <a:buFont typeface="Arial" panose="020B0604020202020204" pitchFamily="34" charset="0"/>
              <a:buChar char="•"/>
            </a:pPr>
            <a:endParaRPr lang="fr-FR" sz="2800" dirty="0"/>
          </a:p>
          <a:p>
            <a:pPr lvl="1"/>
            <a:endParaRPr lang="fr-FR" sz="2800" dirty="0"/>
          </a:p>
          <a:p>
            <a:pPr marL="914400" lvl="1" indent="-457200">
              <a:buFont typeface="Arial" panose="020B0604020202020204" pitchFamily="34" charset="0"/>
              <a:buChar char="•"/>
            </a:pPr>
            <a:endParaRPr lang="fr-FR" sz="2800" dirty="0"/>
          </a:p>
          <a:p>
            <a:pPr marL="914400" lvl="1" indent="-457200">
              <a:buFont typeface="Arial" panose="020B0604020202020204" pitchFamily="34" charset="0"/>
              <a:buChar char="•"/>
            </a:pPr>
            <a:endParaRPr lang="fr-FR" sz="2800" dirty="0"/>
          </a:p>
          <a:p>
            <a:pPr lvl="1"/>
            <a:endParaRPr lang="fr-FR" sz="2800" dirty="0"/>
          </a:p>
          <a:p>
            <a:pPr marL="1371600" lvl="2" indent="-457200">
              <a:buFont typeface="Arial" panose="020B0604020202020204" pitchFamily="34" charset="0"/>
              <a:buChar char="•"/>
            </a:pPr>
            <a:r>
              <a:rPr lang="fr-FR" sz="2600" dirty="0"/>
              <a:t>Explication des options :</a:t>
            </a:r>
          </a:p>
          <a:p>
            <a:pPr marL="1828800" lvl="3" indent="-457200">
              <a:buFont typeface="Arial" panose="020B0604020202020204" pitchFamily="34" charset="0"/>
              <a:buChar char="•"/>
            </a:pPr>
            <a:r>
              <a:rPr lang="fr-FR" sz="1800" dirty="0" err="1"/>
              <a:t>req</a:t>
            </a:r>
            <a:r>
              <a:rPr lang="fr-FR" sz="1800" dirty="0"/>
              <a:t>		Génération d’un CSR ou d’un certificat</a:t>
            </a:r>
          </a:p>
          <a:p>
            <a:pPr marL="1828800" lvl="3" indent="-457200">
              <a:buFont typeface="Arial" panose="020B0604020202020204" pitchFamily="34" charset="0"/>
              <a:buChar char="•"/>
            </a:pPr>
            <a:r>
              <a:rPr lang="fr-FR" sz="1800" dirty="0"/>
              <a:t>-</a:t>
            </a:r>
            <a:r>
              <a:rPr lang="fr-FR" sz="1800" dirty="0" err="1"/>
              <a:t>newkey</a:t>
            </a:r>
            <a:r>
              <a:rPr lang="fr-FR" sz="1800" dirty="0"/>
              <a:t> rsa:4096	Génère une paire de clés RSA de 4096 bits</a:t>
            </a:r>
          </a:p>
          <a:p>
            <a:pPr marL="1828800" lvl="3" indent="-457200">
              <a:buFont typeface="Arial" panose="020B0604020202020204" pitchFamily="34" charset="0"/>
              <a:buChar char="•"/>
            </a:pPr>
            <a:r>
              <a:rPr lang="fr-FR" sz="1800" dirty="0"/>
              <a:t>-</a:t>
            </a:r>
            <a:r>
              <a:rPr lang="fr-FR" sz="1800" dirty="0" err="1"/>
              <a:t>nodes</a:t>
            </a:r>
            <a:r>
              <a:rPr lang="fr-FR" sz="1800" dirty="0"/>
              <a:t>		Ne chiffre pas la clé privée (pas de </a:t>
            </a:r>
            <a:r>
              <a:rPr lang="fr-FR" sz="1800" dirty="0" err="1"/>
              <a:t>passphrase</a:t>
            </a:r>
            <a:r>
              <a:rPr lang="fr-FR" sz="1800" dirty="0"/>
              <a:t>)</a:t>
            </a:r>
          </a:p>
          <a:p>
            <a:pPr marL="1828800" lvl="3" indent="-457200">
              <a:buFont typeface="Arial" panose="020B0604020202020204" pitchFamily="34" charset="0"/>
              <a:buChar char="•"/>
            </a:pPr>
            <a:r>
              <a:rPr lang="fr-FR" sz="1800" dirty="0"/>
              <a:t>-</a:t>
            </a:r>
            <a:r>
              <a:rPr lang="fr-FR" sz="1800" dirty="0" err="1"/>
              <a:t>keyout</a:t>
            </a:r>
            <a:r>
              <a:rPr lang="fr-FR" sz="1800" dirty="0"/>
              <a:t>		Spécifie le chemin de sortie de la clé privée</a:t>
            </a:r>
          </a:p>
          <a:p>
            <a:pPr marL="1828800" lvl="3" indent="-457200">
              <a:buFont typeface="Arial" panose="020B0604020202020204" pitchFamily="34" charset="0"/>
              <a:buChar char="•"/>
            </a:pPr>
            <a:r>
              <a:rPr lang="fr-FR" sz="1800" dirty="0"/>
              <a:t>-x509		Génère directement un certificat auto-signé au lieu d’un CSR-</a:t>
            </a:r>
          </a:p>
          <a:p>
            <a:pPr marL="1828800" lvl="3" indent="-457200">
              <a:buFont typeface="Arial" panose="020B0604020202020204" pitchFamily="34" charset="0"/>
              <a:buChar char="•"/>
            </a:pPr>
            <a:r>
              <a:rPr lang="fr-FR" sz="1800" dirty="0" err="1"/>
              <a:t>days</a:t>
            </a:r>
            <a:r>
              <a:rPr lang="fr-FR" sz="1800" dirty="0"/>
              <a:t> 365		Définit la durée de validité du certificat en jours</a:t>
            </a:r>
          </a:p>
          <a:p>
            <a:pPr marL="1828800" lvl="3" indent="-457200">
              <a:buFont typeface="Arial" panose="020B0604020202020204" pitchFamily="34" charset="0"/>
              <a:buChar char="•"/>
            </a:pPr>
            <a:r>
              <a:rPr lang="fr-FR" sz="1800" dirty="0"/>
              <a:t>-out		Spécifie le fichier de sortie du certificat</a:t>
            </a:r>
          </a:p>
          <a:p>
            <a:pPr marL="1828800" lvl="3" indent="-457200">
              <a:buFont typeface="Arial" panose="020B0604020202020204" pitchFamily="34" charset="0"/>
              <a:buChar char="•"/>
            </a:pPr>
            <a:r>
              <a:rPr lang="fr-FR" sz="1800" dirty="0"/>
              <a:t>-subj		Fournit les informations d’identité du certificat (DN)</a:t>
            </a:r>
          </a:p>
          <a:p>
            <a:pPr marL="914400" lvl="1" indent="-457200">
              <a:buFont typeface="Arial" panose="020B0604020202020204" pitchFamily="34" charset="0"/>
              <a:buChar char="•"/>
            </a:pPr>
            <a:endParaRPr lang="fr-FR" sz="2800" dirty="0"/>
          </a:p>
        </p:txBody>
      </p:sp>
      <p:graphicFrame>
        <p:nvGraphicFramePr>
          <p:cNvPr id="2" name="Tableau 1">
            <a:extLst>
              <a:ext uri="{FF2B5EF4-FFF2-40B4-BE49-F238E27FC236}">
                <a16:creationId xmlns:a16="http://schemas.microsoft.com/office/drawing/2014/main" id="{8357F191-6CDB-EE4C-7E15-C0B63785E6F2}"/>
              </a:ext>
            </a:extLst>
          </p:cNvPr>
          <p:cNvGraphicFramePr>
            <a:graphicFrameLocks noGrp="1"/>
          </p:cNvGraphicFramePr>
          <p:nvPr>
            <p:extLst>
              <p:ext uri="{D42A27DB-BD31-4B8C-83A1-F6EECF244321}">
                <p14:modId xmlns:p14="http://schemas.microsoft.com/office/powerpoint/2010/main" val="24685839"/>
              </p:ext>
            </p:extLst>
          </p:nvPr>
        </p:nvGraphicFramePr>
        <p:xfrm>
          <a:off x="1846805" y="2489136"/>
          <a:ext cx="9727878" cy="1463040"/>
        </p:xfrm>
        <a:graphic>
          <a:graphicData uri="http://schemas.openxmlformats.org/drawingml/2006/table">
            <a:tbl>
              <a:tblPr firstRow="1" bandRow="1">
                <a:tableStyleId>{5C22544A-7EE6-4342-B048-85BDC9FD1C3A}</a:tableStyleId>
              </a:tblPr>
              <a:tblGrid>
                <a:gridCol w="9727878">
                  <a:extLst>
                    <a:ext uri="{9D8B030D-6E8A-4147-A177-3AD203B41FA5}">
                      <a16:colId xmlns:a16="http://schemas.microsoft.com/office/drawing/2014/main" val="418772237"/>
                    </a:ext>
                  </a:extLst>
                </a:gridCol>
              </a:tblGrid>
              <a:tr h="2805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solidFill>
                            <a:schemeClr val="bg1"/>
                          </a:solidFill>
                          <a:latin typeface="Consolas" panose="020B0609020204030204" pitchFamily="49" charset="0"/>
                        </a:rPr>
                        <a:t>openssl</a:t>
                      </a:r>
                      <a:r>
                        <a:rPr lang="en-US" sz="1800" dirty="0">
                          <a:solidFill>
                            <a:schemeClr val="bg1"/>
                          </a:solidFill>
                          <a:latin typeface="Consolas" panose="020B0609020204030204" pitchFamily="49" charset="0"/>
                        </a:rPr>
                        <a:t> req -</a:t>
                      </a:r>
                      <a:r>
                        <a:rPr lang="en-US" sz="1800" dirty="0" err="1">
                          <a:solidFill>
                            <a:schemeClr val="bg1"/>
                          </a:solidFill>
                          <a:latin typeface="Consolas" panose="020B0609020204030204" pitchFamily="49" charset="0"/>
                        </a:rPr>
                        <a:t>newkey</a:t>
                      </a:r>
                      <a:r>
                        <a:rPr lang="en-US" sz="1800" dirty="0">
                          <a:solidFill>
                            <a:schemeClr val="bg1"/>
                          </a:solidFill>
                          <a:latin typeface="Consolas" panose="020B0609020204030204" pitchFamily="49" charset="0"/>
                        </a:rPr>
                        <a:t> rsa:4096 -nodes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bg1"/>
                          </a:solidFill>
                          <a:latin typeface="Consolas" panose="020B0609020204030204" pitchFamily="49" charset="0"/>
                        </a:rPr>
                        <a:t>  -</a:t>
                      </a:r>
                      <a:r>
                        <a:rPr lang="en-US" sz="1800" dirty="0" err="1">
                          <a:solidFill>
                            <a:schemeClr val="bg1"/>
                          </a:solidFill>
                          <a:latin typeface="Consolas" panose="020B0609020204030204" pitchFamily="49" charset="0"/>
                        </a:rPr>
                        <a:t>keyout</a:t>
                      </a:r>
                      <a:r>
                        <a:rPr lang="en-US" sz="1800" dirty="0">
                          <a:solidFill>
                            <a:schemeClr val="bg1"/>
                          </a:solidFill>
                          <a:latin typeface="Consolas" panose="020B0609020204030204" pitchFamily="49" charset="0"/>
                        </a:rPr>
                        <a:t> chemin/</a:t>
                      </a:r>
                      <a:r>
                        <a:rPr lang="en-US" sz="1800" dirty="0" err="1">
                          <a:solidFill>
                            <a:schemeClr val="bg1"/>
                          </a:solidFill>
                          <a:latin typeface="Consolas" panose="020B0609020204030204" pitchFamily="49" charset="0"/>
                        </a:rPr>
                        <a:t>vers</a:t>
                      </a:r>
                      <a:r>
                        <a:rPr lang="en-US" sz="1800" dirty="0">
                          <a:solidFill>
                            <a:schemeClr val="bg1"/>
                          </a:solidFill>
                          <a:latin typeface="Consolas" panose="020B0609020204030204" pitchFamily="49" charset="0"/>
                        </a:rPr>
                        <a:t>/</a:t>
                      </a:r>
                      <a:r>
                        <a:rPr lang="en-US" sz="1800" dirty="0" err="1">
                          <a:solidFill>
                            <a:schemeClr val="bg1"/>
                          </a:solidFill>
                          <a:latin typeface="Consolas" panose="020B0609020204030204" pitchFamily="49" charset="0"/>
                        </a:rPr>
                        <a:t>ma_cle.key</a:t>
                      </a:r>
                      <a:r>
                        <a:rPr lang="en-US" sz="1800" dirty="0">
                          <a:solidFill>
                            <a:schemeClr val="bg1"/>
                          </a:solidFill>
                          <a:latin typeface="Consolas" panose="020B0609020204030204" pitchFamily="49"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bg1"/>
                          </a:solidFill>
                          <a:latin typeface="Consolas" panose="020B0609020204030204" pitchFamily="49" charset="0"/>
                        </a:rPr>
                        <a:t>  -x509 -days 365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bg1"/>
                          </a:solidFill>
                          <a:latin typeface="Consolas" panose="020B0609020204030204" pitchFamily="49" charset="0"/>
                        </a:rPr>
                        <a:t>  -out chemin/</a:t>
                      </a:r>
                      <a:r>
                        <a:rPr lang="en-US" sz="1800" dirty="0" err="1">
                          <a:solidFill>
                            <a:schemeClr val="bg1"/>
                          </a:solidFill>
                          <a:latin typeface="Consolas" panose="020B0609020204030204" pitchFamily="49" charset="0"/>
                        </a:rPr>
                        <a:t>vers</a:t>
                      </a:r>
                      <a:r>
                        <a:rPr lang="en-US" sz="1800" dirty="0">
                          <a:solidFill>
                            <a:schemeClr val="bg1"/>
                          </a:solidFill>
                          <a:latin typeface="Consolas" panose="020B0609020204030204" pitchFamily="49" charset="0"/>
                        </a:rPr>
                        <a:t>/mon_certificat.crt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bg1"/>
                          </a:solidFill>
                          <a:latin typeface="Consolas" panose="020B0609020204030204" pitchFamily="49" charset="0"/>
                        </a:rPr>
                        <a:t>  -subj "/C=FR/ST=</a:t>
                      </a:r>
                      <a:r>
                        <a:rPr lang="en-US" sz="1800" dirty="0" err="1">
                          <a:solidFill>
                            <a:schemeClr val="bg1"/>
                          </a:solidFill>
                          <a:latin typeface="Consolas" panose="020B0609020204030204" pitchFamily="49" charset="0"/>
                        </a:rPr>
                        <a:t>Région</a:t>
                      </a:r>
                      <a:r>
                        <a:rPr lang="en-US" sz="1800" dirty="0">
                          <a:solidFill>
                            <a:schemeClr val="bg1"/>
                          </a:solidFill>
                          <a:latin typeface="Consolas" panose="020B0609020204030204" pitchFamily="49" charset="0"/>
                        </a:rPr>
                        <a:t>/L=Ville/O=</a:t>
                      </a:r>
                      <a:r>
                        <a:rPr lang="en-US" sz="1800" dirty="0" err="1">
                          <a:solidFill>
                            <a:schemeClr val="bg1"/>
                          </a:solidFill>
                          <a:latin typeface="Consolas" panose="020B0609020204030204" pitchFamily="49" charset="0"/>
                        </a:rPr>
                        <a:t>Organisation</a:t>
                      </a:r>
                      <a:r>
                        <a:rPr lang="en-US" sz="1800" dirty="0">
                          <a:solidFill>
                            <a:schemeClr val="bg1"/>
                          </a:solidFill>
                          <a:latin typeface="Consolas" panose="020B0609020204030204" pitchFamily="49" charset="0"/>
                        </a:rPr>
                        <a:t>/OU=</a:t>
                      </a:r>
                      <a:r>
                        <a:rPr lang="en-US" sz="1800" dirty="0" err="1">
                          <a:solidFill>
                            <a:schemeClr val="bg1"/>
                          </a:solidFill>
                          <a:latin typeface="Consolas" panose="020B0609020204030204" pitchFamily="49" charset="0"/>
                        </a:rPr>
                        <a:t>Unité</a:t>
                      </a:r>
                      <a:r>
                        <a:rPr lang="en-US" sz="1800" dirty="0">
                          <a:solidFill>
                            <a:schemeClr val="bg1"/>
                          </a:solidFill>
                          <a:latin typeface="Consolas" panose="020B0609020204030204" pitchFamily="49" charset="0"/>
                        </a:rPr>
                        <a:t>/CN=</a:t>
                      </a:r>
                      <a:r>
                        <a:rPr lang="en-US" sz="1800" dirty="0" err="1">
                          <a:solidFill>
                            <a:schemeClr val="bg1"/>
                          </a:solidFill>
                          <a:latin typeface="Consolas" panose="020B0609020204030204" pitchFamily="49" charset="0"/>
                        </a:rPr>
                        <a:t>nom.domaine.tld</a:t>
                      </a:r>
                      <a:r>
                        <a:rPr lang="en-US" sz="1800" dirty="0">
                          <a:solidFill>
                            <a:schemeClr val="bg1"/>
                          </a:solidFill>
                          <a:latin typeface="Consolas" panose="020B0609020204030204" pitchFamily="49" charset="0"/>
                        </a:rPr>
                        <a:t>"</a:t>
                      </a:r>
                    </a:p>
                  </a:txBody>
                  <a:tcPr>
                    <a:solidFill>
                      <a:schemeClr val="tx1"/>
                    </a:solidFill>
                  </a:tcPr>
                </a:tc>
                <a:extLst>
                  <a:ext uri="{0D108BD9-81ED-4DB2-BD59-A6C34878D82A}">
                    <a16:rowId xmlns:a16="http://schemas.microsoft.com/office/drawing/2014/main" val="1806545200"/>
                  </a:ext>
                </a:extLst>
              </a:tr>
            </a:tbl>
          </a:graphicData>
        </a:graphic>
      </p:graphicFrame>
    </p:spTree>
    <p:extLst>
      <p:ext uri="{BB962C8B-B14F-4D97-AF65-F5344CB8AC3E}">
        <p14:creationId xmlns:p14="http://schemas.microsoft.com/office/powerpoint/2010/main" val="38451726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A64C7-08FD-BFA3-DAFF-F209350F3575}"/>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99E5549C-BD90-9638-4854-220B0A7D768A}"/>
              </a:ext>
            </a:extLst>
          </p:cNvPr>
          <p:cNvSpPr>
            <a:spLocks noGrp="1"/>
          </p:cNvSpPr>
          <p:nvPr>
            <p:ph type="title"/>
          </p:nvPr>
        </p:nvSpPr>
        <p:spPr/>
        <p:txBody>
          <a:bodyPr/>
          <a:lstStyle/>
          <a:p>
            <a:r>
              <a:rPr lang="fr-FR" dirty="0"/>
              <a:t>Certificats numériques</a:t>
            </a:r>
          </a:p>
        </p:txBody>
      </p:sp>
      <p:sp>
        <p:nvSpPr>
          <p:cNvPr id="4" name="Sous-titre 3">
            <a:extLst>
              <a:ext uri="{FF2B5EF4-FFF2-40B4-BE49-F238E27FC236}">
                <a16:creationId xmlns:a16="http://schemas.microsoft.com/office/drawing/2014/main" id="{E9CBD024-65B9-4714-DF1D-E6DA725647F5}"/>
              </a:ext>
            </a:extLst>
          </p:cNvPr>
          <p:cNvSpPr>
            <a:spLocks noGrp="1"/>
          </p:cNvSpPr>
          <p:nvPr>
            <p:ph type="subTitle" idx="1"/>
          </p:nvPr>
        </p:nvSpPr>
        <p:spPr/>
        <p:txBody>
          <a:bodyPr>
            <a:normAutofit/>
          </a:bodyPr>
          <a:lstStyle/>
          <a:p>
            <a:r>
              <a:rPr lang="fr-FR" sz="2400" dirty="0"/>
              <a:t>Certificat X.509</a:t>
            </a:r>
          </a:p>
          <a:p>
            <a:endParaRPr lang="fr-FR" sz="2400" dirty="0"/>
          </a:p>
          <a:p>
            <a:endParaRPr lang="fr-FR" sz="2400" dirty="0"/>
          </a:p>
        </p:txBody>
      </p:sp>
      <p:sp>
        <p:nvSpPr>
          <p:cNvPr id="8" name="Espace réservé du texte 4">
            <a:extLst>
              <a:ext uri="{FF2B5EF4-FFF2-40B4-BE49-F238E27FC236}">
                <a16:creationId xmlns:a16="http://schemas.microsoft.com/office/drawing/2014/main" id="{D7ACEF00-093F-5CE3-B846-50C98F844A63}"/>
              </a:ext>
            </a:extLst>
          </p:cNvPr>
          <p:cNvSpPr>
            <a:spLocks noGrp="1"/>
          </p:cNvSpPr>
          <p:nvPr>
            <p:ph type="body" idx="13"/>
          </p:nvPr>
        </p:nvSpPr>
        <p:spPr>
          <a:xfrm>
            <a:off x="33200" y="1750506"/>
            <a:ext cx="6726415" cy="4650293"/>
          </a:xfrm>
        </p:spPr>
        <p:txBody>
          <a:bodyPr anchor="ctr">
            <a:normAutofit lnSpcReduction="10000"/>
          </a:bodyPr>
          <a:lstStyle/>
          <a:p>
            <a:r>
              <a:rPr lang="fr-FR" sz="3200" dirty="0">
                <a:solidFill>
                  <a:srgbClr val="09253D"/>
                </a:solidFill>
              </a:rPr>
              <a:t>Visualiser un certificat X.509</a:t>
            </a:r>
          </a:p>
          <a:p>
            <a:pPr marL="914400" lvl="1" indent="-457200">
              <a:buFont typeface="Arial" panose="020B0604020202020204" pitchFamily="34" charset="0"/>
              <a:buChar char="•"/>
            </a:pPr>
            <a:r>
              <a:rPr lang="fr-FR" sz="2800" dirty="0"/>
              <a:t>La commande suivante affiche tous les champs et extensions d’un fichier de certificat</a:t>
            </a:r>
          </a:p>
          <a:p>
            <a:pPr lvl="1"/>
            <a:endParaRPr lang="fr-FR" sz="2800" dirty="0"/>
          </a:p>
          <a:p>
            <a:pPr marL="914400" lvl="1" indent="-457200">
              <a:buFont typeface="Arial" panose="020B0604020202020204" pitchFamily="34" charset="0"/>
              <a:buChar char="•"/>
            </a:pPr>
            <a:r>
              <a:rPr lang="fr-FR" sz="2800" dirty="0"/>
              <a:t>La commande suivante affiche le certificat de google.com</a:t>
            </a:r>
          </a:p>
          <a:p>
            <a:pPr marL="914400" lvl="1" indent="-457200">
              <a:buFont typeface="Arial" panose="020B0604020202020204" pitchFamily="34" charset="0"/>
              <a:buChar char="•"/>
            </a:pPr>
            <a:endParaRPr lang="fr-FR" sz="2800" dirty="0"/>
          </a:p>
          <a:p>
            <a:pPr marL="914400" lvl="1" indent="-457200">
              <a:buFont typeface="Arial" panose="020B0604020202020204" pitchFamily="34" charset="0"/>
              <a:buChar char="•"/>
            </a:pPr>
            <a:r>
              <a:rPr lang="fr-FR" sz="2800" dirty="0"/>
              <a:t>Les navigateurs permettent aussi d’inspecter les certificats TLS d’un site web</a:t>
            </a:r>
          </a:p>
        </p:txBody>
      </p:sp>
      <p:graphicFrame>
        <p:nvGraphicFramePr>
          <p:cNvPr id="5" name="Tableau 4">
            <a:extLst>
              <a:ext uri="{FF2B5EF4-FFF2-40B4-BE49-F238E27FC236}">
                <a16:creationId xmlns:a16="http://schemas.microsoft.com/office/drawing/2014/main" id="{85140867-A7C6-B3F6-BF03-FA18098BA2CA}"/>
              </a:ext>
            </a:extLst>
          </p:cNvPr>
          <p:cNvGraphicFramePr>
            <a:graphicFrameLocks noGrp="1"/>
          </p:cNvGraphicFramePr>
          <p:nvPr>
            <p:extLst>
              <p:ext uri="{D42A27DB-BD31-4B8C-83A1-F6EECF244321}">
                <p14:modId xmlns:p14="http://schemas.microsoft.com/office/powerpoint/2010/main" val="753923115"/>
              </p:ext>
            </p:extLst>
          </p:nvPr>
        </p:nvGraphicFramePr>
        <p:xfrm>
          <a:off x="1048157" y="3549238"/>
          <a:ext cx="5711458" cy="370840"/>
        </p:xfrm>
        <a:graphic>
          <a:graphicData uri="http://schemas.openxmlformats.org/drawingml/2006/table">
            <a:tbl>
              <a:tblPr firstRow="1" bandRow="1">
                <a:tableStyleId>{5C22544A-7EE6-4342-B048-85BDC9FD1C3A}</a:tableStyleId>
              </a:tblPr>
              <a:tblGrid>
                <a:gridCol w="5711458">
                  <a:extLst>
                    <a:ext uri="{9D8B030D-6E8A-4147-A177-3AD203B41FA5}">
                      <a16:colId xmlns:a16="http://schemas.microsoft.com/office/drawing/2014/main" val="418772237"/>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solidFill>
                            <a:schemeClr val="bg1"/>
                          </a:solidFill>
                          <a:latin typeface="Consolas" panose="020B0609020204030204" pitchFamily="49" charset="0"/>
                        </a:rPr>
                        <a:t>openssl</a:t>
                      </a:r>
                      <a:r>
                        <a:rPr lang="en-US" sz="1800" dirty="0">
                          <a:solidFill>
                            <a:schemeClr val="bg1"/>
                          </a:solidFill>
                          <a:latin typeface="Consolas" panose="020B0609020204030204" pitchFamily="49" charset="0"/>
                        </a:rPr>
                        <a:t> x509 -in </a:t>
                      </a:r>
                      <a:r>
                        <a:rPr lang="en-US" sz="1800" dirty="0" err="1">
                          <a:solidFill>
                            <a:schemeClr val="bg1"/>
                          </a:solidFill>
                          <a:latin typeface="Consolas" panose="020B0609020204030204" pitchFamily="49" charset="0"/>
                        </a:rPr>
                        <a:t>certificat.pem</a:t>
                      </a:r>
                      <a:r>
                        <a:rPr lang="en-US" sz="1800" dirty="0">
                          <a:solidFill>
                            <a:schemeClr val="bg1"/>
                          </a:solidFill>
                          <a:latin typeface="Consolas" panose="020B0609020204030204" pitchFamily="49" charset="0"/>
                        </a:rPr>
                        <a:t> -text -</a:t>
                      </a:r>
                      <a:r>
                        <a:rPr lang="en-US" sz="1800" dirty="0" err="1">
                          <a:solidFill>
                            <a:schemeClr val="bg1"/>
                          </a:solidFill>
                          <a:latin typeface="Consolas" panose="020B0609020204030204" pitchFamily="49" charset="0"/>
                        </a:rPr>
                        <a:t>noout</a:t>
                      </a:r>
                      <a:endParaRPr lang="en-US" sz="1800" dirty="0">
                        <a:solidFill>
                          <a:schemeClr val="bg1"/>
                        </a:solidFill>
                        <a:latin typeface="Consolas" panose="020B0609020204030204" pitchFamily="49" charset="0"/>
                      </a:endParaRPr>
                    </a:p>
                  </a:txBody>
                  <a:tcPr>
                    <a:solidFill>
                      <a:schemeClr val="tx1"/>
                    </a:solidFill>
                  </a:tcPr>
                </a:tc>
                <a:extLst>
                  <a:ext uri="{0D108BD9-81ED-4DB2-BD59-A6C34878D82A}">
                    <a16:rowId xmlns:a16="http://schemas.microsoft.com/office/drawing/2014/main" val="1806545200"/>
                  </a:ext>
                </a:extLst>
              </a:tr>
            </a:tbl>
          </a:graphicData>
        </a:graphic>
      </p:graphicFrame>
      <p:graphicFrame>
        <p:nvGraphicFramePr>
          <p:cNvPr id="6" name="Tableau 5">
            <a:extLst>
              <a:ext uri="{FF2B5EF4-FFF2-40B4-BE49-F238E27FC236}">
                <a16:creationId xmlns:a16="http://schemas.microsoft.com/office/drawing/2014/main" id="{CBD9AACE-0069-B212-7393-9D6AAE3F329F}"/>
              </a:ext>
            </a:extLst>
          </p:cNvPr>
          <p:cNvGraphicFramePr>
            <a:graphicFrameLocks noGrp="1"/>
          </p:cNvGraphicFramePr>
          <p:nvPr>
            <p:extLst>
              <p:ext uri="{D42A27DB-BD31-4B8C-83A1-F6EECF244321}">
                <p14:modId xmlns:p14="http://schemas.microsoft.com/office/powerpoint/2010/main" val="605947051"/>
              </p:ext>
            </p:extLst>
          </p:nvPr>
        </p:nvGraphicFramePr>
        <p:xfrm>
          <a:off x="1048155" y="4829661"/>
          <a:ext cx="6364483" cy="370840"/>
        </p:xfrm>
        <a:graphic>
          <a:graphicData uri="http://schemas.openxmlformats.org/drawingml/2006/table">
            <a:tbl>
              <a:tblPr firstRow="1" bandRow="1">
                <a:tableStyleId>{5C22544A-7EE6-4342-B048-85BDC9FD1C3A}</a:tableStyleId>
              </a:tblPr>
              <a:tblGrid>
                <a:gridCol w="6364483">
                  <a:extLst>
                    <a:ext uri="{9D8B030D-6E8A-4147-A177-3AD203B41FA5}">
                      <a16:colId xmlns:a16="http://schemas.microsoft.com/office/drawing/2014/main" val="418772237"/>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err="1">
                          <a:solidFill>
                            <a:schemeClr val="bg1"/>
                          </a:solidFill>
                          <a:latin typeface="Consolas" panose="020B0609020204030204" pitchFamily="49" charset="0"/>
                        </a:rPr>
                        <a:t>openssl</a:t>
                      </a:r>
                      <a:r>
                        <a:rPr lang="en-US" sz="1600" dirty="0">
                          <a:solidFill>
                            <a:schemeClr val="bg1"/>
                          </a:solidFill>
                          <a:latin typeface="Consolas" panose="020B0609020204030204" pitchFamily="49" charset="0"/>
                        </a:rPr>
                        <a:t> </a:t>
                      </a:r>
                      <a:r>
                        <a:rPr lang="en-US" sz="1600" dirty="0" err="1">
                          <a:solidFill>
                            <a:schemeClr val="bg1"/>
                          </a:solidFill>
                          <a:latin typeface="Consolas" panose="020B0609020204030204" pitchFamily="49" charset="0"/>
                        </a:rPr>
                        <a:t>s_client</a:t>
                      </a:r>
                      <a:r>
                        <a:rPr lang="en-US" sz="1600" dirty="0">
                          <a:solidFill>
                            <a:schemeClr val="bg1"/>
                          </a:solidFill>
                          <a:latin typeface="Consolas" panose="020B0609020204030204" pitchFamily="49" charset="0"/>
                        </a:rPr>
                        <a:t> -connect www.google.com:443 -</a:t>
                      </a:r>
                      <a:r>
                        <a:rPr lang="en-US" sz="1600" dirty="0" err="1">
                          <a:solidFill>
                            <a:schemeClr val="bg1"/>
                          </a:solidFill>
                          <a:latin typeface="Consolas" panose="020B0609020204030204" pitchFamily="49" charset="0"/>
                        </a:rPr>
                        <a:t>showcerts</a:t>
                      </a:r>
                      <a:endParaRPr lang="en-US" sz="1600" dirty="0">
                        <a:solidFill>
                          <a:schemeClr val="bg1"/>
                        </a:solidFill>
                        <a:latin typeface="Consolas" panose="020B0609020204030204" pitchFamily="49" charset="0"/>
                      </a:endParaRPr>
                    </a:p>
                  </a:txBody>
                  <a:tcPr>
                    <a:solidFill>
                      <a:schemeClr val="tx1"/>
                    </a:solidFill>
                  </a:tcPr>
                </a:tc>
                <a:extLst>
                  <a:ext uri="{0D108BD9-81ED-4DB2-BD59-A6C34878D82A}">
                    <a16:rowId xmlns:a16="http://schemas.microsoft.com/office/drawing/2014/main" val="1806545200"/>
                  </a:ext>
                </a:extLst>
              </a:tr>
            </a:tbl>
          </a:graphicData>
        </a:graphic>
      </p:graphicFrame>
      <p:pic>
        <p:nvPicPr>
          <p:cNvPr id="9" name="Image 8">
            <a:extLst>
              <a:ext uri="{FF2B5EF4-FFF2-40B4-BE49-F238E27FC236}">
                <a16:creationId xmlns:a16="http://schemas.microsoft.com/office/drawing/2014/main" id="{73A71E69-DA1B-5943-D0F8-2AB4BF152989}"/>
              </a:ext>
            </a:extLst>
          </p:cNvPr>
          <p:cNvPicPr>
            <a:picLocks noChangeAspect="1"/>
          </p:cNvPicPr>
          <p:nvPr/>
        </p:nvPicPr>
        <p:blipFill>
          <a:blip r:embed="rId3"/>
          <a:stretch>
            <a:fillRect/>
          </a:stretch>
        </p:blipFill>
        <p:spPr>
          <a:xfrm>
            <a:off x="7412639" y="1676868"/>
            <a:ext cx="4706029" cy="4887728"/>
          </a:xfrm>
          <a:prstGeom prst="rect">
            <a:avLst/>
          </a:prstGeom>
        </p:spPr>
      </p:pic>
    </p:spTree>
    <p:extLst>
      <p:ext uri="{BB962C8B-B14F-4D97-AF65-F5344CB8AC3E}">
        <p14:creationId xmlns:p14="http://schemas.microsoft.com/office/powerpoint/2010/main" val="23462733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493AE-6A09-360B-F411-B5C2BD7715C1}"/>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AE8D5F47-BD4B-7633-A3F0-B6FDD3BEDD20}"/>
              </a:ext>
            </a:extLst>
          </p:cNvPr>
          <p:cNvSpPr>
            <a:spLocks noGrp="1"/>
          </p:cNvSpPr>
          <p:nvPr>
            <p:ph type="title"/>
          </p:nvPr>
        </p:nvSpPr>
        <p:spPr>
          <a:xfrm>
            <a:off x="122881" y="559838"/>
            <a:ext cx="3814549" cy="594988"/>
          </a:xfrm>
        </p:spPr>
        <p:txBody>
          <a:bodyPr/>
          <a:lstStyle/>
          <a:p>
            <a:r>
              <a:rPr lang="fr-FR" sz="4800" dirty="0"/>
              <a:t>Certificats</a:t>
            </a:r>
          </a:p>
        </p:txBody>
      </p:sp>
      <p:sp>
        <p:nvSpPr>
          <p:cNvPr id="4" name="Sous-titre 3">
            <a:extLst>
              <a:ext uri="{FF2B5EF4-FFF2-40B4-BE49-F238E27FC236}">
                <a16:creationId xmlns:a16="http://schemas.microsoft.com/office/drawing/2014/main" id="{F59B8027-5E80-A0DC-5AF0-120CB45487AE}"/>
              </a:ext>
            </a:extLst>
          </p:cNvPr>
          <p:cNvSpPr>
            <a:spLocks noGrp="1"/>
          </p:cNvSpPr>
          <p:nvPr>
            <p:ph type="subTitle" idx="1"/>
          </p:nvPr>
        </p:nvSpPr>
        <p:spPr/>
        <p:txBody>
          <a:bodyPr>
            <a:normAutofit/>
          </a:bodyPr>
          <a:lstStyle/>
          <a:p>
            <a:r>
              <a:rPr lang="fr-FR" sz="2400" dirty="0"/>
              <a:t>Usages courants des certificats</a:t>
            </a:r>
          </a:p>
          <a:p>
            <a:endParaRPr lang="fr-FR" sz="2400" dirty="0"/>
          </a:p>
        </p:txBody>
      </p:sp>
      <p:sp>
        <p:nvSpPr>
          <p:cNvPr id="7" name="Espace réservé du texte 4">
            <a:extLst>
              <a:ext uri="{FF2B5EF4-FFF2-40B4-BE49-F238E27FC236}">
                <a16:creationId xmlns:a16="http://schemas.microsoft.com/office/drawing/2014/main" id="{A3893063-4C7C-6525-AABC-2BDDDCFE04BB}"/>
              </a:ext>
            </a:extLst>
          </p:cNvPr>
          <p:cNvSpPr>
            <a:spLocks noGrp="1"/>
          </p:cNvSpPr>
          <p:nvPr>
            <p:ph type="body" idx="13"/>
          </p:nvPr>
        </p:nvSpPr>
        <p:spPr/>
        <p:txBody>
          <a:bodyPr anchor="ctr">
            <a:normAutofit/>
          </a:bodyPr>
          <a:lstStyle/>
          <a:p>
            <a:pPr algn="r"/>
            <a:r>
              <a:rPr lang="fr-FR" sz="2000" dirty="0">
                <a:solidFill>
                  <a:srgbClr val="898989"/>
                </a:solidFill>
              </a:rPr>
              <a:t>Les certificats sont omniprésents, souvent invisibles pour l'utilisateur final, ils sont utilisés dans de nombreuses applications pour sécuriser les échanges, garantir l'identité des acteurs et assurer la confiance dans les communications numériques</a:t>
            </a:r>
          </a:p>
        </p:txBody>
      </p:sp>
      <p:pic>
        <p:nvPicPr>
          <p:cNvPr id="6" name="Image 5">
            <a:extLst>
              <a:ext uri="{FF2B5EF4-FFF2-40B4-BE49-F238E27FC236}">
                <a16:creationId xmlns:a16="http://schemas.microsoft.com/office/drawing/2014/main" id="{F51492D4-83A0-3F84-C5C0-9F47A932C64D}"/>
              </a:ext>
            </a:extLst>
          </p:cNvPr>
          <p:cNvPicPr>
            <a:picLocks noChangeAspect="1"/>
          </p:cNvPicPr>
          <p:nvPr/>
        </p:nvPicPr>
        <p:blipFill>
          <a:blip r:embed="rId3"/>
          <a:stretch>
            <a:fillRect/>
          </a:stretch>
        </p:blipFill>
        <p:spPr>
          <a:xfrm>
            <a:off x="5331612" y="1175073"/>
            <a:ext cx="5503685" cy="5130039"/>
          </a:xfrm>
          <a:prstGeom prst="rect">
            <a:avLst/>
          </a:prstGeom>
        </p:spPr>
      </p:pic>
    </p:spTree>
    <p:extLst>
      <p:ext uri="{BB962C8B-B14F-4D97-AF65-F5344CB8AC3E}">
        <p14:creationId xmlns:p14="http://schemas.microsoft.com/office/powerpoint/2010/main" val="24529497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5A4F4-4264-6ED8-CC78-3FFC953A4EF3}"/>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009B1F6F-E314-E307-6633-9372D340FD0E}"/>
              </a:ext>
            </a:extLst>
          </p:cNvPr>
          <p:cNvSpPr>
            <a:spLocks noGrp="1"/>
          </p:cNvSpPr>
          <p:nvPr>
            <p:ph type="title"/>
          </p:nvPr>
        </p:nvSpPr>
        <p:spPr>
          <a:xfrm>
            <a:off x="320724" y="344557"/>
            <a:ext cx="10356511" cy="496366"/>
          </a:xfrm>
        </p:spPr>
        <p:txBody>
          <a:bodyPr/>
          <a:lstStyle/>
          <a:p>
            <a:r>
              <a:rPr lang="fr-FR" dirty="0"/>
              <a:t>Certificats numériques</a:t>
            </a:r>
          </a:p>
        </p:txBody>
      </p:sp>
      <p:sp>
        <p:nvSpPr>
          <p:cNvPr id="4" name="Sous-titre 3">
            <a:extLst>
              <a:ext uri="{FF2B5EF4-FFF2-40B4-BE49-F238E27FC236}">
                <a16:creationId xmlns:a16="http://schemas.microsoft.com/office/drawing/2014/main" id="{02779E70-9249-E05F-F6E0-ACDBC9848551}"/>
              </a:ext>
            </a:extLst>
          </p:cNvPr>
          <p:cNvSpPr>
            <a:spLocks noGrp="1"/>
          </p:cNvSpPr>
          <p:nvPr>
            <p:ph type="subTitle" idx="1"/>
          </p:nvPr>
        </p:nvSpPr>
        <p:spPr>
          <a:xfrm>
            <a:off x="488515" y="861170"/>
            <a:ext cx="8464099" cy="365125"/>
          </a:xfrm>
        </p:spPr>
        <p:txBody>
          <a:bodyPr>
            <a:normAutofit/>
          </a:bodyPr>
          <a:lstStyle/>
          <a:p>
            <a:r>
              <a:rPr lang="fr-FR" dirty="0"/>
              <a:t>Usages courants des certificats</a:t>
            </a:r>
          </a:p>
        </p:txBody>
      </p:sp>
      <p:sp>
        <p:nvSpPr>
          <p:cNvPr id="7" name="Espace réservé du texte 4">
            <a:extLst>
              <a:ext uri="{FF2B5EF4-FFF2-40B4-BE49-F238E27FC236}">
                <a16:creationId xmlns:a16="http://schemas.microsoft.com/office/drawing/2014/main" id="{0A57F272-A401-923A-B171-E7E1F7667E5B}"/>
              </a:ext>
            </a:extLst>
          </p:cNvPr>
          <p:cNvSpPr>
            <a:spLocks noGrp="1"/>
          </p:cNvSpPr>
          <p:nvPr>
            <p:ph type="body" idx="13"/>
          </p:nvPr>
        </p:nvSpPr>
        <p:spPr>
          <a:xfrm>
            <a:off x="522605" y="1743393"/>
            <a:ext cx="10356511" cy="4924107"/>
          </a:xfrm>
        </p:spPr>
        <p:txBody>
          <a:bodyPr anchor="ctr">
            <a:normAutofit/>
          </a:bodyPr>
          <a:lstStyle/>
          <a:p>
            <a:r>
              <a:rPr lang="fr-FR" sz="3200" dirty="0">
                <a:solidFill>
                  <a:srgbClr val="09253D"/>
                </a:solidFill>
              </a:rPr>
              <a:t>Généralités</a:t>
            </a:r>
          </a:p>
          <a:p>
            <a:pPr marL="457200" indent="-457200">
              <a:buFont typeface="Arial" panose="020B0604020202020204" pitchFamily="34" charset="0"/>
              <a:buChar char="•"/>
            </a:pPr>
            <a:r>
              <a:rPr lang="fr-FR" sz="3200" dirty="0"/>
              <a:t>Les certificats sont utilisés pour sécuriser des communications, authentifier des entités et signer des données</a:t>
            </a:r>
          </a:p>
          <a:p>
            <a:pPr marL="457200" indent="-457200">
              <a:buFont typeface="Arial" panose="020B0604020202020204" pitchFamily="34" charset="0"/>
              <a:buChar char="•"/>
            </a:pPr>
            <a:r>
              <a:rPr lang="fr-FR" sz="3200" dirty="0"/>
              <a:t>Usages typiques :</a:t>
            </a:r>
          </a:p>
          <a:p>
            <a:pPr marL="914400" lvl="1" indent="-457200">
              <a:buFont typeface="Arial" panose="020B0604020202020204" pitchFamily="34" charset="0"/>
              <a:buChar char="•"/>
            </a:pPr>
            <a:r>
              <a:rPr lang="fr-FR" sz="2800" dirty="0"/>
              <a:t>SSL/TLS (HTTPS) : sécuriser les sites web</a:t>
            </a:r>
          </a:p>
          <a:p>
            <a:pPr marL="914400" lvl="1" indent="-457200">
              <a:buFont typeface="Arial" panose="020B0604020202020204" pitchFamily="34" charset="0"/>
              <a:buChar char="•"/>
            </a:pPr>
            <a:r>
              <a:rPr lang="fr-FR" sz="2800" dirty="0"/>
              <a:t>S/MIME : signer et chiffrer les emails</a:t>
            </a:r>
          </a:p>
          <a:p>
            <a:pPr marL="914400" lvl="1" indent="-457200">
              <a:buFont typeface="Arial" panose="020B0604020202020204" pitchFamily="34" charset="0"/>
              <a:buChar char="•"/>
            </a:pPr>
            <a:r>
              <a:rPr lang="fr-FR" sz="2800" dirty="0"/>
              <a:t>Code </a:t>
            </a:r>
            <a:r>
              <a:rPr lang="fr-FR" sz="2800" dirty="0" err="1"/>
              <a:t>Signing</a:t>
            </a:r>
            <a:r>
              <a:rPr lang="fr-FR" sz="2800" dirty="0"/>
              <a:t> : garantir l’authenticité d’un logiciel</a:t>
            </a:r>
          </a:p>
          <a:p>
            <a:pPr marL="914400" lvl="1" indent="-457200">
              <a:buFont typeface="Arial" panose="020B0604020202020204" pitchFamily="34" charset="0"/>
              <a:buChar char="•"/>
            </a:pPr>
            <a:r>
              <a:rPr lang="fr-FR" sz="2800" dirty="0"/>
              <a:t>Authentification forte par certificat</a:t>
            </a:r>
          </a:p>
          <a:p>
            <a:pPr marL="914400" lvl="1" indent="-457200">
              <a:buFont typeface="Arial" panose="020B0604020202020204" pitchFamily="34" charset="0"/>
              <a:buChar char="•"/>
            </a:pPr>
            <a:r>
              <a:rPr lang="fr-FR" sz="2800" dirty="0"/>
              <a:t>VPN/</a:t>
            </a:r>
            <a:r>
              <a:rPr lang="fr-FR" sz="2800" dirty="0" err="1"/>
              <a:t>IPSec</a:t>
            </a:r>
            <a:r>
              <a:rPr lang="fr-FR" sz="2800" dirty="0"/>
              <a:t>/</a:t>
            </a:r>
            <a:r>
              <a:rPr lang="fr-FR" sz="2800" dirty="0" err="1"/>
              <a:t>OpenVPN</a:t>
            </a:r>
            <a:r>
              <a:rPr lang="fr-FR" sz="2800" dirty="0"/>
              <a:t> : authentifier les clients et serveurs</a:t>
            </a:r>
          </a:p>
        </p:txBody>
      </p:sp>
    </p:spTree>
    <p:extLst>
      <p:ext uri="{BB962C8B-B14F-4D97-AF65-F5344CB8AC3E}">
        <p14:creationId xmlns:p14="http://schemas.microsoft.com/office/powerpoint/2010/main" val="13532629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E0676-D04B-EE5D-16BB-46782A788BF8}"/>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D09C45DF-4070-FB9C-AA26-92F7F0F0F7F9}"/>
              </a:ext>
            </a:extLst>
          </p:cNvPr>
          <p:cNvSpPr>
            <a:spLocks noGrp="1"/>
          </p:cNvSpPr>
          <p:nvPr>
            <p:ph type="title"/>
          </p:nvPr>
        </p:nvSpPr>
        <p:spPr>
          <a:xfrm>
            <a:off x="320724" y="344557"/>
            <a:ext cx="10356511" cy="496366"/>
          </a:xfrm>
        </p:spPr>
        <p:txBody>
          <a:bodyPr/>
          <a:lstStyle/>
          <a:p>
            <a:r>
              <a:rPr lang="fr-FR" dirty="0"/>
              <a:t>Certificats numériques</a:t>
            </a:r>
          </a:p>
        </p:txBody>
      </p:sp>
      <p:sp>
        <p:nvSpPr>
          <p:cNvPr id="4" name="Sous-titre 3">
            <a:extLst>
              <a:ext uri="{FF2B5EF4-FFF2-40B4-BE49-F238E27FC236}">
                <a16:creationId xmlns:a16="http://schemas.microsoft.com/office/drawing/2014/main" id="{B46872A0-467E-4561-B3E6-4EF9DA5E5513}"/>
              </a:ext>
            </a:extLst>
          </p:cNvPr>
          <p:cNvSpPr>
            <a:spLocks noGrp="1"/>
          </p:cNvSpPr>
          <p:nvPr>
            <p:ph type="subTitle" idx="1"/>
          </p:nvPr>
        </p:nvSpPr>
        <p:spPr>
          <a:xfrm>
            <a:off x="488515" y="861170"/>
            <a:ext cx="8464099" cy="365125"/>
          </a:xfrm>
        </p:spPr>
        <p:txBody>
          <a:bodyPr>
            <a:normAutofit/>
          </a:bodyPr>
          <a:lstStyle/>
          <a:p>
            <a:r>
              <a:rPr lang="fr-FR" dirty="0"/>
              <a:t>Usages courants des certificats</a:t>
            </a:r>
          </a:p>
        </p:txBody>
      </p:sp>
      <p:sp>
        <p:nvSpPr>
          <p:cNvPr id="7" name="Espace réservé du texte 4">
            <a:extLst>
              <a:ext uri="{FF2B5EF4-FFF2-40B4-BE49-F238E27FC236}">
                <a16:creationId xmlns:a16="http://schemas.microsoft.com/office/drawing/2014/main" id="{F3B8AA6E-B7C8-3F14-74FD-F9D0EEA4F901}"/>
              </a:ext>
            </a:extLst>
          </p:cNvPr>
          <p:cNvSpPr>
            <a:spLocks noGrp="1"/>
          </p:cNvSpPr>
          <p:nvPr>
            <p:ph type="body" idx="13"/>
          </p:nvPr>
        </p:nvSpPr>
        <p:spPr>
          <a:xfrm>
            <a:off x="522605" y="1743393"/>
            <a:ext cx="10356511" cy="4924107"/>
          </a:xfrm>
        </p:spPr>
        <p:txBody>
          <a:bodyPr anchor="ctr">
            <a:normAutofit/>
          </a:bodyPr>
          <a:lstStyle/>
          <a:p>
            <a:r>
              <a:rPr lang="fr-FR" sz="3200" dirty="0">
                <a:solidFill>
                  <a:srgbClr val="09253D"/>
                </a:solidFill>
              </a:rPr>
              <a:t>SSL/TLS</a:t>
            </a:r>
          </a:p>
          <a:p>
            <a:pPr marL="457200" indent="-457200">
              <a:buFont typeface="Arial" panose="020B0604020202020204" pitchFamily="34" charset="0"/>
              <a:buChar char="•"/>
            </a:pPr>
            <a:r>
              <a:rPr lang="fr-FR" sz="3200" dirty="0"/>
              <a:t>Les certificats SSL/TLS permettent de</a:t>
            </a:r>
          </a:p>
          <a:p>
            <a:pPr lvl="1"/>
            <a:r>
              <a:rPr lang="fr-FR" sz="2800" dirty="0"/>
              <a:t>	🔒 Chiffrer les communications entre client et serveur</a:t>
            </a:r>
          </a:p>
          <a:p>
            <a:pPr lvl="1"/>
            <a:r>
              <a:rPr lang="fr-FR" sz="2800" dirty="0"/>
              <a:t>	✅ Authentifier le serveur (et parfois le client)</a:t>
            </a:r>
          </a:p>
          <a:p>
            <a:pPr lvl="1"/>
            <a:r>
              <a:rPr lang="fr-FR" sz="2800" dirty="0"/>
              <a:t>	🌍 Utiliser les versions sécurisées des protocoles concernés</a:t>
            </a:r>
          </a:p>
          <a:p>
            <a:pPr marL="2286000" lvl="4" indent="-457200">
              <a:buFont typeface="Arial" panose="020B0604020202020204" pitchFamily="34" charset="0"/>
              <a:buChar char="•"/>
            </a:pPr>
            <a:r>
              <a:rPr lang="fr-FR" sz="2400" dirty="0"/>
              <a:t>HTTPS</a:t>
            </a:r>
          </a:p>
          <a:p>
            <a:pPr marL="2286000" lvl="4" indent="-457200">
              <a:buFont typeface="Arial" panose="020B0604020202020204" pitchFamily="34" charset="0"/>
              <a:buChar char="•"/>
            </a:pPr>
            <a:r>
              <a:rPr lang="fr-FR" sz="2400" dirty="0"/>
              <a:t>FTPS</a:t>
            </a:r>
          </a:p>
          <a:p>
            <a:pPr marL="2286000" lvl="4" indent="-457200">
              <a:buFont typeface="Arial" panose="020B0604020202020204" pitchFamily="34" charset="0"/>
              <a:buChar char="•"/>
            </a:pPr>
            <a:r>
              <a:rPr lang="fr-FR" sz="2400" dirty="0"/>
              <a:t>SMTPS/IMAPS/POP3S</a:t>
            </a:r>
          </a:p>
          <a:p>
            <a:pPr marL="2286000" lvl="4" indent="-457200">
              <a:buFont typeface="Arial" panose="020B0604020202020204" pitchFamily="34" charset="0"/>
              <a:buChar char="•"/>
            </a:pPr>
            <a:r>
              <a:rPr lang="fr-FR" sz="2400" dirty="0"/>
              <a:t>LDAPS</a:t>
            </a:r>
          </a:p>
          <a:p>
            <a:pPr marL="2286000" lvl="4" indent="-457200">
              <a:buFont typeface="Arial" panose="020B0604020202020204" pitchFamily="34" charset="0"/>
              <a:buChar char="•"/>
            </a:pPr>
            <a:r>
              <a:rPr lang="fr-FR" sz="2400" dirty="0"/>
              <a:t>RDP</a:t>
            </a:r>
            <a:endParaRPr lang="fr-FR" sz="2000" dirty="0"/>
          </a:p>
        </p:txBody>
      </p:sp>
    </p:spTree>
    <p:extLst>
      <p:ext uri="{BB962C8B-B14F-4D97-AF65-F5344CB8AC3E}">
        <p14:creationId xmlns:p14="http://schemas.microsoft.com/office/powerpoint/2010/main" val="7582836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03B5D-E285-FD67-686B-DEB2EA1C23D7}"/>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B7427DC6-A7F4-17F1-3479-C97CBFE0E349}"/>
              </a:ext>
            </a:extLst>
          </p:cNvPr>
          <p:cNvSpPr>
            <a:spLocks noGrp="1"/>
          </p:cNvSpPr>
          <p:nvPr>
            <p:ph type="title"/>
          </p:nvPr>
        </p:nvSpPr>
        <p:spPr>
          <a:xfrm>
            <a:off x="320724" y="344557"/>
            <a:ext cx="10356511" cy="496366"/>
          </a:xfrm>
        </p:spPr>
        <p:txBody>
          <a:bodyPr/>
          <a:lstStyle/>
          <a:p>
            <a:r>
              <a:rPr lang="fr-FR" dirty="0"/>
              <a:t>Certificats numériques</a:t>
            </a:r>
          </a:p>
        </p:txBody>
      </p:sp>
      <p:sp>
        <p:nvSpPr>
          <p:cNvPr id="4" name="Sous-titre 3">
            <a:extLst>
              <a:ext uri="{FF2B5EF4-FFF2-40B4-BE49-F238E27FC236}">
                <a16:creationId xmlns:a16="http://schemas.microsoft.com/office/drawing/2014/main" id="{9427DE94-83BE-D66E-AF98-A465E9E47A8A}"/>
              </a:ext>
            </a:extLst>
          </p:cNvPr>
          <p:cNvSpPr>
            <a:spLocks noGrp="1"/>
          </p:cNvSpPr>
          <p:nvPr>
            <p:ph type="subTitle" idx="1"/>
          </p:nvPr>
        </p:nvSpPr>
        <p:spPr>
          <a:xfrm>
            <a:off x="488515" y="861170"/>
            <a:ext cx="8464099" cy="365125"/>
          </a:xfrm>
        </p:spPr>
        <p:txBody>
          <a:bodyPr>
            <a:normAutofit/>
          </a:bodyPr>
          <a:lstStyle/>
          <a:p>
            <a:r>
              <a:rPr lang="fr-FR" dirty="0"/>
              <a:t>Usages courants des certificats</a:t>
            </a:r>
          </a:p>
        </p:txBody>
      </p:sp>
      <p:sp>
        <p:nvSpPr>
          <p:cNvPr id="7" name="Espace réservé du texte 4">
            <a:extLst>
              <a:ext uri="{FF2B5EF4-FFF2-40B4-BE49-F238E27FC236}">
                <a16:creationId xmlns:a16="http://schemas.microsoft.com/office/drawing/2014/main" id="{20AF1E1C-E9E6-C0E5-D28F-EAB71C0BD180}"/>
              </a:ext>
            </a:extLst>
          </p:cNvPr>
          <p:cNvSpPr>
            <a:spLocks noGrp="1"/>
          </p:cNvSpPr>
          <p:nvPr>
            <p:ph type="body" idx="13"/>
          </p:nvPr>
        </p:nvSpPr>
        <p:spPr>
          <a:xfrm>
            <a:off x="522605" y="1743393"/>
            <a:ext cx="10356511" cy="4924107"/>
          </a:xfrm>
        </p:spPr>
        <p:txBody>
          <a:bodyPr anchor="ctr">
            <a:normAutofit/>
          </a:bodyPr>
          <a:lstStyle/>
          <a:p>
            <a:r>
              <a:rPr lang="fr-FR" sz="3200" dirty="0">
                <a:solidFill>
                  <a:srgbClr val="09253D"/>
                </a:solidFill>
              </a:rPr>
              <a:t>SSL/TLS</a:t>
            </a:r>
          </a:p>
          <a:p>
            <a:pPr marL="457200" indent="-457200">
              <a:buFont typeface="Arial" panose="020B0604020202020204" pitchFamily="34" charset="0"/>
              <a:buChar char="•"/>
            </a:pPr>
            <a:r>
              <a:rPr lang="fr-FR" sz="3200" dirty="0"/>
              <a:t>TLS </a:t>
            </a:r>
            <a:r>
              <a:rPr lang="fr-FR" sz="3200" dirty="0" err="1"/>
              <a:t>TLS</a:t>
            </a:r>
            <a:r>
              <a:rPr lang="fr-FR" sz="3200" dirty="0"/>
              <a:t> est un protocole de sécurisation des communications entre deux applications (typiquement client/serveur), reposant sur les certificats</a:t>
            </a:r>
          </a:p>
          <a:p>
            <a:r>
              <a:rPr lang="fr-FR" sz="3200" dirty="0">
                <a:solidFill>
                  <a:srgbClr val="42C5A5"/>
                </a:solidFill>
              </a:rPr>
              <a:t>Objectifs principaux</a:t>
            </a:r>
          </a:p>
          <a:p>
            <a:pPr marL="457200" indent="-457200">
              <a:buFont typeface="Arial" panose="020B0604020202020204" pitchFamily="34" charset="0"/>
              <a:buChar char="•"/>
            </a:pPr>
            <a:r>
              <a:rPr lang="fr-FR" sz="2800" dirty="0"/>
              <a:t>Authentifier le serveur (et optionnellement le client)</a:t>
            </a:r>
          </a:p>
          <a:p>
            <a:pPr marL="457200" indent="-457200">
              <a:buFont typeface="Arial" panose="020B0604020202020204" pitchFamily="34" charset="0"/>
              <a:buChar char="•"/>
            </a:pPr>
            <a:r>
              <a:rPr lang="fr-FR" sz="2800" dirty="0"/>
              <a:t>Garantir la confidentialité des données (chiffrement)</a:t>
            </a:r>
          </a:p>
          <a:p>
            <a:pPr marL="457200" indent="-457200">
              <a:buFont typeface="Arial" panose="020B0604020202020204" pitchFamily="34" charset="0"/>
              <a:buChar char="•"/>
            </a:pPr>
            <a:r>
              <a:rPr lang="fr-FR" sz="2800" dirty="0"/>
              <a:t>Assurer l’intégrité des échanges</a:t>
            </a:r>
          </a:p>
          <a:p>
            <a:endParaRPr lang="fr-FR" sz="2400" dirty="0"/>
          </a:p>
          <a:p>
            <a:pPr marL="2286000" lvl="4" indent="-457200">
              <a:buFont typeface="Arial" panose="020B0604020202020204" pitchFamily="34" charset="0"/>
              <a:buChar char="•"/>
            </a:pPr>
            <a:endParaRPr lang="fr-FR" sz="2000" dirty="0"/>
          </a:p>
        </p:txBody>
      </p:sp>
    </p:spTree>
    <p:extLst>
      <p:ext uri="{BB962C8B-B14F-4D97-AF65-F5344CB8AC3E}">
        <p14:creationId xmlns:p14="http://schemas.microsoft.com/office/powerpoint/2010/main" val="4301824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BC577-126E-EB41-7113-2F94DEAD66C4}"/>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82297D84-2D4E-22A8-B1A2-B06CEC4044C4}"/>
              </a:ext>
            </a:extLst>
          </p:cNvPr>
          <p:cNvSpPr>
            <a:spLocks noGrp="1"/>
          </p:cNvSpPr>
          <p:nvPr>
            <p:ph type="title"/>
          </p:nvPr>
        </p:nvSpPr>
        <p:spPr/>
        <p:txBody>
          <a:bodyPr/>
          <a:lstStyle/>
          <a:p>
            <a:r>
              <a:rPr lang="fr-FR" dirty="0"/>
              <a:t>Certificats numériques</a:t>
            </a:r>
          </a:p>
        </p:txBody>
      </p:sp>
      <p:sp>
        <p:nvSpPr>
          <p:cNvPr id="4" name="Sous-titre 3">
            <a:extLst>
              <a:ext uri="{FF2B5EF4-FFF2-40B4-BE49-F238E27FC236}">
                <a16:creationId xmlns:a16="http://schemas.microsoft.com/office/drawing/2014/main" id="{F0339FFD-9B92-BBC9-9D15-86A730248675}"/>
              </a:ext>
            </a:extLst>
          </p:cNvPr>
          <p:cNvSpPr>
            <a:spLocks noGrp="1"/>
          </p:cNvSpPr>
          <p:nvPr>
            <p:ph type="subTitle" idx="1"/>
          </p:nvPr>
        </p:nvSpPr>
        <p:spPr/>
        <p:txBody>
          <a:bodyPr>
            <a:normAutofit fontScale="70000" lnSpcReduction="20000"/>
          </a:bodyPr>
          <a:lstStyle/>
          <a:p>
            <a:r>
              <a:rPr lang="fr-FR" dirty="0"/>
              <a:t>Fonctionnement général – TLS Handshake</a:t>
            </a:r>
          </a:p>
        </p:txBody>
      </p:sp>
      <p:sp>
        <p:nvSpPr>
          <p:cNvPr id="7" name="Espace réservé du texte 4">
            <a:extLst>
              <a:ext uri="{FF2B5EF4-FFF2-40B4-BE49-F238E27FC236}">
                <a16:creationId xmlns:a16="http://schemas.microsoft.com/office/drawing/2014/main" id="{6514AF9F-8BC4-BD39-B05A-7636A195623A}"/>
              </a:ext>
            </a:extLst>
          </p:cNvPr>
          <p:cNvSpPr>
            <a:spLocks noGrp="1"/>
          </p:cNvSpPr>
          <p:nvPr>
            <p:ph type="body" idx="13"/>
          </p:nvPr>
        </p:nvSpPr>
        <p:spPr>
          <a:xfrm>
            <a:off x="116006" y="1443789"/>
            <a:ext cx="3814549" cy="5299428"/>
          </a:xfrm>
        </p:spPr>
        <p:txBody>
          <a:bodyPr anchor="ctr">
            <a:normAutofit fontScale="92500"/>
          </a:bodyPr>
          <a:lstStyle/>
          <a:p>
            <a:pPr algn="r"/>
            <a:r>
              <a:rPr lang="fr-FR" sz="1700" b="1" dirty="0"/>
              <a:t>1 - </a:t>
            </a:r>
            <a:r>
              <a:rPr lang="fr-FR" sz="1700" b="1" dirty="0" err="1"/>
              <a:t>ClientHello</a:t>
            </a:r>
            <a:endParaRPr lang="fr-FR" sz="1700" b="1" dirty="0"/>
          </a:p>
          <a:p>
            <a:pPr algn="r"/>
            <a:r>
              <a:rPr lang="fr-FR" sz="1200" dirty="0"/>
              <a:t>Étape d’ouverture avec version TLS</a:t>
            </a:r>
          </a:p>
          <a:p>
            <a:pPr algn="r"/>
            <a:endParaRPr lang="fr-FR" sz="1200" dirty="0"/>
          </a:p>
          <a:p>
            <a:pPr algn="r"/>
            <a:r>
              <a:rPr lang="fr-FR" sz="1700" b="1" dirty="0"/>
              <a:t>2 - </a:t>
            </a:r>
            <a:r>
              <a:rPr lang="fr-FR" sz="1700" b="1" dirty="0" err="1"/>
              <a:t>ServerHello</a:t>
            </a:r>
            <a:r>
              <a:rPr lang="fr-FR" sz="1700" b="1" dirty="0"/>
              <a:t>, Certificat, Clé</a:t>
            </a:r>
          </a:p>
          <a:p>
            <a:pPr algn="r"/>
            <a:r>
              <a:rPr lang="fr-FR" sz="1200" dirty="0"/>
              <a:t>Le serveur répond et fournit son certificat et sa clé</a:t>
            </a:r>
          </a:p>
          <a:p>
            <a:pPr algn="r"/>
            <a:endParaRPr lang="fr-FR" sz="1200" dirty="0"/>
          </a:p>
          <a:p>
            <a:pPr algn="r"/>
            <a:r>
              <a:rPr lang="fr-FR" sz="1700" b="1" dirty="0"/>
              <a:t>3 - Vérification du certificat</a:t>
            </a:r>
          </a:p>
          <a:p>
            <a:pPr lvl="1" algn="r"/>
            <a:r>
              <a:rPr lang="fr-FR" sz="1200" dirty="0"/>
              <a:t>Le client s’assure que le certificat est signé par une racine de confiance, non expiré et non révoqué</a:t>
            </a:r>
          </a:p>
          <a:p>
            <a:pPr lvl="1" algn="r"/>
            <a:endParaRPr lang="fr-FR" sz="1200" dirty="0"/>
          </a:p>
          <a:p>
            <a:pPr algn="r"/>
            <a:r>
              <a:rPr lang="fr-FR" sz="1700" b="1" dirty="0"/>
              <a:t>4 - Échange de clés</a:t>
            </a:r>
          </a:p>
          <a:p>
            <a:pPr lvl="1" algn="r"/>
            <a:r>
              <a:rPr lang="fr-FR" sz="1200" dirty="0"/>
              <a:t>Établissement d’un secret partagé </a:t>
            </a:r>
          </a:p>
          <a:p>
            <a:pPr lvl="1" algn="r"/>
            <a:endParaRPr lang="fr-FR" sz="1200" dirty="0"/>
          </a:p>
          <a:p>
            <a:pPr algn="r"/>
            <a:r>
              <a:rPr lang="fr-FR" sz="1700" b="1" dirty="0"/>
              <a:t>5 - </a:t>
            </a:r>
            <a:r>
              <a:rPr lang="fr-FR" sz="1700" b="1" dirty="0" err="1"/>
              <a:t>ChangeCipherSpec</a:t>
            </a:r>
            <a:r>
              <a:rPr lang="fr-FR" sz="1700" b="1" dirty="0"/>
              <a:t> &amp; </a:t>
            </a:r>
            <a:r>
              <a:rPr lang="fr-FR" sz="1700" b="1" dirty="0" err="1"/>
              <a:t>Finished</a:t>
            </a:r>
            <a:endParaRPr lang="fr-FR" sz="1700" b="1" dirty="0"/>
          </a:p>
          <a:p>
            <a:pPr lvl="1" algn="r"/>
            <a:r>
              <a:rPr lang="fr-FR" sz="1200" dirty="0"/>
              <a:t>Échange des paramètres de l’algorithme de chiffrement</a:t>
            </a:r>
          </a:p>
          <a:p>
            <a:pPr lvl="1" algn="r"/>
            <a:r>
              <a:rPr lang="fr-FR" sz="1200" dirty="0"/>
              <a:t>Activation du chiffrement symétrique de bout en bout</a:t>
            </a:r>
          </a:p>
          <a:p>
            <a:pPr lvl="1" algn="r"/>
            <a:endParaRPr lang="fr-FR" sz="1200" dirty="0"/>
          </a:p>
          <a:p>
            <a:pPr algn="r"/>
            <a:r>
              <a:rPr lang="fr-FR" sz="1700" b="1" dirty="0"/>
              <a:t>6 - Échange chiffré</a:t>
            </a:r>
          </a:p>
          <a:p>
            <a:pPr lvl="1" algn="r"/>
            <a:r>
              <a:rPr lang="fr-FR" sz="1200" dirty="0"/>
              <a:t>Toutes les données ultérieures sont transmises de manière sécurisée</a:t>
            </a:r>
          </a:p>
        </p:txBody>
      </p:sp>
      <p:pic>
        <p:nvPicPr>
          <p:cNvPr id="11266" name="Picture 2">
            <a:extLst>
              <a:ext uri="{FF2B5EF4-FFF2-40B4-BE49-F238E27FC236}">
                <a16:creationId xmlns:a16="http://schemas.microsoft.com/office/drawing/2014/main" id="{386158F2-EABB-D159-6661-A27E7720D9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1808" y="137504"/>
            <a:ext cx="6666047" cy="6720496"/>
          </a:xfrm>
          <a:prstGeom prst="rect">
            <a:avLst/>
          </a:prstGeom>
          <a:noFill/>
          <a:extLst>
            <a:ext uri="{909E8E84-426E-40DD-AFC4-6F175D3DCCD1}">
              <a14:hiddenFill xmlns:a14="http://schemas.microsoft.com/office/drawing/2010/main">
                <a:solidFill>
                  <a:srgbClr val="FFFFFF"/>
                </a:solidFill>
              </a14:hiddenFill>
            </a:ext>
          </a:extLst>
        </p:spPr>
      </p:pic>
      <p:sp>
        <p:nvSpPr>
          <p:cNvPr id="8" name="ZoneTexte 7">
            <a:extLst>
              <a:ext uri="{FF2B5EF4-FFF2-40B4-BE49-F238E27FC236}">
                <a16:creationId xmlns:a16="http://schemas.microsoft.com/office/drawing/2014/main" id="{0F66AE13-7303-517B-8D18-2A41C87D28B4}"/>
              </a:ext>
            </a:extLst>
          </p:cNvPr>
          <p:cNvSpPr txBox="1"/>
          <p:nvPr/>
        </p:nvSpPr>
        <p:spPr>
          <a:xfrm>
            <a:off x="10618382" y="6597385"/>
            <a:ext cx="1573618" cy="246221"/>
          </a:xfrm>
          <a:prstGeom prst="rect">
            <a:avLst/>
          </a:prstGeom>
          <a:noFill/>
        </p:spPr>
        <p:txBody>
          <a:bodyPr wrap="square">
            <a:spAutoFit/>
          </a:bodyPr>
          <a:lstStyle/>
          <a:p>
            <a:r>
              <a:rPr lang="fr-FR" sz="1000" i="1" dirty="0">
                <a:solidFill>
                  <a:srgbClr val="898989"/>
                </a:solidFill>
              </a:rPr>
              <a:t>Source schéma : Wikipédia</a:t>
            </a:r>
          </a:p>
        </p:txBody>
      </p:sp>
    </p:spTree>
    <p:extLst>
      <p:ext uri="{BB962C8B-B14F-4D97-AF65-F5344CB8AC3E}">
        <p14:creationId xmlns:p14="http://schemas.microsoft.com/office/powerpoint/2010/main" val="15359624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EF6AD-D8DA-29EE-D009-A1B61B8DD336}"/>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F0195B9C-AEF8-2871-997F-9B28B6F40543}"/>
              </a:ext>
            </a:extLst>
          </p:cNvPr>
          <p:cNvSpPr>
            <a:spLocks noGrp="1"/>
          </p:cNvSpPr>
          <p:nvPr>
            <p:ph type="title"/>
          </p:nvPr>
        </p:nvSpPr>
        <p:spPr>
          <a:xfrm>
            <a:off x="320724" y="344557"/>
            <a:ext cx="10356511" cy="496366"/>
          </a:xfrm>
        </p:spPr>
        <p:txBody>
          <a:bodyPr/>
          <a:lstStyle/>
          <a:p>
            <a:r>
              <a:rPr lang="fr-FR" dirty="0"/>
              <a:t>Certificats numériques</a:t>
            </a:r>
          </a:p>
        </p:txBody>
      </p:sp>
      <p:sp>
        <p:nvSpPr>
          <p:cNvPr id="4" name="Sous-titre 3">
            <a:extLst>
              <a:ext uri="{FF2B5EF4-FFF2-40B4-BE49-F238E27FC236}">
                <a16:creationId xmlns:a16="http://schemas.microsoft.com/office/drawing/2014/main" id="{313E55DC-E568-585B-73E2-F12A5FCE6BD2}"/>
              </a:ext>
            </a:extLst>
          </p:cNvPr>
          <p:cNvSpPr>
            <a:spLocks noGrp="1"/>
          </p:cNvSpPr>
          <p:nvPr>
            <p:ph type="subTitle" idx="1"/>
          </p:nvPr>
        </p:nvSpPr>
        <p:spPr>
          <a:xfrm>
            <a:off x="488515" y="861170"/>
            <a:ext cx="8464099" cy="365125"/>
          </a:xfrm>
        </p:spPr>
        <p:txBody>
          <a:bodyPr>
            <a:normAutofit/>
          </a:bodyPr>
          <a:lstStyle/>
          <a:p>
            <a:r>
              <a:rPr lang="fr-FR" dirty="0"/>
              <a:t>Usages courants des certificats</a:t>
            </a:r>
          </a:p>
        </p:txBody>
      </p:sp>
      <p:sp>
        <p:nvSpPr>
          <p:cNvPr id="7" name="Espace réservé du texte 4">
            <a:extLst>
              <a:ext uri="{FF2B5EF4-FFF2-40B4-BE49-F238E27FC236}">
                <a16:creationId xmlns:a16="http://schemas.microsoft.com/office/drawing/2014/main" id="{081F8E1C-A4C0-0A8C-8F32-E541D5C694CC}"/>
              </a:ext>
            </a:extLst>
          </p:cNvPr>
          <p:cNvSpPr>
            <a:spLocks noGrp="1"/>
          </p:cNvSpPr>
          <p:nvPr>
            <p:ph type="body" idx="13"/>
          </p:nvPr>
        </p:nvSpPr>
        <p:spPr>
          <a:xfrm>
            <a:off x="522605" y="1743393"/>
            <a:ext cx="10356511" cy="4924107"/>
          </a:xfrm>
        </p:spPr>
        <p:txBody>
          <a:bodyPr anchor="ctr">
            <a:normAutofit/>
          </a:bodyPr>
          <a:lstStyle/>
          <a:p>
            <a:r>
              <a:rPr lang="fr-FR" sz="3200" dirty="0">
                <a:solidFill>
                  <a:srgbClr val="09253D"/>
                </a:solidFill>
              </a:rPr>
              <a:t>S/MIME (emails sécurisés)</a:t>
            </a:r>
          </a:p>
          <a:p>
            <a:pPr marL="457200" indent="-457200">
              <a:buFont typeface="Arial" panose="020B0604020202020204" pitchFamily="34" charset="0"/>
              <a:buChar char="•"/>
            </a:pPr>
            <a:r>
              <a:rPr lang="fr-FR" sz="3200" dirty="0"/>
              <a:t>Les certificats peuvent être utilisés pour sécuriser les e-mails</a:t>
            </a:r>
          </a:p>
          <a:p>
            <a:pPr lvl="1"/>
            <a:r>
              <a:rPr lang="fr-FR" sz="2800" dirty="0"/>
              <a:t>	🖊️ Signer numériquement les messages (authenticité)</a:t>
            </a:r>
          </a:p>
          <a:p>
            <a:pPr lvl="1"/>
            <a:r>
              <a:rPr lang="fr-FR" sz="2800" dirty="0"/>
              <a:t>	🔐 Chiffrer le contenu (confidentialité)</a:t>
            </a:r>
          </a:p>
          <a:p>
            <a:pPr lvl="1"/>
            <a:r>
              <a:rPr lang="fr-FR" sz="2800" dirty="0"/>
              <a:t>	📬 Garantir l’intégrité du message</a:t>
            </a:r>
          </a:p>
          <a:p>
            <a:pPr marL="457200" indent="-457200">
              <a:buFont typeface="Arial" panose="020B0604020202020204" pitchFamily="34" charset="0"/>
              <a:buChar char="•"/>
            </a:pPr>
            <a:r>
              <a:rPr lang="fr-FR" sz="3200" dirty="0"/>
              <a:t>Utilisé dans : Outlook, Thunderbird, Apple Mail...</a:t>
            </a:r>
            <a:endParaRPr lang="fr-FR" sz="2000" dirty="0"/>
          </a:p>
        </p:txBody>
      </p:sp>
    </p:spTree>
    <p:extLst>
      <p:ext uri="{BB962C8B-B14F-4D97-AF65-F5344CB8AC3E}">
        <p14:creationId xmlns:p14="http://schemas.microsoft.com/office/powerpoint/2010/main" val="7295600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7842B-4BA1-5698-1D44-5ED974F556A7}"/>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272D80E0-CC3C-25EC-48BD-A82EEC95170F}"/>
              </a:ext>
            </a:extLst>
          </p:cNvPr>
          <p:cNvSpPr>
            <a:spLocks noGrp="1"/>
          </p:cNvSpPr>
          <p:nvPr>
            <p:ph type="title"/>
          </p:nvPr>
        </p:nvSpPr>
        <p:spPr>
          <a:xfrm>
            <a:off x="320724" y="344557"/>
            <a:ext cx="10356511" cy="496366"/>
          </a:xfrm>
        </p:spPr>
        <p:txBody>
          <a:bodyPr/>
          <a:lstStyle/>
          <a:p>
            <a:r>
              <a:rPr lang="fr-FR" dirty="0"/>
              <a:t>Certificats numériques</a:t>
            </a:r>
          </a:p>
        </p:txBody>
      </p:sp>
      <p:sp>
        <p:nvSpPr>
          <p:cNvPr id="4" name="Sous-titre 3">
            <a:extLst>
              <a:ext uri="{FF2B5EF4-FFF2-40B4-BE49-F238E27FC236}">
                <a16:creationId xmlns:a16="http://schemas.microsoft.com/office/drawing/2014/main" id="{081F23EC-B1E4-B0BF-3B06-32A81A227652}"/>
              </a:ext>
            </a:extLst>
          </p:cNvPr>
          <p:cNvSpPr>
            <a:spLocks noGrp="1"/>
          </p:cNvSpPr>
          <p:nvPr>
            <p:ph type="subTitle" idx="1"/>
          </p:nvPr>
        </p:nvSpPr>
        <p:spPr>
          <a:xfrm>
            <a:off x="488515" y="861170"/>
            <a:ext cx="8464099" cy="365125"/>
          </a:xfrm>
        </p:spPr>
        <p:txBody>
          <a:bodyPr>
            <a:normAutofit/>
          </a:bodyPr>
          <a:lstStyle/>
          <a:p>
            <a:r>
              <a:rPr lang="fr-FR" dirty="0"/>
              <a:t>Usages courants des certificats</a:t>
            </a:r>
          </a:p>
        </p:txBody>
      </p:sp>
      <p:sp>
        <p:nvSpPr>
          <p:cNvPr id="7" name="Espace réservé du texte 4">
            <a:extLst>
              <a:ext uri="{FF2B5EF4-FFF2-40B4-BE49-F238E27FC236}">
                <a16:creationId xmlns:a16="http://schemas.microsoft.com/office/drawing/2014/main" id="{A4A300E6-32C7-6AFF-1928-3F956E75EB6E}"/>
              </a:ext>
            </a:extLst>
          </p:cNvPr>
          <p:cNvSpPr>
            <a:spLocks noGrp="1"/>
          </p:cNvSpPr>
          <p:nvPr>
            <p:ph type="body" idx="13"/>
          </p:nvPr>
        </p:nvSpPr>
        <p:spPr>
          <a:xfrm>
            <a:off x="522605" y="1743393"/>
            <a:ext cx="10356511" cy="4924107"/>
          </a:xfrm>
        </p:spPr>
        <p:txBody>
          <a:bodyPr anchor="ctr">
            <a:normAutofit lnSpcReduction="10000"/>
          </a:bodyPr>
          <a:lstStyle/>
          <a:p>
            <a:r>
              <a:rPr lang="fr-FR" sz="3200" dirty="0">
                <a:solidFill>
                  <a:srgbClr val="09253D"/>
                </a:solidFill>
              </a:rPr>
              <a:t>Signature de code</a:t>
            </a:r>
          </a:p>
          <a:p>
            <a:pPr marL="457200" indent="-457200">
              <a:buFont typeface="Arial" panose="020B0604020202020204" pitchFamily="34" charset="0"/>
              <a:buChar char="•"/>
            </a:pPr>
            <a:r>
              <a:rPr lang="fr-FR" sz="3200" dirty="0"/>
              <a:t>Les certificats peuvent être utilisés pour vérifier différents types de code </a:t>
            </a:r>
          </a:p>
          <a:p>
            <a:pPr marL="914400" lvl="1" indent="-457200">
              <a:buFont typeface="Arial" panose="020B0604020202020204" pitchFamily="34" charset="0"/>
              <a:buChar char="•"/>
            </a:pPr>
            <a:r>
              <a:rPr lang="fr-FR" sz="2800" dirty="0"/>
              <a:t>Logiciels ou applications</a:t>
            </a:r>
          </a:p>
          <a:p>
            <a:pPr marL="914400" lvl="1" indent="-457200">
              <a:buFont typeface="Arial" panose="020B0604020202020204" pitchFamily="34" charset="0"/>
              <a:buChar char="•"/>
            </a:pPr>
            <a:r>
              <a:rPr lang="fr-FR" sz="2800" dirty="0"/>
              <a:t>Pilotes</a:t>
            </a:r>
          </a:p>
          <a:p>
            <a:pPr marL="914400" lvl="1" indent="-457200">
              <a:buFont typeface="Arial" panose="020B0604020202020204" pitchFamily="34" charset="0"/>
              <a:buChar char="•"/>
            </a:pPr>
            <a:r>
              <a:rPr lang="fr-FR" sz="2800" dirty="0"/>
              <a:t>Exécutables</a:t>
            </a:r>
          </a:p>
          <a:p>
            <a:pPr marL="914400" lvl="1" indent="-457200">
              <a:buFont typeface="Arial" panose="020B0604020202020204" pitchFamily="34" charset="0"/>
              <a:buChar char="•"/>
            </a:pPr>
            <a:r>
              <a:rPr lang="fr-FR" sz="2800" dirty="0"/>
              <a:t>Scripts</a:t>
            </a:r>
          </a:p>
          <a:p>
            <a:pPr marL="457200" indent="-457200">
              <a:buFont typeface="Arial" panose="020B0604020202020204" pitchFamily="34" charset="0"/>
              <a:buChar char="•"/>
            </a:pPr>
            <a:r>
              <a:rPr lang="fr-FR" sz="3200" dirty="0"/>
              <a:t>Objectifs</a:t>
            </a:r>
          </a:p>
          <a:p>
            <a:pPr lvl="1"/>
            <a:r>
              <a:rPr lang="fr-FR" sz="2800" dirty="0"/>
              <a:t>	✅ Vérifier que le code n’a pas été modifié</a:t>
            </a:r>
          </a:p>
          <a:p>
            <a:pPr lvl="1"/>
            <a:r>
              <a:rPr lang="fr-FR" sz="2800" dirty="0"/>
              <a:t>	🧾 Authentifier l’éditeur du logiciel</a:t>
            </a:r>
          </a:p>
          <a:p>
            <a:pPr lvl="1"/>
            <a:r>
              <a:rPr lang="fr-FR" sz="2800" dirty="0"/>
              <a:t>	🔐 Renforcer la confiance de l’utilisateur pour l’installation</a:t>
            </a:r>
            <a:endParaRPr lang="fr-FR" sz="2000" dirty="0"/>
          </a:p>
        </p:txBody>
      </p:sp>
    </p:spTree>
    <p:extLst>
      <p:ext uri="{BB962C8B-B14F-4D97-AF65-F5344CB8AC3E}">
        <p14:creationId xmlns:p14="http://schemas.microsoft.com/office/powerpoint/2010/main" val="8902516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E0420-7388-3FCF-E260-6041F71CA834}"/>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129818A5-1135-7E3B-ABAD-2F1FA906D481}"/>
              </a:ext>
            </a:extLst>
          </p:cNvPr>
          <p:cNvSpPr>
            <a:spLocks noGrp="1"/>
          </p:cNvSpPr>
          <p:nvPr>
            <p:ph type="title"/>
          </p:nvPr>
        </p:nvSpPr>
        <p:spPr>
          <a:xfrm>
            <a:off x="320724" y="344557"/>
            <a:ext cx="10356511" cy="496366"/>
          </a:xfrm>
        </p:spPr>
        <p:txBody>
          <a:bodyPr/>
          <a:lstStyle/>
          <a:p>
            <a:r>
              <a:rPr lang="fr-FR" dirty="0"/>
              <a:t>Certificats numériques</a:t>
            </a:r>
          </a:p>
        </p:txBody>
      </p:sp>
      <p:sp>
        <p:nvSpPr>
          <p:cNvPr id="4" name="Sous-titre 3">
            <a:extLst>
              <a:ext uri="{FF2B5EF4-FFF2-40B4-BE49-F238E27FC236}">
                <a16:creationId xmlns:a16="http://schemas.microsoft.com/office/drawing/2014/main" id="{68A9FDCD-194B-DF65-F9E4-8ACD952E6D28}"/>
              </a:ext>
            </a:extLst>
          </p:cNvPr>
          <p:cNvSpPr>
            <a:spLocks noGrp="1"/>
          </p:cNvSpPr>
          <p:nvPr>
            <p:ph type="subTitle" idx="1"/>
          </p:nvPr>
        </p:nvSpPr>
        <p:spPr>
          <a:xfrm>
            <a:off x="488515" y="861170"/>
            <a:ext cx="8464099" cy="365125"/>
          </a:xfrm>
        </p:spPr>
        <p:txBody>
          <a:bodyPr>
            <a:normAutofit/>
          </a:bodyPr>
          <a:lstStyle/>
          <a:p>
            <a:r>
              <a:rPr lang="fr-FR" dirty="0"/>
              <a:t>Usages courants des certificats</a:t>
            </a:r>
          </a:p>
        </p:txBody>
      </p:sp>
      <p:sp>
        <p:nvSpPr>
          <p:cNvPr id="7" name="Espace réservé du texte 4">
            <a:extLst>
              <a:ext uri="{FF2B5EF4-FFF2-40B4-BE49-F238E27FC236}">
                <a16:creationId xmlns:a16="http://schemas.microsoft.com/office/drawing/2014/main" id="{BC4C45CC-1D69-C8FE-B8AE-A80EA75D0135}"/>
              </a:ext>
            </a:extLst>
          </p:cNvPr>
          <p:cNvSpPr>
            <a:spLocks noGrp="1"/>
          </p:cNvSpPr>
          <p:nvPr>
            <p:ph type="body" idx="13"/>
          </p:nvPr>
        </p:nvSpPr>
        <p:spPr>
          <a:xfrm>
            <a:off x="522605" y="1743393"/>
            <a:ext cx="10356511" cy="4924107"/>
          </a:xfrm>
        </p:spPr>
        <p:txBody>
          <a:bodyPr anchor="ctr">
            <a:normAutofit/>
          </a:bodyPr>
          <a:lstStyle/>
          <a:p>
            <a:r>
              <a:rPr lang="fr-FR" sz="3200" dirty="0">
                <a:solidFill>
                  <a:srgbClr val="09253D"/>
                </a:solidFill>
              </a:rPr>
              <a:t>Authentification forte</a:t>
            </a:r>
          </a:p>
          <a:p>
            <a:pPr marL="457200" indent="-457200">
              <a:buFont typeface="Arial" panose="020B0604020202020204" pitchFamily="34" charset="0"/>
              <a:buChar char="•"/>
            </a:pPr>
            <a:r>
              <a:rPr lang="fr-FR" sz="3200" dirty="0"/>
              <a:t>Les certificats peuvent être utilisés pour  l’authentification forte </a:t>
            </a:r>
          </a:p>
          <a:p>
            <a:pPr lvl="1"/>
            <a:r>
              <a:rPr lang="fr-FR" sz="2800" dirty="0"/>
              <a:t>	👤 Utilisateurs (authentification personnelle)</a:t>
            </a:r>
          </a:p>
          <a:p>
            <a:pPr lvl="1"/>
            <a:r>
              <a:rPr lang="fr-FR" sz="2800" dirty="0"/>
              <a:t>	💻 </a:t>
            </a:r>
            <a:r>
              <a:rPr lang="fr-FR" sz="2800" dirty="0" err="1"/>
              <a:t>Endpoints</a:t>
            </a:r>
            <a:r>
              <a:rPr lang="fr-FR" sz="2800" dirty="0"/>
              <a:t> ou composant réseau</a:t>
            </a:r>
          </a:p>
          <a:p>
            <a:pPr marL="457200" indent="-457200">
              <a:buFont typeface="Arial" panose="020B0604020202020204" pitchFamily="34" charset="0"/>
              <a:buChar char="•"/>
            </a:pPr>
            <a:r>
              <a:rPr lang="fr-FR" sz="3200" dirty="0"/>
              <a:t>Utilisé pour : accès à des applications sensibles, portail SSO, intranet sécurisé...</a:t>
            </a:r>
            <a:endParaRPr lang="fr-FR" sz="2000" dirty="0"/>
          </a:p>
        </p:txBody>
      </p:sp>
    </p:spTree>
    <p:extLst>
      <p:ext uri="{BB962C8B-B14F-4D97-AF65-F5344CB8AC3E}">
        <p14:creationId xmlns:p14="http://schemas.microsoft.com/office/powerpoint/2010/main" val="2271133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AC45D-0B38-93B3-68D3-F7BDA0BE7F9B}"/>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8C55A964-FF3C-2D32-5C36-3BE33F70F215}"/>
              </a:ext>
            </a:extLst>
          </p:cNvPr>
          <p:cNvSpPr>
            <a:spLocks noGrp="1"/>
          </p:cNvSpPr>
          <p:nvPr>
            <p:ph type="title"/>
          </p:nvPr>
        </p:nvSpPr>
        <p:spPr>
          <a:xfrm>
            <a:off x="320724" y="344557"/>
            <a:ext cx="10356511" cy="496366"/>
          </a:xfrm>
        </p:spPr>
        <p:txBody>
          <a:bodyPr/>
          <a:lstStyle/>
          <a:p>
            <a:r>
              <a:rPr lang="fr-FR" dirty="0"/>
              <a:t>Certificats numériques</a:t>
            </a:r>
          </a:p>
        </p:txBody>
      </p:sp>
      <p:sp>
        <p:nvSpPr>
          <p:cNvPr id="4" name="Sous-titre 3">
            <a:extLst>
              <a:ext uri="{FF2B5EF4-FFF2-40B4-BE49-F238E27FC236}">
                <a16:creationId xmlns:a16="http://schemas.microsoft.com/office/drawing/2014/main" id="{B5809122-20EE-114D-F886-3289342B085F}"/>
              </a:ext>
            </a:extLst>
          </p:cNvPr>
          <p:cNvSpPr>
            <a:spLocks noGrp="1"/>
          </p:cNvSpPr>
          <p:nvPr>
            <p:ph type="subTitle" idx="1"/>
          </p:nvPr>
        </p:nvSpPr>
        <p:spPr>
          <a:xfrm>
            <a:off x="488515" y="861170"/>
            <a:ext cx="8464099" cy="365125"/>
          </a:xfrm>
        </p:spPr>
        <p:txBody>
          <a:bodyPr>
            <a:normAutofit/>
          </a:bodyPr>
          <a:lstStyle/>
          <a:p>
            <a:r>
              <a:rPr lang="fr-FR" dirty="0"/>
              <a:t>Usages courants des certificats</a:t>
            </a:r>
          </a:p>
        </p:txBody>
      </p:sp>
      <p:sp>
        <p:nvSpPr>
          <p:cNvPr id="7" name="Espace réservé du texte 4">
            <a:extLst>
              <a:ext uri="{FF2B5EF4-FFF2-40B4-BE49-F238E27FC236}">
                <a16:creationId xmlns:a16="http://schemas.microsoft.com/office/drawing/2014/main" id="{06C0CC6A-E715-0A01-B742-C0A84DCE734F}"/>
              </a:ext>
            </a:extLst>
          </p:cNvPr>
          <p:cNvSpPr>
            <a:spLocks noGrp="1"/>
          </p:cNvSpPr>
          <p:nvPr>
            <p:ph type="body" idx="13"/>
          </p:nvPr>
        </p:nvSpPr>
        <p:spPr>
          <a:xfrm>
            <a:off x="522605" y="1743393"/>
            <a:ext cx="10356511" cy="4924107"/>
          </a:xfrm>
        </p:spPr>
        <p:txBody>
          <a:bodyPr anchor="ctr">
            <a:normAutofit/>
          </a:bodyPr>
          <a:lstStyle/>
          <a:p>
            <a:r>
              <a:rPr lang="fr-FR" sz="3200" dirty="0">
                <a:solidFill>
                  <a:srgbClr val="09253D"/>
                </a:solidFill>
              </a:rPr>
              <a:t>VPN</a:t>
            </a:r>
          </a:p>
          <a:p>
            <a:pPr marL="457200" indent="-457200">
              <a:buFont typeface="Arial" panose="020B0604020202020204" pitchFamily="34" charset="0"/>
              <a:buChar char="•"/>
            </a:pPr>
            <a:r>
              <a:rPr lang="fr-FR" sz="3200" dirty="0"/>
              <a:t>Les certificats sont partie intégrante du fonctionnement des VPN (</a:t>
            </a:r>
            <a:r>
              <a:rPr lang="fr-FR" sz="3200" dirty="0" err="1"/>
              <a:t>OpenVPN</a:t>
            </a:r>
            <a:r>
              <a:rPr lang="fr-FR" sz="3200" dirty="0"/>
              <a:t> et </a:t>
            </a:r>
            <a:r>
              <a:rPr lang="fr-FR" sz="3200" dirty="0" err="1"/>
              <a:t>IPsec</a:t>
            </a:r>
            <a:r>
              <a:rPr lang="fr-FR" sz="3200" dirty="0"/>
              <a:t> entre autres)</a:t>
            </a:r>
            <a:endParaRPr lang="fr-FR" sz="2800" dirty="0"/>
          </a:p>
          <a:p>
            <a:pPr marL="457200" indent="-457200">
              <a:buFont typeface="Arial" panose="020B0604020202020204" pitchFamily="34" charset="0"/>
              <a:buChar char="•"/>
            </a:pPr>
            <a:r>
              <a:rPr lang="fr-FR" sz="3200" dirty="0"/>
              <a:t>Ils permettent</a:t>
            </a:r>
          </a:p>
          <a:p>
            <a:pPr lvl="1"/>
            <a:r>
              <a:rPr lang="fr-FR" sz="2800" dirty="0"/>
              <a:t>	🔐 L’authentification mutuelle client ↔ serveur</a:t>
            </a:r>
          </a:p>
          <a:p>
            <a:pPr lvl="1"/>
            <a:r>
              <a:rPr lang="fr-FR" sz="2800" dirty="0"/>
              <a:t>	💡 D’éviter l’usage de mots de passe</a:t>
            </a:r>
          </a:p>
        </p:txBody>
      </p:sp>
    </p:spTree>
    <p:extLst>
      <p:ext uri="{BB962C8B-B14F-4D97-AF65-F5344CB8AC3E}">
        <p14:creationId xmlns:p14="http://schemas.microsoft.com/office/powerpoint/2010/main" val="17861641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24F0B-3CFD-38FA-001F-0F2E2AE5F2AF}"/>
            </a:ext>
          </a:extLst>
        </p:cNvPr>
        <p:cNvGrpSpPr/>
        <p:nvPr/>
      </p:nvGrpSpPr>
      <p:grpSpPr>
        <a:xfrm>
          <a:off x="0" y="0"/>
          <a:ext cx="0" cy="0"/>
          <a:chOff x="0" y="0"/>
          <a:chExt cx="0" cy="0"/>
        </a:xfrm>
      </p:grpSpPr>
      <p:sp>
        <p:nvSpPr>
          <p:cNvPr id="5" name="Titre 4">
            <a:extLst>
              <a:ext uri="{FF2B5EF4-FFF2-40B4-BE49-F238E27FC236}">
                <a16:creationId xmlns:a16="http://schemas.microsoft.com/office/drawing/2014/main" id="{557C576E-2BBD-7939-DCD3-A63649E043C7}"/>
              </a:ext>
            </a:extLst>
          </p:cNvPr>
          <p:cNvSpPr>
            <a:spLocks noGrp="1"/>
          </p:cNvSpPr>
          <p:nvPr>
            <p:ph type="ctrTitle"/>
          </p:nvPr>
        </p:nvSpPr>
        <p:spPr/>
        <p:txBody>
          <a:bodyPr>
            <a:normAutofit fontScale="90000"/>
          </a:bodyPr>
          <a:lstStyle/>
          <a:p>
            <a:r>
              <a:rPr lang="fr-FR" dirty="0"/>
              <a:t>PKI - Public Key Infrastructure</a:t>
            </a:r>
          </a:p>
        </p:txBody>
      </p:sp>
      <p:sp>
        <p:nvSpPr>
          <p:cNvPr id="6" name="Sous-titre 5">
            <a:extLst>
              <a:ext uri="{FF2B5EF4-FFF2-40B4-BE49-F238E27FC236}">
                <a16:creationId xmlns:a16="http://schemas.microsoft.com/office/drawing/2014/main" id="{478650E9-D85E-3BAE-19B9-74942FC06EC7}"/>
              </a:ext>
            </a:extLst>
          </p:cNvPr>
          <p:cNvSpPr>
            <a:spLocks noGrp="1"/>
          </p:cNvSpPr>
          <p:nvPr>
            <p:ph type="subTitle" idx="1"/>
          </p:nvPr>
        </p:nvSpPr>
        <p:spPr/>
        <p:txBody>
          <a:bodyPr/>
          <a:lstStyle/>
          <a:p>
            <a:r>
              <a:rPr lang="fr-FR" dirty="0"/>
              <a:t>Sans autorité, pas de confiance</a:t>
            </a:r>
          </a:p>
        </p:txBody>
      </p:sp>
    </p:spTree>
    <p:extLst>
      <p:ext uri="{BB962C8B-B14F-4D97-AF65-F5344CB8AC3E}">
        <p14:creationId xmlns:p14="http://schemas.microsoft.com/office/powerpoint/2010/main" val="35039057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33B6C-EFCF-06D7-DE6C-CC29A5DA0E22}"/>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A2C601F6-51C8-1CCC-E53E-7EC0F64B96F5}"/>
              </a:ext>
            </a:extLst>
          </p:cNvPr>
          <p:cNvSpPr>
            <a:spLocks noGrp="1"/>
          </p:cNvSpPr>
          <p:nvPr>
            <p:ph type="title"/>
          </p:nvPr>
        </p:nvSpPr>
        <p:spPr>
          <a:xfrm>
            <a:off x="320724" y="344557"/>
            <a:ext cx="10356511" cy="496366"/>
          </a:xfrm>
        </p:spPr>
        <p:txBody>
          <a:bodyPr/>
          <a:lstStyle/>
          <a:p>
            <a:r>
              <a:rPr lang="fr-FR" dirty="0"/>
              <a:t>PKI – Public Key Infrastructure</a:t>
            </a:r>
          </a:p>
        </p:txBody>
      </p:sp>
      <p:sp>
        <p:nvSpPr>
          <p:cNvPr id="4" name="Sous-titre 3">
            <a:extLst>
              <a:ext uri="{FF2B5EF4-FFF2-40B4-BE49-F238E27FC236}">
                <a16:creationId xmlns:a16="http://schemas.microsoft.com/office/drawing/2014/main" id="{C4AA8D95-8EA3-2C06-C4CA-67A9D84E342B}"/>
              </a:ext>
            </a:extLst>
          </p:cNvPr>
          <p:cNvSpPr>
            <a:spLocks noGrp="1"/>
          </p:cNvSpPr>
          <p:nvPr>
            <p:ph type="subTitle" idx="1"/>
          </p:nvPr>
        </p:nvSpPr>
        <p:spPr>
          <a:xfrm>
            <a:off x="488515" y="861170"/>
            <a:ext cx="8464099" cy="365125"/>
          </a:xfrm>
        </p:spPr>
        <p:txBody>
          <a:bodyPr>
            <a:normAutofit/>
          </a:bodyPr>
          <a:lstStyle/>
          <a:p>
            <a:r>
              <a:rPr lang="fr-FR" sz="2400" dirty="0"/>
              <a:t>Définition</a:t>
            </a:r>
          </a:p>
          <a:p>
            <a:endParaRPr lang="fr-FR" sz="2400" dirty="0"/>
          </a:p>
        </p:txBody>
      </p:sp>
      <p:sp>
        <p:nvSpPr>
          <p:cNvPr id="7" name="Espace réservé du texte 4">
            <a:extLst>
              <a:ext uri="{FF2B5EF4-FFF2-40B4-BE49-F238E27FC236}">
                <a16:creationId xmlns:a16="http://schemas.microsoft.com/office/drawing/2014/main" id="{85125BA3-CCC1-6F98-1839-BB83592AF99B}"/>
              </a:ext>
            </a:extLst>
          </p:cNvPr>
          <p:cNvSpPr>
            <a:spLocks noGrp="1"/>
          </p:cNvSpPr>
          <p:nvPr>
            <p:ph type="body" idx="13"/>
          </p:nvPr>
        </p:nvSpPr>
        <p:spPr>
          <a:xfrm>
            <a:off x="522605" y="1743393"/>
            <a:ext cx="11146790" cy="4924107"/>
          </a:xfrm>
        </p:spPr>
        <p:txBody>
          <a:bodyPr anchor="ctr">
            <a:normAutofit fontScale="77500" lnSpcReduction="20000"/>
          </a:bodyPr>
          <a:lstStyle/>
          <a:p>
            <a:r>
              <a:rPr lang="fr-FR" sz="3200" dirty="0">
                <a:solidFill>
                  <a:srgbClr val="09253D"/>
                </a:solidFill>
              </a:rPr>
              <a:t>Qu'est-ce une PKI ?</a:t>
            </a:r>
          </a:p>
          <a:p>
            <a:r>
              <a:rPr lang="fr-FR" sz="3200" dirty="0"/>
              <a:t>Une PKI (Infrastructure à Clé Publique) ou IGC (Infrastructure de Gestion des Clés)</a:t>
            </a:r>
          </a:p>
          <a:p>
            <a:pPr marL="914400" lvl="1" indent="-457200">
              <a:buFont typeface="Arial" panose="020B0604020202020204" pitchFamily="34" charset="0"/>
              <a:buChar char="•"/>
            </a:pPr>
            <a:r>
              <a:rPr lang="fr-FR" sz="2800" dirty="0"/>
              <a:t>Est un ensemble de services, règles et rôles permettant de</a:t>
            </a:r>
          </a:p>
          <a:p>
            <a:pPr marL="1371600" lvl="2" indent="-457200">
              <a:buFont typeface="Arial" panose="020B0604020202020204" pitchFamily="34" charset="0"/>
              <a:buChar char="•"/>
            </a:pPr>
            <a:r>
              <a:rPr lang="fr-FR" sz="2600" dirty="0"/>
              <a:t>Générer</a:t>
            </a:r>
          </a:p>
          <a:p>
            <a:pPr marL="1371600" lvl="2" indent="-457200">
              <a:buFont typeface="Arial" panose="020B0604020202020204" pitchFamily="34" charset="0"/>
              <a:buChar char="•"/>
            </a:pPr>
            <a:r>
              <a:rPr lang="fr-FR" sz="2600" dirty="0"/>
              <a:t>Distribuer</a:t>
            </a:r>
          </a:p>
          <a:p>
            <a:pPr marL="1371600" lvl="2" indent="-457200">
              <a:buFont typeface="Arial" panose="020B0604020202020204" pitchFamily="34" charset="0"/>
              <a:buChar char="•"/>
            </a:pPr>
            <a:r>
              <a:rPr lang="fr-FR" sz="2600" dirty="0"/>
              <a:t>Gérer</a:t>
            </a:r>
          </a:p>
          <a:p>
            <a:pPr marL="1371600" lvl="2" indent="-457200">
              <a:buFont typeface="Arial" panose="020B0604020202020204" pitchFamily="34" charset="0"/>
              <a:buChar char="•"/>
            </a:pPr>
            <a:r>
              <a:rPr lang="fr-FR" sz="2600" dirty="0"/>
              <a:t>Révoquer des certificats numériques</a:t>
            </a:r>
          </a:p>
          <a:p>
            <a:pPr marL="914400" lvl="1" indent="-457200">
              <a:buFont typeface="Arial" panose="020B0604020202020204" pitchFamily="34" charset="0"/>
              <a:buChar char="•"/>
            </a:pPr>
            <a:r>
              <a:rPr lang="fr-FR" sz="2800" dirty="0"/>
              <a:t>Repose sur plusieurs composants</a:t>
            </a:r>
          </a:p>
          <a:p>
            <a:pPr marL="1371600" lvl="2" indent="-457200">
              <a:buFont typeface="Arial" panose="020B0604020202020204" pitchFamily="34" charset="0"/>
              <a:buChar char="•"/>
            </a:pPr>
            <a:r>
              <a:rPr lang="fr-FR" sz="2600" dirty="0"/>
              <a:t>CA (Certification </a:t>
            </a:r>
            <a:r>
              <a:rPr lang="fr-FR" sz="2600" dirty="0" err="1"/>
              <a:t>Authority</a:t>
            </a:r>
            <a:r>
              <a:rPr lang="fr-FR" sz="2600" dirty="0"/>
              <a:t>) : émet les certificats</a:t>
            </a:r>
          </a:p>
          <a:p>
            <a:pPr marL="1371600" lvl="2" indent="-457200">
              <a:buFont typeface="Arial" panose="020B0604020202020204" pitchFamily="34" charset="0"/>
              <a:buChar char="•"/>
            </a:pPr>
            <a:r>
              <a:rPr lang="fr-FR" sz="2600" dirty="0"/>
              <a:t>RA (Registration </a:t>
            </a:r>
            <a:r>
              <a:rPr lang="fr-FR" sz="2600" dirty="0" err="1"/>
              <a:t>Authority</a:t>
            </a:r>
            <a:r>
              <a:rPr lang="fr-FR" sz="2600" dirty="0"/>
              <a:t>) : vérifie les identités</a:t>
            </a:r>
          </a:p>
          <a:p>
            <a:pPr marL="1371600" lvl="2" indent="-457200">
              <a:buFont typeface="Arial" panose="020B0604020202020204" pitchFamily="34" charset="0"/>
              <a:buChar char="•"/>
            </a:pPr>
            <a:r>
              <a:rPr lang="fr-FR" sz="2600" dirty="0"/>
              <a:t>VA (Validation </a:t>
            </a:r>
            <a:r>
              <a:rPr lang="fr-FR" sz="2600" dirty="0" err="1"/>
              <a:t>Authority</a:t>
            </a:r>
            <a:r>
              <a:rPr lang="fr-FR" sz="2600" dirty="0"/>
              <a:t>) : vérifie les statuts des certificats</a:t>
            </a:r>
          </a:p>
          <a:p>
            <a:endParaRPr lang="fr-FR" sz="3200" dirty="0">
              <a:solidFill>
                <a:srgbClr val="42C5A5"/>
              </a:solidFill>
            </a:endParaRPr>
          </a:p>
          <a:p>
            <a:r>
              <a:rPr lang="fr-FR" sz="3200" dirty="0">
                <a:solidFill>
                  <a:srgbClr val="42C5A5"/>
                </a:solidFill>
              </a:rPr>
              <a:t>Objectif</a:t>
            </a:r>
          </a:p>
          <a:p>
            <a:pPr marL="914400" lvl="1" indent="-457200">
              <a:buFont typeface="Arial" panose="020B0604020202020204" pitchFamily="34" charset="0"/>
              <a:buChar char="•"/>
            </a:pPr>
            <a:r>
              <a:rPr lang="fr-FR" sz="2800" dirty="0"/>
              <a:t>Établir la confiance dans les échanges sécurisés</a:t>
            </a:r>
            <a:endParaRPr lang="fr-FR" dirty="0"/>
          </a:p>
        </p:txBody>
      </p:sp>
    </p:spTree>
    <p:extLst>
      <p:ext uri="{BB962C8B-B14F-4D97-AF65-F5344CB8AC3E}">
        <p14:creationId xmlns:p14="http://schemas.microsoft.com/office/powerpoint/2010/main" val="875419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E20F9-EA0D-0C60-345A-A3DCE7ADAA0B}"/>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D63888D0-D8FD-38A6-CD46-D0E97AEF0BB5}"/>
              </a:ext>
            </a:extLst>
          </p:cNvPr>
          <p:cNvSpPr>
            <a:spLocks noGrp="1"/>
          </p:cNvSpPr>
          <p:nvPr>
            <p:ph type="title"/>
          </p:nvPr>
        </p:nvSpPr>
        <p:spPr>
          <a:xfrm>
            <a:off x="320724" y="344557"/>
            <a:ext cx="10356511" cy="496366"/>
          </a:xfrm>
        </p:spPr>
        <p:txBody>
          <a:bodyPr/>
          <a:lstStyle/>
          <a:p>
            <a:r>
              <a:rPr lang="fr-FR" dirty="0"/>
              <a:t>PKI – Public Key Infrastructure</a:t>
            </a:r>
          </a:p>
        </p:txBody>
      </p:sp>
      <p:sp>
        <p:nvSpPr>
          <p:cNvPr id="4" name="Sous-titre 3">
            <a:extLst>
              <a:ext uri="{FF2B5EF4-FFF2-40B4-BE49-F238E27FC236}">
                <a16:creationId xmlns:a16="http://schemas.microsoft.com/office/drawing/2014/main" id="{9F7989A6-048E-560F-B590-87C06A12DE11}"/>
              </a:ext>
            </a:extLst>
          </p:cNvPr>
          <p:cNvSpPr>
            <a:spLocks noGrp="1"/>
          </p:cNvSpPr>
          <p:nvPr>
            <p:ph type="subTitle" idx="1"/>
          </p:nvPr>
        </p:nvSpPr>
        <p:spPr>
          <a:xfrm>
            <a:off x="488515" y="861170"/>
            <a:ext cx="8464099" cy="365125"/>
          </a:xfrm>
        </p:spPr>
        <p:txBody>
          <a:bodyPr>
            <a:normAutofit/>
          </a:bodyPr>
          <a:lstStyle/>
          <a:p>
            <a:r>
              <a:rPr lang="fr-FR" sz="2400" dirty="0"/>
              <a:t>Définition</a:t>
            </a:r>
          </a:p>
          <a:p>
            <a:endParaRPr lang="fr-FR" sz="2400" dirty="0"/>
          </a:p>
        </p:txBody>
      </p:sp>
      <p:sp>
        <p:nvSpPr>
          <p:cNvPr id="7" name="Espace réservé du texte 4">
            <a:extLst>
              <a:ext uri="{FF2B5EF4-FFF2-40B4-BE49-F238E27FC236}">
                <a16:creationId xmlns:a16="http://schemas.microsoft.com/office/drawing/2014/main" id="{79D55628-7050-0133-DAEE-B05BE55E7096}"/>
              </a:ext>
            </a:extLst>
          </p:cNvPr>
          <p:cNvSpPr>
            <a:spLocks noGrp="1"/>
          </p:cNvSpPr>
          <p:nvPr>
            <p:ph type="body" idx="13"/>
          </p:nvPr>
        </p:nvSpPr>
        <p:spPr>
          <a:xfrm>
            <a:off x="522605" y="1743393"/>
            <a:ext cx="11146790" cy="4924107"/>
          </a:xfrm>
        </p:spPr>
        <p:txBody>
          <a:bodyPr anchor="ctr">
            <a:normAutofit/>
          </a:bodyPr>
          <a:lstStyle/>
          <a:p>
            <a:r>
              <a:rPr lang="fr-FR" sz="3200" dirty="0">
                <a:solidFill>
                  <a:srgbClr val="09253D"/>
                </a:solidFill>
              </a:rPr>
              <a:t>Une brique essentielle pour sécuriser les communications réseau</a:t>
            </a:r>
          </a:p>
          <a:p>
            <a:r>
              <a:rPr lang="fr-FR" sz="2000" dirty="0"/>
              <a:t>L’infrastructure à clé publique (PKI) désigne l’ensemble des procédures, politiques et technologies qui permettent de sécuriser les communications sur des canaux publics</a:t>
            </a:r>
          </a:p>
          <a:p>
            <a:r>
              <a:rPr lang="fr-FR" dirty="0">
                <a:solidFill>
                  <a:srgbClr val="42C5A5"/>
                </a:solidFill>
              </a:rPr>
              <a:t>Fondements techniques</a:t>
            </a:r>
          </a:p>
          <a:p>
            <a:pPr marL="342900" indent="-342900">
              <a:buFont typeface="Arial" panose="020B0604020202020204" pitchFamily="34" charset="0"/>
              <a:buChar char="•"/>
            </a:pPr>
            <a:r>
              <a:rPr lang="fr-FR" sz="2000" dirty="0"/>
              <a:t>Basée sur la cryptographie à clé publique</a:t>
            </a:r>
          </a:p>
          <a:p>
            <a:pPr marL="342900" indent="-342900">
              <a:buFont typeface="Arial" panose="020B0604020202020204" pitchFamily="34" charset="0"/>
              <a:buChar char="•"/>
            </a:pPr>
            <a:r>
              <a:rPr lang="fr-FR" sz="2000" dirty="0"/>
              <a:t>Utilise des algorithmes mathématiques pour chiffrer/déchiffrer les données</a:t>
            </a:r>
          </a:p>
          <a:p>
            <a:pPr marL="342900" indent="-342900">
              <a:buFont typeface="Arial" panose="020B0604020202020204" pitchFamily="34" charset="0"/>
              <a:buChar char="•"/>
            </a:pPr>
            <a:r>
              <a:rPr lang="fr-FR" sz="2000" dirty="0"/>
              <a:t>Permet de garantir confidentialité, intégrité et authenticité des échanges basés sur des canaux non sécurisé</a:t>
            </a:r>
          </a:p>
        </p:txBody>
      </p:sp>
    </p:spTree>
    <p:extLst>
      <p:ext uri="{BB962C8B-B14F-4D97-AF65-F5344CB8AC3E}">
        <p14:creationId xmlns:p14="http://schemas.microsoft.com/office/powerpoint/2010/main" val="15221146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45C46-2E1E-46A6-0764-205C23388867}"/>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893B82AE-C6A2-B424-4D04-60CD3CBFCACE}"/>
              </a:ext>
            </a:extLst>
          </p:cNvPr>
          <p:cNvSpPr>
            <a:spLocks noGrp="1"/>
          </p:cNvSpPr>
          <p:nvPr>
            <p:ph type="title"/>
          </p:nvPr>
        </p:nvSpPr>
        <p:spPr>
          <a:xfrm>
            <a:off x="320724" y="344557"/>
            <a:ext cx="10356511" cy="496366"/>
          </a:xfrm>
        </p:spPr>
        <p:txBody>
          <a:bodyPr/>
          <a:lstStyle/>
          <a:p>
            <a:r>
              <a:rPr lang="fr-FR" dirty="0"/>
              <a:t>PKI – Public Key Infrastructure</a:t>
            </a:r>
          </a:p>
        </p:txBody>
      </p:sp>
      <p:sp>
        <p:nvSpPr>
          <p:cNvPr id="4" name="Sous-titre 3">
            <a:extLst>
              <a:ext uri="{FF2B5EF4-FFF2-40B4-BE49-F238E27FC236}">
                <a16:creationId xmlns:a16="http://schemas.microsoft.com/office/drawing/2014/main" id="{6DAB8243-87E3-909A-F4C9-7DF48ACA03DF}"/>
              </a:ext>
            </a:extLst>
          </p:cNvPr>
          <p:cNvSpPr>
            <a:spLocks noGrp="1"/>
          </p:cNvSpPr>
          <p:nvPr>
            <p:ph type="subTitle" idx="1"/>
          </p:nvPr>
        </p:nvSpPr>
        <p:spPr>
          <a:xfrm>
            <a:off x="488515" y="861170"/>
            <a:ext cx="8464099" cy="365125"/>
          </a:xfrm>
        </p:spPr>
        <p:txBody>
          <a:bodyPr>
            <a:normAutofit/>
          </a:bodyPr>
          <a:lstStyle/>
          <a:p>
            <a:r>
              <a:rPr lang="fr-FR" sz="2400" dirty="0"/>
              <a:t>Généralités</a:t>
            </a:r>
          </a:p>
          <a:p>
            <a:endParaRPr lang="fr-FR" sz="2400" dirty="0"/>
          </a:p>
        </p:txBody>
      </p:sp>
      <p:sp>
        <p:nvSpPr>
          <p:cNvPr id="7" name="Espace réservé du texte 4">
            <a:extLst>
              <a:ext uri="{FF2B5EF4-FFF2-40B4-BE49-F238E27FC236}">
                <a16:creationId xmlns:a16="http://schemas.microsoft.com/office/drawing/2014/main" id="{B1280B81-BCDE-3D33-CA1C-B5F1A0AFC5A9}"/>
              </a:ext>
            </a:extLst>
          </p:cNvPr>
          <p:cNvSpPr>
            <a:spLocks noGrp="1"/>
          </p:cNvSpPr>
          <p:nvPr>
            <p:ph type="body" idx="13"/>
          </p:nvPr>
        </p:nvSpPr>
        <p:spPr>
          <a:xfrm>
            <a:off x="522605" y="1743393"/>
            <a:ext cx="6251575" cy="4924107"/>
          </a:xfrm>
        </p:spPr>
        <p:txBody>
          <a:bodyPr anchor="ctr">
            <a:normAutofit fontScale="92500"/>
          </a:bodyPr>
          <a:lstStyle/>
          <a:p>
            <a:r>
              <a:rPr lang="fr-FR" sz="3200" dirty="0">
                <a:solidFill>
                  <a:srgbClr val="09253D"/>
                </a:solidFill>
              </a:rPr>
              <a:t>À quoi sert une PKI ?</a:t>
            </a:r>
          </a:p>
          <a:p>
            <a:pPr marL="457200" indent="-457200">
              <a:buFont typeface="Arial" panose="020B0604020202020204" pitchFamily="34" charset="0"/>
              <a:buChar char="•"/>
            </a:pPr>
            <a:r>
              <a:rPr lang="fr-FR" sz="3200" dirty="0"/>
              <a:t>Une PKI permet de garantir l’association entre :</a:t>
            </a:r>
          </a:p>
          <a:p>
            <a:pPr marL="914400" lvl="1" indent="-457200">
              <a:buFont typeface="Arial" panose="020B0604020202020204" pitchFamily="34" charset="0"/>
              <a:buChar char="•"/>
            </a:pPr>
            <a:r>
              <a:rPr lang="fr-FR" sz="2800" dirty="0"/>
              <a:t>Une identité (ex. : Bob)</a:t>
            </a:r>
          </a:p>
          <a:p>
            <a:pPr marL="914400" lvl="1" indent="-457200">
              <a:buFont typeface="Arial" panose="020B0604020202020204" pitchFamily="34" charset="0"/>
              <a:buChar char="•"/>
            </a:pPr>
            <a:r>
              <a:rPr lang="fr-FR" sz="2800" dirty="0"/>
              <a:t>Une clé publique</a:t>
            </a:r>
          </a:p>
          <a:p>
            <a:pPr marL="457200" indent="-457200">
              <a:buFont typeface="Arial" panose="020B0604020202020204" pitchFamily="34" charset="0"/>
              <a:buChar char="•"/>
            </a:pPr>
            <a:r>
              <a:rPr lang="fr-FR" sz="3200" dirty="0"/>
              <a:t>C’est l’Autorité de Certification (CA) qui signe le certificat de Bob avec sa propre clé privée</a:t>
            </a:r>
          </a:p>
          <a:p>
            <a:pPr marL="914400" lvl="1" indent="-457200">
              <a:buFont typeface="Arial" panose="020B0604020202020204" pitchFamily="34" charset="0"/>
              <a:buChar char="•"/>
            </a:pPr>
            <a:r>
              <a:rPr lang="fr-FR" sz="2800" dirty="0"/>
              <a:t>Cela permet de valider que la clé publique de Bob lui appartient réellement, et non à un usurpateur...</a:t>
            </a:r>
            <a:endParaRPr lang="fr-FR" dirty="0"/>
          </a:p>
        </p:txBody>
      </p:sp>
      <p:pic>
        <p:nvPicPr>
          <p:cNvPr id="2" name="Image 1">
            <a:extLst>
              <a:ext uri="{FF2B5EF4-FFF2-40B4-BE49-F238E27FC236}">
                <a16:creationId xmlns:a16="http://schemas.microsoft.com/office/drawing/2014/main" id="{E61F87F5-3475-3CE6-B44F-725949AC34E6}"/>
              </a:ext>
            </a:extLst>
          </p:cNvPr>
          <p:cNvPicPr>
            <a:picLocks noChangeAspect="1"/>
          </p:cNvPicPr>
          <p:nvPr/>
        </p:nvPicPr>
        <p:blipFill>
          <a:blip r:embed="rId3"/>
          <a:stretch>
            <a:fillRect/>
          </a:stretch>
        </p:blipFill>
        <p:spPr>
          <a:xfrm>
            <a:off x="7299960" y="1806212"/>
            <a:ext cx="4800600" cy="4800600"/>
          </a:xfrm>
          <a:prstGeom prst="rect">
            <a:avLst/>
          </a:prstGeom>
        </p:spPr>
      </p:pic>
    </p:spTree>
    <p:extLst>
      <p:ext uri="{BB962C8B-B14F-4D97-AF65-F5344CB8AC3E}">
        <p14:creationId xmlns:p14="http://schemas.microsoft.com/office/powerpoint/2010/main" val="7621781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4A892-EF5C-DAD9-4B7C-AB4B37863500}"/>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A95D477C-B8E4-9288-3681-DC90067B9E39}"/>
              </a:ext>
            </a:extLst>
          </p:cNvPr>
          <p:cNvSpPr>
            <a:spLocks noGrp="1"/>
          </p:cNvSpPr>
          <p:nvPr>
            <p:ph type="title"/>
          </p:nvPr>
        </p:nvSpPr>
        <p:spPr>
          <a:xfrm>
            <a:off x="320724" y="344557"/>
            <a:ext cx="10356511" cy="496366"/>
          </a:xfrm>
        </p:spPr>
        <p:txBody>
          <a:bodyPr/>
          <a:lstStyle/>
          <a:p>
            <a:r>
              <a:rPr lang="fr-FR" dirty="0"/>
              <a:t>PKI – Public Key Infrastructure</a:t>
            </a:r>
          </a:p>
        </p:txBody>
      </p:sp>
      <p:sp>
        <p:nvSpPr>
          <p:cNvPr id="4" name="Sous-titre 3">
            <a:extLst>
              <a:ext uri="{FF2B5EF4-FFF2-40B4-BE49-F238E27FC236}">
                <a16:creationId xmlns:a16="http://schemas.microsoft.com/office/drawing/2014/main" id="{AB934F21-D7FF-9E2C-1608-54FDCEFC8F6A}"/>
              </a:ext>
            </a:extLst>
          </p:cNvPr>
          <p:cNvSpPr>
            <a:spLocks noGrp="1"/>
          </p:cNvSpPr>
          <p:nvPr>
            <p:ph type="subTitle" idx="1"/>
          </p:nvPr>
        </p:nvSpPr>
        <p:spPr>
          <a:xfrm>
            <a:off x="488515" y="861170"/>
            <a:ext cx="8464099" cy="365125"/>
          </a:xfrm>
        </p:spPr>
        <p:txBody>
          <a:bodyPr>
            <a:normAutofit/>
          </a:bodyPr>
          <a:lstStyle/>
          <a:p>
            <a:r>
              <a:rPr lang="fr-FR" dirty="0"/>
              <a:t>Généralités</a:t>
            </a:r>
            <a:endParaRPr lang="fr-FR" sz="2400" dirty="0"/>
          </a:p>
          <a:p>
            <a:endParaRPr lang="fr-FR" sz="2400" dirty="0"/>
          </a:p>
        </p:txBody>
      </p:sp>
      <p:sp>
        <p:nvSpPr>
          <p:cNvPr id="7" name="Espace réservé du texte 4">
            <a:extLst>
              <a:ext uri="{FF2B5EF4-FFF2-40B4-BE49-F238E27FC236}">
                <a16:creationId xmlns:a16="http://schemas.microsoft.com/office/drawing/2014/main" id="{68F600AB-E09E-4D75-5257-3B2F94B711CF}"/>
              </a:ext>
            </a:extLst>
          </p:cNvPr>
          <p:cNvSpPr>
            <a:spLocks noGrp="1"/>
          </p:cNvSpPr>
          <p:nvPr>
            <p:ph type="body" idx="13"/>
          </p:nvPr>
        </p:nvSpPr>
        <p:spPr>
          <a:xfrm>
            <a:off x="522605" y="1743393"/>
            <a:ext cx="6251575" cy="4924107"/>
          </a:xfrm>
        </p:spPr>
        <p:txBody>
          <a:bodyPr anchor="ctr">
            <a:normAutofit/>
          </a:bodyPr>
          <a:lstStyle/>
          <a:p>
            <a:r>
              <a:rPr lang="fr-FR" sz="3200" dirty="0">
                <a:solidFill>
                  <a:srgbClr val="09253D"/>
                </a:solidFill>
              </a:rPr>
              <a:t>Avantage d’une PKI ?</a:t>
            </a:r>
          </a:p>
          <a:p>
            <a:pPr marL="457200" indent="-457200">
              <a:buFont typeface="Arial" panose="020B0604020202020204" pitchFamily="34" charset="0"/>
              <a:buChar char="•"/>
            </a:pPr>
            <a:r>
              <a:rPr lang="fr-FR" sz="3200" dirty="0"/>
              <a:t>Pour vérifier la signature du certificat de Bob, Alice utilisera la clé publique de l’IGC</a:t>
            </a:r>
          </a:p>
          <a:p>
            <a:pPr marL="457200" indent="-457200">
              <a:buFont typeface="Arial" panose="020B0604020202020204" pitchFamily="34" charset="0"/>
              <a:buChar char="•"/>
            </a:pPr>
            <a:r>
              <a:rPr lang="fr-FR" sz="3200" dirty="0"/>
              <a:t>Un attaquant réalisant une attaque </a:t>
            </a:r>
            <a:r>
              <a:rPr lang="fr-FR" sz="3200" dirty="0" err="1"/>
              <a:t>MiTM</a:t>
            </a:r>
            <a:r>
              <a:rPr lang="fr-FR" sz="3200" dirty="0"/>
              <a:t> ne pourra pas faire passer sa clé pour celle de Bob </a:t>
            </a:r>
          </a:p>
          <a:p>
            <a:pPr marL="914400" lvl="1" indent="-457200">
              <a:buFont typeface="Arial" panose="020B0604020202020204" pitchFamily="34" charset="0"/>
              <a:buChar char="•"/>
            </a:pPr>
            <a:r>
              <a:rPr lang="fr-FR" sz="2800" dirty="0"/>
              <a:t>Il faudrait, pour signer le certificat, qu’il ait accès à la clé privée de l’IGC...</a:t>
            </a:r>
          </a:p>
        </p:txBody>
      </p:sp>
      <p:pic>
        <p:nvPicPr>
          <p:cNvPr id="5" name="Image 4">
            <a:extLst>
              <a:ext uri="{FF2B5EF4-FFF2-40B4-BE49-F238E27FC236}">
                <a16:creationId xmlns:a16="http://schemas.microsoft.com/office/drawing/2014/main" id="{1B22A7FF-5E25-DDED-72A3-802818A106E9}"/>
              </a:ext>
            </a:extLst>
          </p:cNvPr>
          <p:cNvPicPr>
            <a:picLocks noChangeAspect="1"/>
          </p:cNvPicPr>
          <p:nvPr/>
        </p:nvPicPr>
        <p:blipFill>
          <a:blip r:embed="rId3"/>
          <a:stretch>
            <a:fillRect/>
          </a:stretch>
        </p:blipFill>
        <p:spPr>
          <a:xfrm>
            <a:off x="7277100" y="1946116"/>
            <a:ext cx="4518660" cy="4518660"/>
          </a:xfrm>
          <a:prstGeom prst="rect">
            <a:avLst/>
          </a:prstGeom>
        </p:spPr>
      </p:pic>
    </p:spTree>
    <p:extLst>
      <p:ext uri="{BB962C8B-B14F-4D97-AF65-F5344CB8AC3E}">
        <p14:creationId xmlns:p14="http://schemas.microsoft.com/office/powerpoint/2010/main" val="2007732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5E9BB-C75E-C2B8-E8E3-443E023B42C8}"/>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3115D7BC-E0F2-76E3-FD58-6B1DBD8E7FD9}"/>
              </a:ext>
            </a:extLst>
          </p:cNvPr>
          <p:cNvSpPr>
            <a:spLocks noGrp="1"/>
          </p:cNvSpPr>
          <p:nvPr>
            <p:ph type="title"/>
          </p:nvPr>
        </p:nvSpPr>
        <p:spPr>
          <a:xfrm>
            <a:off x="320724" y="344557"/>
            <a:ext cx="10356511" cy="496366"/>
          </a:xfrm>
        </p:spPr>
        <p:txBody>
          <a:bodyPr/>
          <a:lstStyle/>
          <a:p>
            <a:r>
              <a:rPr lang="fr-FR" dirty="0"/>
              <a:t>PKI – Public Key Infrastructure</a:t>
            </a:r>
          </a:p>
        </p:txBody>
      </p:sp>
      <p:sp>
        <p:nvSpPr>
          <p:cNvPr id="4" name="Sous-titre 3">
            <a:extLst>
              <a:ext uri="{FF2B5EF4-FFF2-40B4-BE49-F238E27FC236}">
                <a16:creationId xmlns:a16="http://schemas.microsoft.com/office/drawing/2014/main" id="{521A8F89-49F8-AE98-348A-C6F6694C90CD}"/>
              </a:ext>
            </a:extLst>
          </p:cNvPr>
          <p:cNvSpPr>
            <a:spLocks noGrp="1"/>
          </p:cNvSpPr>
          <p:nvPr>
            <p:ph type="subTitle" idx="1"/>
          </p:nvPr>
        </p:nvSpPr>
        <p:spPr>
          <a:xfrm>
            <a:off x="488515" y="861170"/>
            <a:ext cx="8464099" cy="365125"/>
          </a:xfrm>
        </p:spPr>
        <p:txBody>
          <a:bodyPr>
            <a:normAutofit/>
          </a:bodyPr>
          <a:lstStyle/>
          <a:p>
            <a:r>
              <a:rPr lang="fr-FR" dirty="0"/>
              <a:t>Généralités</a:t>
            </a:r>
            <a:endParaRPr lang="fr-FR" sz="2400" dirty="0"/>
          </a:p>
          <a:p>
            <a:endParaRPr lang="fr-FR" sz="2400" dirty="0"/>
          </a:p>
        </p:txBody>
      </p:sp>
      <p:sp>
        <p:nvSpPr>
          <p:cNvPr id="7" name="Espace réservé du texte 4">
            <a:extLst>
              <a:ext uri="{FF2B5EF4-FFF2-40B4-BE49-F238E27FC236}">
                <a16:creationId xmlns:a16="http://schemas.microsoft.com/office/drawing/2014/main" id="{9B5C2D06-2A2D-55D6-8460-21A0E2451563}"/>
              </a:ext>
            </a:extLst>
          </p:cNvPr>
          <p:cNvSpPr>
            <a:spLocks noGrp="1"/>
          </p:cNvSpPr>
          <p:nvPr>
            <p:ph type="body" idx="13"/>
          </p:nvPr>
        </p:nvSpPr>
        <p:spPr>
          <a:xfrm>
            <a:off x="522605" y="1743393"/>
            <a:ext cx="6251575" cy="4924107"/>
          </a:xfrm>
        </p:spPr>
        <p:txBody>
          <a:bodyPr anchor="ctr">
            <a:normAutofit fontScale="92500" lnSpcReduction="20000"/>
          </a:bodyPr>
          <a:lstStyle/>
          <a:p>
            <a:r>
              <a:rPr lang="fr-FR" sz="3200" dirty="0">
                <a:solidFill>
                  <a:srgbClr val="09253D"/>
                </a:solidFill>
              </a:rPr>
              <a:t>Conséquence de l’usage d’une PKI ?</a:t>
            </a:r>
          </a:p>
          <a:p>
            <a:pPr marL="457200" indent="-457200">
              <a:buFont typeface="Arial" panose="020B0604020202020204" pitchFamily="34" charset="0"/>
              <a:buChar char="•"/>
            </a:pPr>
            <a:r>
              <a:rPr lang="fr-FR" sz="3200" dirty="0"/>
              <a:t>La PKI est en charge de la production et la gestion des certificats</a:t>
            </a:r>
          </a:p>
          <a:p>
            <a:pPr marL="914400" lvl="1" indent="-457200">
              <a:buFont typeface="Arial" panose="020B0604020202020204" pitchFamily="34" charset="0"/>
              <a:buChar char="•"/>
            </a:pPr>
            <a:r>
              <a:rPr lang="fr-FR" sz="2800" dirty="0"/>
              <a:t>Tout certificat est signé par une autorité de certification (CA) de cette IGC </a:t>
            </a:r>
          </a:p>
          <a:p>
            <a:pPr marL="914400" lvl="1" indent="-457200">
              <a:buFont typeface="Arial" panose="020B0604020202020204" pitchFamily="34" charset="0"/>
              <a:buChar char="•"/>
            </a:pPr>
            <a:r>
              <a:rPr lang="fr-FR" sz="2800" dirty="0"/>
              <a:t>Toute personne détenant la clé publique de l’AC peut vérifier l’authenticité du certificat signé</a:t>
            </a:r>
          </a:p>
          <a:p>
            <a:pPr marL="457200" indent="-457200">
              <a:buFont typeface="Arial" panose="020B0604020202020204" pitchFamily="34" charset="0"/>
              <a:buChar char="•"/>
            </a:pPr>
            <a:r>
              <a:rPr lang="fr-FR" sz="3200" dirty="0"/>
              <a:t>En faisant confiance à cette autorité, on peut faire confiance à tous les certificats qui sont signés par cette dernière !</a:t>
            </a:r>
            <a:endParaRPr lang="fr-FR" sz="2800" dirty="0"/>
          </a:p>
        </p:txBody>
      </p:sp>
      <p:pic>
        <p:nvPicPr>
          <p:cNvPr id="2" name="Image 1">
            <a:extLst>
              <a:ext uri="{FF2B5EF4-FFF2-40B4-BE49-F238E27FC236}">
                <a16:creationId xmlns:a16="http://schemas.microsoft.com/office/drawing/2014/main" id="{78E86E03-2248-C0E5-C763-2A1142497CDD}"/>
              </a:ext>
            </a:extLst>
          </p:cNvPr>
          <p:cNvPicPr>
            <a:picLocks noChangeAspect="1"/>
          </p:cNvPicPr>
          <p:nvPr/>
        </p:nvPicPr>
        <p:blipFill>
          <a:blip r:embed="rId3"/>
          <a:srcRect l="20930" t="23546" r="15116" b="14971"/>
          <a:stretch>
            <a:fillRect/>
          </a:stretch>
        </p:blipFill>
        <p:spPr>
          <a:xfrm>
            <a:off x="8397240" y="2593816"/>
            <a:ext cx="3352800" cy="3223260"/>
          </a:xfrm>
          <a:prstGeom prst="rect">
            <a:avLst/>
          </a:prstGeom>
        </p:spPr>
      </p:pic>
    </p:spTree>
    <p:extLst>
      <p:ext uri="{BB962C8B-B14F-4D97-AF65-F5344CB8AC3E}">
        <p14:creationId xmlns:p14="http://schemas.microsoft.com/office/powerpoint/2010/main" val="10021337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89571-E3F7-4DB3-F8D9-D5A038FAACD6}"/>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AB1B964D-CFE3-95E6-16C1-47940AC54109}"/>
              </a:ext>
            </a:extLst>
          </p:cNvPr>
          <p:cNvSpPr>
            <a:spLocks noGrp="1"/>
          </p:cNvSpPr>
          <p:nvPr>
            <p:ph type="title"/>
          </p:nvPr>
        </p:nvSpPr>
        <p:spPr>
          <a:xfrm>
            <a:off x="122881" y="559838"/>
            <a:ext cx="3814549" cy="594988"/>
          </a:xfrm>
        </p:spPr>
        <p:txBody>
          <a:bodyPr/>
          <a:lstStyle/>
          <a:p>
            <a:r>
              <a:rPr lang="fr-FR" sz="4800" dirty="0"/>
              <a:t>PKI</a:t>
            </a:r>
          </a:p>
        </p:txBody>
      </p:sp>
      <p:sp>
        <p:nvSpPr>
          <p:cNvPr id="4" name="Sous-titre 3">
            <a:extLst>
              <a:ext uri="{FF2B5EF4-FFF2-40B4-BE49-F238E27FC236}">
                <a16:creationId xmlns:a16="http://schemas.microsoft.com/office/drawing/2014/main" id="{B42DC666-6612-7AA1-F498-E533A89B67A1}"/>
              </a:ext>
            </a:extLst>
          </p:cNvPr>
          <p:cNvSpPr>
            <a:spLocks noGrp="1"/>
          </p:cNvSpPr>
          <p:nvPr>
            <p:ph type="subTitle" idx="1"/>
          </p:nvPr>
        </p:nvSpPr>
        <p:spPr/>
        <p:txBody>
          <a:bodyPr>
            <a:normAutofit/>
          </a:bodyPr>
          <a:lstStyle/>
          <a:p>
            <a:r>
              <a:rPr lang="fr-FR" sz="2400" dirty="0"/>
              <a:t>Rôles</a:t>
            </a:r>
          </a:p>
          <a:p>
            <a:endParaRPr lang="fr-FR" sz="2400" dirty="0"/>
          </a:p>
        </p:txBody>
      </p:sp>
      <p:sp>
        <p:nvSpPr>
          <p:cNvPr id="7" name="Espace réservé du texte 4">
            <a:extLst>
              <a:ext uri="{FF2B5EF4-FFF2-40B4-BE49-F238E27FC236}">
                <a16:creationId xmlns:a16="http://schemas.microsoft.com/office/drawing/2014/main" id="{6F170329-45D0-42DE-BF31-970D11EFE97E}"/>
              </a:ext>
            </a:extLst>
          </p:cNvPr>
          <p:cNvSpPr>
            <a:spLocks noGrp="1"/>
          </p:cNvSpPr>
          <p:nvPr>
            <p:ph type="body" idx="13"/>
          </p:nvPr>
        </p:nvSpPr>
        <p:spPr/>
        <p:txBody>
          <a:bodyPr anchor="ctr">
            <a:normAutofit/>
          </a:bodyPr>
          <a:lstStyle/>
          <a:p>
            <a:pPr algn="r"/>
            <a:r>
              <a:rPr lang="fr-FR" sz="2000" dirty="0">
                <a:solidFill>
                  <a:srgbClr val="09253D"/>
                </a:solidFill>
              </a:rPr>
              <a:t>A</a:t>
            </a:r>
          </a:p>
          <a:p>
            <a:pPr algn="r"/>
            <a:r>
              <a:rPr lang="fr-FR" sz="2000" dirty="0"/>
              <a:t>Dans une PKI, plusieurs entités coopèrent pour garantir la fiabilité des certificats</a:t>
            </a:r>
          </a:p>
        </p:txBody>
      </p:sp>
      <p:sp>
        <p:nvSpPr>
          <p:cNvPr id="2" name="Espace réservé du texte 1">
            <a:extLst>
              <a:ext uri="{FF2B5EF4-FFF2-40B4-BE49-F238E27FC236}">
                <a16:creationId xmlns:a16="http://schemas.microsoft.com/office/drawing/2014/main" id="{B387301B-2C9B-6E59-D4E1-6A4A6FF9B8B6}"/>
              </a:ext>
            </a:extLst>
          </p:cNvPr>
          <p:cNvSpPr>
            <a:spLocks noGrp="1"/>
          </p:cNvSpPr>
          <p:nvPr>
            <p:ph type="body" idx="14"/>
          </p:nvPr>
        </p:nvSpPr>
        <p:spPr>
          <a:xfrm>
            <a:off x="4485111" y="3980688"/>
            <a:ext cx="2202201" cy="2176018"/>
          </a:xfrm>
        </p:spPr>
        <p:txBody>
          <a:bodyPr>
            <a:normAutofit fontScale="92500" lnSpcReduction="20000"/>
          </a:bodyPr>
          <a:lstStyle/>
          <a:p>
            <a:pPr algn="ctr"/>
            <a:r>
              <a:rPr lang="fr-FR" sz="1800" dirty="0">
                <a:solidFill>
                  <a:srgbClr val="09253D"/>
                </a:solidFill>
              </a:rPr>
              <a:t>CA – Certification </a:t>
            </a:r>
            <a:r>
              <a:rPr lang="fr-FR" sz="1800" dirty="0" err="1">
                <a:solidFill>
                  <a:srgbClr val="09253D"/>
                </a:solidFill>
              </a:rPr>
              <a:t>Authority</a:t>
            </a:r>
            <a:endParaRPr lang="fr-FR" sz="1800" dirty="0">
              <a:solidFill>
                <a:srgbClr val="09253D"/>
              </a:solidFill>
            </a:endParaRPr>
          </a:p>
          <a:p>
            <a:pPr algn="ctr"/>
            <a:r>
              <a:rPr lang="fr-FR" sz="1700" dirty="0">
                <a:solidFill>
                  <a:srgbClr val="42C5A5"/>
                </a:solidFill>
              </a:rPr>
              <a:t> Autorité de Certification</a:t>
            </a:r>
          </a:p>
          <a:p>
            <a:pPr algn="ctr"/>
            <a:r>
              <a:rPr lang="fr-FR" sz="1600" dirty="0"/>
              <a:t>Signe les certificats numériques et garantit l’identité de leur détenteur</a:t>
            </a:r>
          </a:p>
          <a:p>
            <a:pPr algn="ctr"/>
            <a:r>
              <a:rPr lang="fr-FR" sz="1600" dirty="0"/>
              <a:t>Acteur central de confiance</a:t>
            </a:r>
          </a:p>
          <a:p>
            <a:pPr algn="ctr"/>
            <a:endParaRPr lang="fr-FR" sz="1800" dirty="0"/>
          </a:p>
        </p:txBody>
      </p:sp>
      <p:sp>
        <p:nvSpPr>
          <p:cNvPr id="9" name="Espace réservé du texte 1">
            <a:extLst>
              <a:ext uri="{FF2B5EF4-FFF2-40B4-BE49-F238E27FC236}">
                <a16:creationId xmlns:a16="http://schemas.microsoft.com/office/drawing/2014/main" id="{7C5BD36B-DE3E-5E9E-9916-983ECC4EB77C}"/>
              </a:ext>
            </a:extLst>
          </p:cNvPr>
          <p:cNvSpPr txBox="1">
            <a:spLocks/>
          </p:cNvSpPr>
          <p:nvPr/>
        </p:nvSpPr>
        <p:spPr>
          <a:xfrm>
            <a:off x="7034604" y="3980687"/>
            <a:ext cx="2202201" cy="2176018"/>
          </a:xfrm>
          <a:prstGeom prst="rect">
            <a:avLst/>
          </a:prstGeom>
        </p:spPr>
        <p:txBody>
          <a:bodyPr vert="horz" lIns="91440" tIns="45720" rIns="91440" bIns="45720" rtlCol="0">
            <a:normAutofit fontScale="92500" lnSpcReduction="20000"/>
          </a:bodyPr>
          <a:lstStyle>
            <a:lvl1pPr marL="0" indent="0" algn="just"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ctr"/>
            <a:r>
              <a:rPr lang="fr-FR" sz="1800" dirty="0">
                <a:solidFill>
                  <a:srgbClr val="09253D"/>
                </a:solidFill>
              </a:rPr>
              <a:t>RA – Registration </a:t>
            </a:r>
            <a:r>
              <a:rPr lang="fr-FR" sz="1800" dirty="0" err="1">
                <a:solidFill>
                  <a:srgbClr val="09253D"/>
                </a:solidFill>
              </a:rPr>
              <a:t>Authority</a:t>
            </a:r>
            <a:endParaRPr lang="fr-FR" sz="1800" dirty="0">
              <a:solidFill>
                <a:srgbClr val="09253D"/>
              </a:solidFill>
            </a:endParaRPr>
          </a:p>
          <a:p>
            <a:pPr algn="ctr"/>
            <a:r>
              <a:rPr lang="fr-FR" sz="1700" dirty="0">
                <a:solidFill>
                  <a:srgbClr val="42C5A5"/>
                </a:solidFill>
              </a:rPr>
              <a:t>Autorité d’Enregistrement</a:t>
            </a:r>
          </a:p>
          <a:p>
            <a:pPr algn="ctr"/>
            <a:r>
              <a:rPr lang="fr-FR" sz="1600" dirty="0"/>
              <a:t>Vérifie l’identité des demandeurs avant que la CA ne délivre un certificat</a:t>
            </a:r>
          </a:p>
          <a:p>
            <a:pPr algn="ctr"/>
            <a:r>
              <a:rPr lang="fr-FR" sz="1600" dirty="0"/>
              <a:t>Agit comme un filtre ou un guichet</a:t>
            </a:r>
          </a:p>
        </p:txBody>
      </p:sp>
      <p:sp>
        <p:nvSpPr>
          <p:cNvPr id="12" name="Espace réservé du texte 1">
            <a:extLst>
              <a:ext uri="{FF2B5EF4-FFF2-40B4-BE49-F238E27FC236}">
                <a16:creationId xmlns:a16="http://schemas.microsoft.com/office/drawing/2014/main" id="{5BEBF498-C4A1-CBC9-EE69-05637A68DAC2}"/>
              </a:ext>
            </a:extLst>
          </p:cNvPr>
          <p:cNvSpPr txBox="1">
            <a:spLocks/>
          </p:cNvSpPr>
          <p:nvPr/>
        </p:nvSpPr>
        <p:spPr>
          <a:xfrm>
            <a:off x="9584097" y="3980687"/>
            <a:ext cx="2202201" cy="2176018"/>
          </a:xfrm>
          <a:prstGeom prst="rect">
            <a:avLst/>
          </a:prstGeom>
        </p:spPr>
        <p:txBody>
          <a:bodyPr vert="horz" lIns="91440" tIns="45720" rIns="91440" bIns="45720" rtlCol="0">
            <a:normAutofit/>
          </a:bodyPr>
          <a:lstStyle>
            <a:lvl1pPr marL="0" indent="0" algn="just"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ctr"/>
            <a:r>
              <a:rPr lang="fr-FR" sz="1800" dirty="0">
                <a:solidFill>
                  <a:srgbClr val="09253D"/>
                </a:solidFill>
              </a:rPr>
              <a:t>VA – Validation </a:t>
            </a:r>
            <a:r>
              <a:rPr lang="fr-FR" sz="1800" dirty="0" err="1">
                <a:solidFill>
                  <a:srgbClr val="09253D"/>
                </a:solidFill>
              </a:rPr>
              <a:t>Authority</a:t>
            </a:r>
            <a:endParaRPr lang="fr-FR" sz="1800" dirty="0">
              <a:solidFill>
                <a:srgbClr val="09253D"/>
              </a:solidFill>
            </a:endParaRPr>
          </a:p>
          <a:p>
            <a:pPr algn="ctr"/>
            <a:r>
              <a:rPr lang="fr-FR" sz="1600" dirty="0">
                <a:solidFill>
                  <a:srgbClr val="42C5A5"/>
                </a:solidFill>
              </a:rPr>
              <a:t>Autorité de Validation</a:t>
            </a:r>
          </a:p>
          <a:p>
            <a:pPr algn="ctr"/>
            <a:r>
              <a:rPr lang="fr-FR" sz="1600" dirty="0"/>
              <a:t>Responsable de répondre aux demandes de vérification du statut d’un certificat (valide, expiré, révoqué)</a:t>
            </a:r>
          </a:p>
        </p:txBody>
      </p:sp>
      <p:pic>
        <p:nvPicPr>
          <p:cNvPr id="14" name="Image 13">
            <a:extLst>
              <a:ext uri="{FF2B5EF4-FFF2-40B4-BE49-F238E27FC236}">
                <a16:creationId xmlns:a16="http://schemas.microsoft.com/office/drawing/2014/main" id="{C3E4B81D-8D12-4FB8-A120-4267492371BC}"/>
              </a:ext>
            </a:extLst>
          </p:cNvPr>
          <p:cNvPicPr>
            <a:picLocks noChangeAspect="1"/>
          </p:cNvPicPr>
          <p:nvPr/>
        </p:nvPicPr>
        <p:blipFill>
          <a:blip r:embed="rId3"/>
          <a:stretch>
            <a:fillRect/>
          </a:stretch>
        </p:blipFill>
        <p:spPr>
          <a:xfrm>
            <a:off x="4593681" y="2130895"/>
            <a:ext cx="2093631" cy="1789183"/>
          </a:xfrm>
          <a:prstGeom prst="rect">
            <a:avLst/>
          </a:prstGeom>
        </p:spPr>
      </p:pic>
      <p:pic>
        <p:nvPicPr>
          <p:cNvPr id="15" name="Image 14">
            <a:extLst>
              <a:ext uri="{FF2B5EF4-FFF2-40B4-BE49-F238E27FC236}">
                <a16:creationId xmlns:a16="http://schemas.microsoft.com/office/drawing/2014/main" id="{66F55A33-EEA3-DFC8-650E-50BEA26C9FEA}"/>
              </a:ext>
            </a:extLst>
          </p:cNvPr>
          <p:cNvPicPr>
            <a:picLocks noChangeAspect="1"/>
          </p:cNvPicPr>
          <p:nvPr/>
        </p:nvPicPr>
        <p:blipFill>
          <a:blip r:embed="rId3"/>
          <a:stretch>
            <a:fillRect/>
          </a:stretch>
        </p:blipFill>
        <p:spPr>
          <a:xfrm>
            <a:off x="7088888" y="2130894"/>
            <a:ext cx="2093631" cy="1789183"/>
          </a:xfrm>
          <a:prstGeom prst="rect">
            <a:avLst/>
          </a:prstGeom>
        </p:spPr>
      </p:pic>
      <p:pic>
        <p:nvPicPr>
          <p:cNvPr id="16" name="Image 15">
            <a:extLst>
              <a:ext uri="{FF2B5EF4-FFF2-40B4-BE49-F238E27FC236}">
                <a16:creationId xmlns:a16="http://schemas.microsoft.com/office/drawing/2014/main" id="{5F9353ED-B370-475C-F10A-6E0279A0C8C5}"/>
              </a:ext>
            </a:extLst>
          </p:cNvPr>
          <p:cNvPicPr>
            <a:picLocks noChangeAspect="1"/>
          </p:cNvPicPr>
          <p:nvPr/>
        </p:nvPicPr>
        <p:blipFill>
          <a:blip r:embed="rId3"/>
          <a:stretch>
            <a:fillRect/>
          </a:stretch>
        </p:blipFill>
        <p:spPr>
          <a:xfrm>
            <a:off x="9529811" y="2191504"/>
            <a:ext cx="2093631" cy="1789183"/>
          </a:xfrm>
          <a:prstGeom prst="rect">
            <a:avLst/>
          </a:prstGeom>
        </p:spPr>
      </p:pic>
    </p:spTree>
    <p:extLst>
      <p:ext uri="{BB962C8B-B14F-4D97-AF65-F5344CB8AC3E}">
        <p14:creationId xmlns:p14="http://schemas.microsoft.com/office/powerpoint/2010/main" val="15368446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064B3-5716-119A-4D35-97CC856253FD}"/>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66F45879-B1AD-3C17-59A4-BCB6C392C1FC}"/>
              </a:ext>
            </a:extLst>
          </p:cNvPr>
          <p:cNvSpPr>
            <a:spLocks noGrp="1"/>
          </p:cNvSpPr>
          <p:nvPr>
            <p:ph type="title"/>
          </p:nvPr>
        </p:nvSpPr>
        <p:spPr>
          <a:xfrm>
            <a:off x="320724" y="344557"/>
            <a:ext cx="10356511" cy="496366"/>
          </a:xfrm>
        </p:spPr>
        <p:txBody>
          <a:bodyPr/>
          <a:lstStyle/>
          <a:p>
            <a:r>
              <a:rPr lang="fr-FR" dirty="0"/>
              <a:t>PKI – Public Key Infrastructure</a:t>
            </a:r>
          </a:p>
        </p:txBody>
      </p:sp>
      <p:sp>
        <p:nvSpPr>
          <p:cNvPr id="4" name="Sous-titre 3">
            <a:extLst>
              <a:ext uri="{FF2B5EF4-FFF2-40B4-BE49-F238E27FC236}">
                <a16:creationId xmlns:a16="http://schemas.microsoft.com/office/drawing/2014/main" id="{F898E7BF-EE8F-0CB1-A96C-1099CAF99D7F}"/>
              </a:ext>
            </a:extLst>
          </p:cNvPr>
          <p:cNvSpPr>
            <a:spLocks noGrp="1"/>
          </p:cNvSpPr>
          <p:nvPr>
            <p:ph type="subTitle" idx="1"/>
          </p:nvPr>
        </p:nvSpPr>
        <p:spPr>
          <a:xfrm>
            <a:off x="488515" y="861170"/>
            <a:ext cx="8464099" cy="365125"/>
          </a:xfrm>
        </p:spPr>
        <p:txBody>
          <a:bodyPr>
            <a:normAutofit/>
          </a:bodyPr>
          <a:lstStyle/>
          <a:p>
            <a:r>
              <a:rPr lang="fr-FR" sz="2400" dirty="0"/>
              <a:t>Rôles</a:t>
            </a:r>
          </a:p>
          <a:p>
            <a:endParaRPr lang="fr-FR" sz="2400" dirty="0"/>
          </a:p>
        </p:txBody>
      </p:sp>
      <p:sp>
        <p:nvSpPr>
          <p:cNvPr id="7" name="Espace réservé du texte 4">
            <a:extLst>
              <a:ext uri="{FF2B5EF4-FFF2-40B4-BE49-F238E27FC236}">
                <a16:creationId xmlns:a16="http://schemas.microsoft.com/office/drawing/2014/main" id="{7FEAAD4A-E8FC-6D33-C429-4C3B35BDF83F}"/>
              </a:ext>
            </a:extLst>
          </p:cNvPr>
          <p:cNvSpPr>
            <a:spLocks noGrp="1"/>
          </p:cNvSpPr>
          <p:nvPr>
            <p:ph type="body" idx="13"/>
          </p:nvPr>
        </p:nvSpPr>
        <p:spPr>
          <a:xfrm>
            <a:off x="522605" y="1743393"/>
            <a:ext cx="7676515" cy="4924107"/>
          </a:xfrm>
        </p:spPr>
        <p:txBody>
          <a:bodyPr anchor="ctr">
            <a:normAutofit fontScale="92500" lnSpcReduction="10000"/>
          </a:bodyPr>
          <a:lstStyle/>
          <a:p>
            <a:r>
              <a:rPr lang="fr-FR" sz="3200" dirty="0">
                <a:solidFill>
                  <a:srgbClr val="09253D"/>
                </a:solidFill>
              </a:rPr>
              <a:t>CA (Certification </a:t>
            </a:r>
            <a:r>
              <a:rPr lang="fr-FR" sz="3200" dirty="0" err="1">
                <a:solidFill>
                  <a:srgbClr val="09253D"/>
                </a:solidFill>
              </a:rPr>
              <a:t>Authority</a:t>
            </a:r>
            <a:r>
              <a:rPr lang="fr-FR" sz="3200" dirty="0">
                <a:solidFill>
                  <a:srgbClr val="09253D"/>
                </a:solidFill>
              </a:rPr>
              <a:t>)</a:t>
            </a:r>
          </a:p>
          <a:p>
            <a:pPr marL="457200" indent="-457200">
              <a:buFont typeface="Arial" panose="020B0604020202020204" pitchFamily="34" charset="0"/>
              <a:buChar char="•"/>
            </a:pPr>
            <a:r>
              <a:rPr lang="fr-FR" sz="3200" dirty="0"/>
              <a:t>La Certification </a:t>
            </a:r>
            <a:r>
              <a:rPr lang="fr-FR" sz="3200" dirty="0" err="1"/>
              <a:t>Authority</a:t>
            </a:r>
            <a:r>
              <a:rPr lang="fr-FR" sz="3200" dirty="0"/>
              <a:t> (CA) est le cœur de la PKI</a:t>
            </a:r>
          </a:p>
          <a:p>
            <a:pPr marL="457200" indent="-457200">
              <a:buFont typeface="Arial" panose="020B0604020202020204" pitchFamily="34" charset="0"/>
              <a:buChar char="•"/>
            </a:pPr>
            <a:r>
              <a:rPr lang="fr-FR" sz="3200" dirty="0"/>
              <a:t>Son rôle est de</a:t>
            </a:r>
          </a:p>
          <a:p>
            <a:pPr marL="914400" lvl="1" indent="-457200">
              <a:buFont typeface="Arial" panose="020B0604020202020204" pitchFamily="34" charset="0"/>
              <a:buChar char="•"/>
            </a:pPr>
            <a:r>
              <a:rPr lang="fr-FR" sz="2800" dirty="0"/>
              <a:t>Signer les certificats numériques</a:t>
            </a:r>
          </a:p>
          <a:p>
            <a:pPr marL="914400" lvl="1" indent="-457200">
              <a:buFont typeface="Arial" panose="020B0604020202020204" pitchFamily="34" charset="0"/>
              <a:buChar char="•"/>
            </a:pPr>
            <a:r>
              <a:rPr lang="fr-FR" sz="2800" dirty="0"/>
              <a:t>Garantir l’association entre une identité et une clé publique</a:t>
            </a:r>
          </a:p>
          <a:p>
            <a:pPr marL="914400" lvl="1" indent="-457200">
              <a:buFont typeface="Arial" panose="020B0604020202020204" pitchFamily="34" charset="0"/>
              <a:buChar char="•"/>
            </a:pPr>
            <a:r>
              <a:rPr lang="fr-FR" sz="2800" dirty="0"/>
              <a:t>Publier les certificats et les listes de révocation</a:t>
            </a:r>
          </a:p>
          <a:p>
            <a:pPr marL="457200" indent="-457200">
              <a:buFont typeface="Arial" panose="020B0604020202020204" pitchFamily="34" charset="0"/>
              <a:buChar char="•"/>
            </a:pPr>
            <a:r>
              <a:rPr lang="fr-FR" sz="3200" dirty="0"/>
              <a:t>Elle utilise sa clé privée pour signer les certificats, assurant leur authenticité et leur intégrité.</a:t>
            </a:r>
            <a:endParaRPr lang="fr-FR" sz="2800" dirty="0"/>
          </a:p>
          <a:p>
            <a:endParaRPr lang="fr-FR" sz="2800" dirty="0"/>
          </a:p>
        </p:txBody>
      </p:sp>
      <p:pic>
        <p:nvPicPr>
          <p:cNvPr id="2" name="Image 1">
            <a:extLst>
              <a:ext uri="{FF2B5EF4-FFF2-40B4-BE49-F238E27FC236}">
                <a16:creationId xmlns:a16="http://schemas.microsoft.com/office/drawing/2014/main" id="{DF4EDE1D-5AD3-8E06-FB8B-59CA4A6F9C78}"/>
              </a:ext>
            </a:extLst>
          </p:cNvPr>
          <p:cNvPicPr>
            <a:picLocks noChangeAspect="1"/>
          </p:cNvPicPr>
          <p:nvPr/>
        </p:nvPicPr>
        <p:blipFill>
          <a:blip r:embed="rId3"/>
          <a:srcRect r="41889"/>
          <a:stretch>
            <a:fillRect/>
          </a:stretch>
        </p:blipFill>
        <p:spPr>
          <a:xfrm>
            <a:off x="8952615" y="1743393"/>
            <a:ext cx="3239386" cy="4763832"/>
          </a:xfrm>
          <a:prstGeom prst="rect">
            <a:avLst/>
          </a:prstGeom>
        </p:spPr>
      </p:pic>
    </p:spTree>
    <p:extLst>
      <p:ext uri="{BB962C8B-B14F-4D97-AF65-F5344CB8AC3E}">
        <p14:creationId xmlns:p14="http://schemas.microsoft.com/office/powerpoint/2010/main" val="13158522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497C8-FE22-FE80-953D-00C5250B7F16}"/>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BB030E21-8D8C-D2EE-934B-87F79E287594}"/>
              </a:ext>
            </a:extLst>
          </p:cNvPr>
          <p:cNvSpPr>
            <a:spLocks noGrp="1"/>
          </p:cNvSpPr>
          <p:nvPr>
            <p:ph type="title"/>
          </p:nvPr>
        </p:nvSpPr>
        <p:spPr>
          <a:xfrm>
            <a:off x="320724" y="344557"/>
            <a:ext cx="10356511" cy="496366"/>
          </a:xfrm>
        </p:spPr>
        <p:txBody>
          <a:bodyPr/>
          <a:lstStyle/>
          <a:p>
            <a:r>
              <a:rPr lang="fr-FR" dirty="0"/>
              <a:t>PKI – Public Key Infrastructure</a:t>
            </a:r>
          </a:p>
        </p:txBody>
      </p:sp>
      <p:sp>
        <p:nvSpPr>
          <p:cNvPr id="4" name="Sous-titre 3">
            <a:extLst>
              <a:ext uri="{FF2B5EF4-FFF2-40B4-BE49-F238E27FC236}">
                <a16:creationId xmlns:a16="http://schemas.microsoft.com/office/drawing/2014/main" id="{FA1ED9D7-3E3D-0194-8AE7-ADEE8DBEDE20}"/>
              </a:ext>
            </a:extLst>
          </p:cNvPr>
          <p:cNvSpPr>
            <a:spLocks noGrp="1"/>
          </p:cNvSpPr>
          <p:nvPr>
            <p:ph type="subTitle" idx="1"/>
          </p:nvPr>
        </p:nvSpPr>
        <p:spPr>
          <a:xfrm>
            <a:off x="488515" y="861170"/>
            <a:ext cx="8464099" cy="365125"/>
          </a:xfrm>
        </p:spPr>
        <p:txBody>
          <a:bodyPr>
            <a:normAutofit/>
          </a:bodyPr>
          <a:lstStyle/>
          <a:p>
            <a:r>
              <a:rPr lang="fr-FR" sz="2400" dirty="0"/>
              <a:t>Rôles</a:t>
            </a:r>
          </a:p>
          <a:p>
            <a:endParaRPr lang="fr-FR" sz="2400" dirty="0"/>
          </a:p>
        </p:txBody>
      </p:sp>
      <p:sp>
        <p:nvSpPr>
          <p:cNvPr id="7" name="Espace réservé du texte 4">
            <a:extLst>
              <a:ext uri="{FF2B5EF4-FFF2-40B4-BE49-F238E27FC236}">
                <a16:creationId xmlns:a16="http://schemas.microsoft.com/office/drawing/2014/main" id="{7432F856-DC3E-DB0F-BB21-A6B7CCB9246C}"/>
              </a:ext>
            </a:extLst>
          </p:cNvPr>
          <p:cNvSpPr>
            <a:spLocks noGrp="1"/>
          </p:cNvSpPr>
          <p:nvPr>
            <p:ph type="body" idx="13"/>
          </p:nvPr>
        </p:nvSpPr>
        <p:spPr>
          <a:xfrm>
            <a:off x="3825240" y="1743392"/>
            <a:ext cx="8145780" cy="4924107"/>
          </a:xfrm>
        </p:spPr>
        <p:txBody>
          <a:bodyPr anchor="ctr">
            <a:normAutofit/>
          </a:bodyPr>
          <a:lstStyle/>
          <a:p>
            <a:r>
              <a:rPr lang="fr-FR" sz="3200" dirty="0">
                <a:solidFill>
                  <a:srgbClr val="09253D"/>
                </a:solidFill>
              </a:rPr>
              <a:t>RA (Registration </a:t>
            </a:r>
            <a:r>
              <a:rPr lang="fr-FR" sz="3200" dirty="0" err="1">
                <a:solidFill>
                  <a:srgbClr val="09253D"/>
                </a:solidFill>
              </a:rPr>
              <a:t>Authority</a:t>
            </a:r>
            <a:r>
              <a:rPr lang="fr-FR" sz="3200" dirty="0">
                <a:solidFill>
                  <a:srgbClr val="09253D"/>
                </a:solidFill>
              </a:rPr>
              <a:t>)</a:t>
            </a:r>
          </a:p>
          <a:p>
            <a:pPr marL="457200" indent="-457200">
              <a:buFont typeface="Arial" panose="020B0604020202020204" pitchFamily="34" charset="0"/>
              <a:buChar char="•"/>
            </a:pPr>
            <a:r>
              <a:rPr lang="fr-FR" sz="3200" dirty="0"/>
              <a:t>La Registration </a:t>
            </a:r>
            <a:r>
              <a:rPr lang="fr-FR" sz="3200" dirty="0" err="1"/>
              <a:t>Authority</a:t>
            </a:r>
            <a:r>
              <a:rPr lang="fr-FR" sz="3200" dirty="0"/>
              <a:t> (RA) agit comme intermédiaire entre l’utilisateur et la CA</a:t>
            </a:r>
          </a:p>
          <a:p>
            <a:pPr marL="457200" indent="-457200">
              <a:buFont typeface="Arial" panose="020B0604020202020204" pitchFamily="34" charset="0"/>
              <a:buChar char="•"/>
            </a:pPr>
            <a:r>
              <a:rPr lang="fr-FR" sz="3200" dirty="0"/>
              <a:t>Son rôle est de</a:t>
            </a:r>
          </a:p>
          <a:p>
            <a:pPr marL="914400" lvl="1" indent="-457200">
              <a:buFont typeface="Arial" panose="020B0604020202020204" pitchFamily="34" charset="0"/>
              <a:buChar char="•"/>
            </a:pPr>
            <a:r>
              <a:rPr lang="fr-FR" sz="2800" dirty="0"/>
              <a:t>Vérifier l’identité du demandeur d’un certificat</a:t>
            </a:r>
          </a:p>
          <a:p>
            <a:pPr marL="914400" lvl="1" indent="-457200">
              <a:buFont typeface="Arial" panose="020B0604020202020204" pitchFamily="34" charset="0"/>
              <a:buChar char="•"/>
            </a:pPr>
            <a:r>
              <a:rPr lang="fr-FR" sz="2800" dirty="0"/>
              <a:t>Valider les informations avant envoi à la CA</a:t>
            </a:r>
          </a:p>
          <a:p>
            <a:pPr marL="457200" indent="-457200">
              <a:buFont typeface="Arial" panose="020B0604020202020204" pitchFamily="34" charset="0"/>
              <a:buChar char="•"/>
            </a:pPr>
            <a:r>
              <a:rPr lang="fr-FR" sz="3200" dirty="0"/>
              <a:t>La RA ne signe pas les certificats : elle autorise ou refuse leur émission après contrôle</a:t>
            </a:r>
            <a:endParaRPr lang="fr-FR" sz="2800" dirty="0"/>
          </a:p>
        </p:txBody>
      </p:sp>
      <p:pic>
        <p:nvPicPr>
          <p:cNvPr id="2" name="Image 1">
            <a:extLst>
              <a:ext uri="{FF2B5EF4-FFF2-40B4-BE49-F238E27FC236}">
                <a16:creationId xmlns:a16="http://schemas.microsoft.com/office/drawing/2014/main" id="{E6E1B835-1F29-3376-C51C-D0B2EDB4EB3A}"/>
              </a:ext>
            </a:extLst>
          </p:cNvPr>
          <p:cNvPicPr>
            <a:picLocks noChangeAspect="1"/>
          </p:cNvPicPr>
          <p:nvPr/>
        </p:nvPicPr>
        <p:blipFill>
          <a:blip r:embed="rId3"/>
          <a:srcRect l="31615"/>
          <a:stretch>
            <a:fillRect/>
          </a:stretch>
        </p:blipFill>
        <p:spPr>
          <a:xfrm>
            <a:off x="-1" y="2083859"/>
            <a:ext cx="3395473" cy="4243172"/>
          </a:xfrm>
          <a:prstGeom prst="rect">
            <a:avLst/>
          </a:prstGeom>
        </p:spPr>
      </p:pic>
    </p:spTree>
    <p:extLst>
      <p:ext uri="{BB962C8B-B14F-4D97-AF65-F5344CB8AC3E}">
        <p14:creationId xmlns:p14="http://schemas.microsoft.com/office/powerpoint/2010/main" val="29233875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39A86-D968-7B1D-1F30-262DD0968853}"/>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8243FF1A-7A35-71BA-A307-0CD9D7433574}"/>
              </a:ext>
            </a:extLst>
          </p:cNvPr>
          <p:cNvSpPr>
            <a:spLocks noGrp="1"/>
          </p:cNvSpPr>
          <p:nvPr>
            <p:ph type="title"/>
          </p:nvPr>
        </p:nvSpPr>
        <p:spPr>
          <a:xfrm>
            <a:off x="320724" y="344557"/>
            <a:ext cx="10356511" cy="496366"/>
          </a:xfrm>
        </p:spPr>
        <p:txBody>
          <a:bodyPr/>
          <a:lstStyle/>
          <a:p>
            <a:r>
              <a:rPr lang="fr-FR" dirty="0"/>
              <a:t>PKI – Public Key Infrastructure</a:t>
            </a:r>
          </a:p>
        </p:txBody>
      </p:sp>
      <p:sp>
        <p:nvSpPr>
          <p:cNvPr id="4" name="Sous-titre 3">
            <a:extLst>
              <a:ext uri="{FF2B5EF4-FFF2-40B4-BE49-F238E27FC236}">
                <a16:creationId xmlns:a16="http://schemas.microsoft.com/office/drawing/2014/main" id="{58C0AD90-2D84-0508-68E0-0DDC6127987F}"/>
              </a:ext>
            </a:extLst>
          </p:cNvPr>
          <p:cNvSpPr>
            <a:spLocks noGrp="1"/>
          </p:cNvSpPr>
          <p:nvPr>
            <p:ph type="subTitle" idx="1"/>
          </p:nvPr>
        </p:nvSpPr>
        <p:spPr>
          <a:xfrm>
            <a:off x="488515" y="861170"/>
            <a:ext cx="8464099" cy="365125"/>
          </a:xfrm>
        </p:spPr>
        <p:txBody>
          <a:bodyPr>
            <a:normAutofit/>
          </a:bodyPr>
          <a:lstStyle/>
          <a:p>
            <a:r>
              <a:rPr lang="fr-FR" sz="2400" dirty="0"/>
              <a:t>Rôles</a:t>
            </a:r>
          </a:p>
          <a:p>
            <a:endParaRPr lang="fr-FR" sz="2400" dirty="0"/>
          </a:p>
        </p:txBody>
      </p:sp>
      <p:sp>
        <p:nvSpPr>
          <p:cNvPr id="7" name="Espace réservé du texte 4">
            <a:extLst>
              <a:ext uri="{FF2B5EF4-FFF2-40B4-BE49-F238E27FC236}">
                <a16:creationId xmlns:a16="http://schemas.microsoft.com/office/drawing/2014/main" id="{1E1647EA-2475-A956-6021-C232AFC1B34A}"/>
              </a:ext>
            </a:extLst>
          </p:cNvPr>
          <p:cNvSpPr>
            <a:spLocks noGrp="1"/>
          </p:cNvSpPr>
          <p:nvPr>
            <p:ph type="body" idx="13"/>
          </p:nvPr>
        </p:nvSpPr>
        <p:spPr>
          <a:xfrm>
            <a:off x="173646" y="1460500"/>
            <a:ext cx="11535754" cy="5206999"/>
          </a:xfrm>
        </p:spPr>
        <p:txBody>
          <a:bodyPr anchor="ctr">
            <a:normAutofit fontScale="77500" lnSpcReduction="20000"/>
          </a:bodyPr>
          <a:lstStyle/>
          <a:p>
            <a:r>
              <a:rPr lang="fr-FR" sz="4100" dirty="0">
                <a:solidFill>
                  <a:srgbClr val="09253D"/>
                </a:solidFill>
              </a:rPr>
              <a:t>Comment la RA valide les données d’un certificat ?</a:t>
            </a:r>
          </a:p>
          <a:p>
            <a:pPr marL="457200" indent="-457200">
              <a:buFont typeface="Arial" panose="020B0604020202020204" pitchFamily="34" charset="0"/>
              <a:buChar char="•"/>
            </a:pPr>
            <a:r>
              <a:rPr lang="fr-FR" sz="2900" dirty="0"/>
              <a:t>Avant que la Certification </a:t>
            </a:r>
            <a:r>
              <a:rPr lang="fr-FR" sz="2900" dirty="0" err="1"/>
              <a:t>Authority</a:t>
            </a:r>
            <a:r>
              <a:rPr lang="fr-FR" sz="2900" dirty="0"/>
              <a:t> ne signe un certificat, les informations qu’il contient doivent être rigoureusement vérifiées par la Registration </a:t>
            </a:r>
            <a:r>
              <a:rPr lang="fr-FR" sz="2900" dirty="0" err="1"/>
              <a:t>Authority</a:t>
            </a:r>
            <a:r>
              <a:rPr lang="fr-FR" sz="2900" dirty="0"/>
              <a:t> selon les étapes suivantes</a:t>
            </a:r>
          </a:p>
          <a:p>
            <a:pPr marL="971550" lvl="1" indent="-514350">
              <a:buFont typeface="+mj-lt"/>
              <a:buAutoNum type="arabicPeriod"/>
            </a:pPr>
            <a:r>
              <a:rPr lang="fr-FR" sz="2300" dirty="0">
                <a:solidFill>
                  <a:srgbClr val="42C5A5"/>
                </a:solidFill>
              </a:rPr>
              <a:t>Vérification de l'identité</a:t>
            </a:r>
          </a:p>
          <a:p>
            <a:pPr marL="1371600" lvl="2" indent="-457200">
              <a:buFont typeface="Arial" panose="020B0604020202020204" pitchFamily="34" charset="0"/>
              <a:buChar char="•"/>
            </a:pPr>
            <a:r>
              <a:rPr lang="fr-FR" sz="2100" dirty="0"/>
              <a:t>Pièce d’identité pour une personne physique</a:t>
            </a:r>
          </a:p>
          <a:p>
            <a:pPr marL="1371600" lvl="2" indent="-457200">
              <a:buFont typeface="Arial" panose="020B0604020202020204" pitchFamily="34" charset="0"/>
              <a:buChar char="•"/>
            </a:pPr>
            <a:r>
              <a:rPr lang="fr-FR" sz="2100" dirty="0"/>
              <a:t>Justificatif légal ou administratif pour une entreprise ou organisation</a:t>
            </a:r>
          </a:p>
          <a:p>
            <a:pPr marL="1828800" lvl="3" indent="-457200">
              <a:buFont typeface="Arial" panose="020B0604020202020204" pitchFamily="34" charset="0"/>
              <a:buChar char="•"/>
            </a:pPr>
            <a:r>
              <a:rPr lang="fr-FR" sz="2100" dirty="0"/>
              <a:t>Preuve de contrôle du domaine DNS pour les certificats SSL</a:t>
            </a:r>
          </a:p>
          <a:p>
            <a:pPr marL="971550" lvl="1" indent="-514350">
              <a:buFont typeface="+mj-lt"/>
              <a:buAutoNum type="arabicPeriod"/>
            </a:pPr>
            <a:r>
              <a:rPr lang="fr-FR" sz="2300" dirty="0">
                <a:solidFill>
                  <a:srgbClr val="42C5A5"/>
                </a:solidFill>
              </a:rPr>
              <a:t>Contrôle de la demande</a:t>
            </a:r>
          </a:p>
          <a:p>
            <a:pPr marL="1371600" lvl="2" indent="-457200">
              <a:buFont typeface="Arial" panose="020B0604020202020204" pitchFamily="34" charset="0"/>
              <a:buChar char="•"/>
            </a:pPr>
            <a:r>
              <a:rPr lang="fr-FR" sz="2100" dirty="0"/>
              <a:t>Validation de la demande de certificat (CSR) : contient la clé publique, le sujet...</a:t>
            </a:r>
          </a:p>
          <a:p>
            <a:pPr marL="1371600" lvl="2" indent="-457200">
              <a:buFont typeface="Arial" panose="020B0604020202020204" pitchFamily="34" charset="0"/>
              <a:buChar char="•"/>
            </a:pPr>
            <a:r>
              <a:rPr lang="fr-FR" sz="2100" dirty="0"/>
              <a:t>Vérification que la clé publique appartient bien au demandeur</a:t>
            </a:r>
          </a:p>
          <a:p>
            <a:pPr marL="971550" lvl="1" indent="-514350">
              <a:buFont typeface="+mj-lt"/>
              <a:buAutoNum type="arabicPeriod"/>
            </a:pPr>
            <a:r>
              <a:rPr lang="fr-FR" sz="2300" dirty="0">
                <a:solidFill>
                  <a:srgbClr val="42C5A5"/>
                </a:solidFill>
              </a:rPr>
              <a:t>Conformité des informations</a:t>
            </a:r>
          </a:p>
          <a:p>
            <a:pPr marL="1371600" lvl="2" indent="-457200">
              <a:buFont typeface="Arial" panose="020B0604020202020204" pitchFamily="34" charset="0"/>
              <a:buChar char="•"/>
            </a:pPr>
            <a:r>
              <a:rPr lang="fr-FR" sz="2100" dirty="0"/>
              <a:t>Format du nom commun (CN), durée, usages (ex : TLS, signature de code)</a:t>
            </a:r>
          </a:p>
          <a:p>
            <a:pPr marL="1371600" lvl="2" indent="-457200">
              <a:buFont typeface="Arial" panose="020B0604020202020204" pitchFamily="34" charset="0"/>
              <a:buChar char="•"/>
            </a:pPr>
            <a:r>
              <a:rPr lang="fr-FR" sz="2100" dirty="0"/>
              <a:t>Conformité aux politiques de certification (CP/CPS)</a:t>
            </a:r>
          </a:p>
          <a:p>
            <a:pPr marL="971550" lvl="1" indent="-514350">
              <a:buFont typeface="+mj-lt"/>
              <a:buAutoNum type="arabicPeriod"/>
            </a:pPr>
            <a:r>
              <a:rPr lang="fr-FR" sz="2300" dirty="0">
                <a:solidFill>
                  <a:srgbClr val="42C5A5"/>
                </a:solidFill>
              </a:rPr>
              <a:t>Enregistrement et approbation</a:t>
            </a:r>
          </a:p>
          <a:p>
            <a:pPr marL="1371600" lvl="2" indent="-457200">
              <a:buFont typeface="Arial" panose="020B0604020202020204" pitchFamily="34" charset="0"/>
              <a:buChar char="•"/>
            </a:pPr>
            <a:r>
              <a:rPr lang="fr-FR" sz="2100" dirty="0"/>
              <a:t>Une fois les données validées, la RA autorise l’émission du certificat par la CA</a:t>
            </a:r>
          </a:p>
          <a:p>
            <a:pPr marL="457200" indent="-457200">
              <a:buFont typeface="Arial" panose="020B0604020202020204" pitchFamily="34" charset="0"/>
              <a:buChar char="•"/>
            </a:pPr>
            <a:r>
              <a:rPr lang="fr-FR" sz="2900" dirty="0"/>
              <a:t>Ces étapes permettent de s'assurer que la signature de la CA est légitime, et que la confiance peut être transmise à ceux qui utiliseront le certificat.</a:t>
            </a:r>
          </a:p>
        </p:txBody>
      </p:sp>
    </p:spTree>
    <p:extLst>
      <p:ext uri="{BB962C8B-B14F-4D97-AF65-F5344CB8AC3E}">
        <p14:creationId xmlns:p14="http://schemas.microsoft.com/office/powerpoint/2010/main" val="37659705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917A3-B411-2992-1A3A-86CB1A6FCE73}"/>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3E1641BB-C8B2-5ADA-D640-4A3F31EAB953}"/>
              </a:ext>
            </a:extLst>
          </p:cNvPr>
          <p:cNvSpPr>
            <a:spLocks noGrp="1"/>
          </p:cNvSpPr>
          <p:nvPr>
            <p:ph type="title"/>
          </p:nvPr>
        </p:nvSpPr>
        <p:spPr>
          <a:xfrm>
            <a:off x="320724" y="344557"/>
            <a:ext cx="10356511" cy="496366"/>
          </a:xfrm>
        </p:spPr>
        <p:txBody>
          <a:bodyPr/>
          <a:lstStyle/>
          <a:p>
            <a:r>
              <a:rPr lang="fr-FR" dirty="0"/>
              <a:t>PKI – Public Key Infrastructure</a:t>
            </a:r>
          </a:p>
        </p:txBody>
      </p:sp>
      <p:sp>
        <p:nvSpPr>
          <p:cNvPr id="4" name="Sous-titre 3">
            <a:extLst>
              <a:ext uri="{FF2B5EF4-FFF2-40B4-BE49-F238E27FC236}">
                <a16:creationId xmlns:a16="http://schemas.microsoft.com/office/drawing/2014/main" id="{1759496C-70CA-CECB-D095-F1309A110B0D}"/>
              </a:ext>
            </a:extLst>
          </p:cNvPr>
          <p:cNvSpPr>
            <a:spLocks noGrp="1"/>
          </p:cNvSpPr>
          <p:nvPr>
            <p:ph type="subTitle" idx="1"/>
          </p:nvPr>
        </p:nvSpPr>
        <p:spPr>
          <a:xfrm>
            <a:off x="488515" y="861170"/>
            <a:ext cx="8464099" cy="365125"/>
          </a:xfrm>
        </p:spPr>
        <p:txBody>
          <a:bodyPr>
            <a:normAutofit/>
          </a:bodyPr>
          <a:lstStyle/>
          <a:p>
            <a:r>
              <a:rPr lang="fr-FR" sz="2400" dirty="0"/>
              <a:t>Rôles</a:t>
            </a:r>
          </a:p>
          <a:p>
            <a:endParaRPr lang="fr-FR" sz="2400" dirty="0"/>
          </a:p>
        </p:txBody>
      </p:sp>
      <p:sp>
        <p:nvSpPr>
          <p:cNvPr id="7" name="Espace réservé du texte 4">
            <a:extLst>
              <a:ext uri="{FF2B5EF4-FFF2-40B4-BE49-F238E27FC236}">
                <a16:creationId xmlns:a16="http://schemas.microsoft.com/office/drawing/2014/main" id="{BF40A3BE-4BA1-F8F6-36DE-027885A6A484}"/>
              </a:ext>
            </a:extLst>
          </p:cNvPr>
          <p:cNvSpPr>
            <a:spLocks noGrp="1"/>
          </p:cNvSpPr>
          <p:nvPr>
            <p:ph type="body" idx="13"/>
          </p:nvPr>
        </p:nvSpPr>
        <p:spPr>
          <a:xfrm>
            <a:off x="522605" y="1743393"/>
            <a:ext cx="8590915" cy="4924107"/>
          </a:xfrm>
        </p:spPr>
        <p:txBody>
          <a:bodyPr anchor="ctr">
            <a:normAutofit/>
          </a:bodyPr>
          <a:lstStyle/>
          <a:p>
            <a:r>
              <a:rPr lang="fr-FR" sz="3200" dirty="0">
                <a:solidFill>
                  <a:srgbClr val="09253D"/>
                </a:solidFill>
              </a:rPr>
              <a:t>VA (Validation </a:t>
            </a:r>
            <a:r>
              <a:rPr lang="fr-FR" sz="3200" dirty="0" err="1">
                <a:solidFill>
                  <a:srgbClr val="09253D"/>
                </a:solidFill>
              </a:rPr>
              <a:t>Authority</a:t>
            </a:r>
            <a:r>
              <a:rPr lang="fr-FR" sz="3200" dirty="0">
                <a:solidFill>
                  <a:srgbClr val="09253D"/>
                </a:solidFill>
              </a:rPr>
              <a:t>)</a:t>
            </a:r>
          </a:p>
          <a:p>
            <a:pPr marL="457200" indent="-457200">
              <a:buFont typeface="Arial" panose="020B0604020202020204" pitchFamily="34" charset="0"/>
              <a:buChar char="•"/>
            </a:pPr>
            <a:r>
              <a:rPr lang="fr-FR" sz="3200" dirty="0"/>
              <a:t>La Validation </a:t>
            </a:r>
            <a:r>
              <a:rPr lang="fr-FR" sz="3200" dirty="0" err="1"/>
              <a:t>Authority</a:t>
            </a:r>
            <a:r>
              <a:rPr lang="fr-FR" sz="3200" dirty="0"/>
              <a:t> (VA) permet de vérifier la validité d’un certificat déjà émis</a:t>
            </a:r>
          </a:p>
          <a:p>
            <a:pPr marL="457200" indent="-457200">
              <a:buFont typeface="Arial" panose="020B0604020202020204" pitchFamily="34" charset="0"/>
              <a:buChar char="•"/>
            </a:pPr>
            <a:r>
              <a:rPr lang="fr-FR" sz="3200" dirty="0"/>
              <a:t>Elle gère</a:t>
            </a:r>
          </a:p>
          <a:p>
            <a:pPr marL="914400" lvl="1" indent="-457200">
              <a:buFont typeface="Arial" panose="020B0604020202020204" pitchFamily="34" charset="0"/>
              <a:buChar char="•"/>
            </a:pPr>
            <a:r>
              <a:rPr lang="fr-FR" sz="2800" dirty="0"/>
              <a:t>Les Listes de Révocation de Certificats (CRL)</a:t>
            </a:r>
          </a:p>
          <a:p>
            <a:pPr marL="914400" lvl="1" indent="-457200">
              <a:buFont typeface="Arial" panose="020B0604020202020204" pitchFamily="34" charset="0"/>
              <a:buChar char="•"/>
            </a:pPr>
            <a:r>
              <a:rPr lang="fr-FR" sz="2800" dirty="0"/>
              <a:t>Les protocoles OCSP (Online </a:t>
            </a:r>
            <a:r>
              <a:rPr lang="fr-FR" sz="2800" dirty="0" err="1"/>
              <a:t>Certificate</a:t>
            </a:r>
            <a:r>
              <a:rPr lang="fr-FR" sz="2800" dirty="0"/>
              <a:t> </a:t>
            </a:r>
            <a:r>
              <a:rPr lang="fr-FR" sz="2800" dirty="0" err="1"/>
              <a:t>Status</a:t>
            </a:r>
            <a:r>
              <a:rPr lang="fr-FR" sz="2800" dirty="0"/>
              <a:t> Protocol)</a:t>
            </a:r>
          </a:p>
          <a:p>
            <a:pPr marL="457200" indent="-457200">
              <a:buFont typeface="Arial" panose="020B0604020202020204" pitchFamily="34" charset="0"/>
              <a:buChar char="•"/>
            </a:pPr>
            <a:r>
              <a:rPr lang="fr-FR" sz="3200" dirty="0"/>
              <a:t>Son rôle est essentiel pour s’assurer qu’un certificat n’a pas été révoqué ou compromis</a:t>
            </a:r>
            <a:endParaRPr lang="fr-FR" sz="2800" dirty="0"/>
          </a:p>
        </p:txBody>
      </p:sp>
      <p:pic>
        <p:nvPicPr>
          <p:cNvPr id="2" name="Image 1">
            <a:extLst>
              <a:ext uri="{FF2B5EF4-FFF2-40B4-BE49-F238E27FC236}">
                <a16:creationId xmlns:a16="http://schemas.microsoft.com/office/drawing/2014/main" id="{3F80EB64-1D83-C8EF-6D17-FE8D9DA336D9}"/>
              </a:ext>
            </a:extLst>
          </p:cNvPr>
          <p:cNvPicPr>
            <a:picLocks noChangeAspect="1"/>
          </p:cNvPicPr>
          <p:nvPr/>
        </p:nvPicPr>
        <p:blipFill>
          <a:blip r:embed="rId3"/>
          <a:srcRect r="50000"/>
          <a:stretch>
            <a:fillRect/>
          </a:stretch>
        </p:blipFill>
        <p:spPr>
          <a:xfrm>
            <a:off x="9537723" y="1868563"/>
            <a:ext cx="2654278" cy="4536605"/>
          </a:xfrm>
          <a:prstGeom prst="rect">
            <a:avLst/>
          </a:prstGeom>
        </p:spPr>
      </p:pic>
    </p:spTree>
    <p:extLst>
      <p:ext uri="{BB962C8B-B14F-4D97-AF65-F5344CB8AC3E}">
        <p14:creationId xmlns:p14="http://schemas.microsoft.com/office/powerpoint/2010/main" val="16377806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6F104-18F0-EF38-E07B-BB4F1AD28FF7}"/>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830FBD8E-2293-CC07-BD65-E6B3947D2C07}"/>
              </a:ext>
            </a:extLst>
          </p:cNvPr>
          <p:cNvSpPr>
            <a:spLocks noGrp="1"/>
          </p:cNvSpPr>
          <p:nvPr>
            <p:ph type="title"/>
          </p:nvPr>
        </p:nvSpPr>
        <p:spPr>
          <a:xfrm>
            <a:off x="320724" y="344557"/>
            <a:ext cx="10356511" cy="496366"/>
          </a:xfrm>
        </p:spPr>
        <p:txBody>
          <a:bodyPr/>
          <a:lstStyle/>
          <a:p>
            <a:r>
              <a:rPr lang="fr-FR" dirty="0"/>
              <a:t>PKI – Public Key Infrastructure</a:t>
            </a:r>
          </a:p>
        </p:txBody>
      </p:sp>
      <p:sp>
        <p:nvSpPr>
          <p:cNvPr id="4" name="Sous-titre 3">
            <a:extLst>
              <a:ext uri="{FF2B5EF4-FFF2-40B4-BE49-F238E27FC236}">
                <a16:creationId xmlns:a16="http://schemas.microsoft.com/office/drawing/2014/main" id="{BF5AEA25-62D2-DE5D-B181-033B40C9C8CD}"/>
              </a:ext>
            </a:extLst>
          </p:cNvPr>
          <p:cNvSpPr>
            <a:spLocks noGrp="1"/>
          </p:cNvSpPr>
          <p:nvPr>
            <p:ph type="subTitle" idx="1"/>
          </p:nvPr>
        </p:nvSpPr>
        <p:spPr>
          <a:xfrm>
            <a:off x="488515" y="861170"/>
            <a:ext cx="8464099" cy="365125"/>
          </a:xfrm>
        </p:spPr>
        <p:txBody>
          <a:bodyPr>
            <a:normAutofit/>
          </a:bodyPr>
          <a:lstStyle/>
          <a:p>
            <a:r>
              <a:rPr lang="fr-FR" sz="2400" dirty="0"/>
              <a:t>Rôles</a:t>
            </a:r>
          </a:p>
          <a:p>
            <a:endParaRPr lang="fr-FR" sz="2400" dirty="0"/>
          </a:p>
        </p:txBody>
      </p:sp>
      <p:sp>
        <p:nvSpPr>
          <p:cNvPr id="7" name="Espace réservé du texte 4">
            <a:extLst>
              <a:ext uri="{FF2B5EF4-FFF2-40B4-BE49-F238E27FC236}">
                <a16:creationId xmlns:a16="http://schemas.microsoft.com/office/drawing/2014/main" id="{0A476E6D-E2FA-5269-3A4B-39324443D82E}"/>
              </a:ext>
            </a:extLst>
          </p:cNvPr>
          <p:cNvSpPr>
            <a:spLocks noGrp="1"/>
          </p:cNvSpPr>
          <p:nvPr>
            <p:ph type="body" idx="13"/>
          </p:nvPr>
        </p:nvSpPr>
        <p:spPr>
          <a:xfrm>
            <a:off x="522605" y="1743393"/>
            <a:ext cx="7920355" cy="4924107"/>
          </a:xfrm>
        </p:spPr>
        <p:txBody>
          <a:bodyPr anchor="ctr">
            <a:normAutofit fontScale="92500" lnSpcReduction="10000"/>
          </a:bodyPr>
          <a:lstStyle/>
          <a:p>
            <a:r>
              <a:rPr lang="fr-FR" sz="3200" dirty="0">
                <a:solidFill>
                  <a:srgbClr val="09253D"/>
                </a:solidFill>
              </a:rPr>
              <a:t>Autorités racines de confiance </a:t>
            </a:r>
          </a:p>
          <a:p>
            <a:pPr marL="457200" indent="-457200">
              <a:buFont typeface="Arial" panose="020B0604020202020204" pitchFamily="34" charset="0"/>
              <a:buChar char="•"/>
            </a:pPr>
            <a:r>
              <a:rPr lang="fr-FR" sz="3200" dirty="0"/>
              <a:t>Toute application utilisée qui a besoin de valider les certificats, comme les navigateurs, contient une liste d’autorités dites « Autorités racines de confiance » </a:t>
            </a:r>
          </a:p>
          <a:p>
            <a:pPr marL="457200" indent="-457200">
              <a:buFont typeface="Arial" panose="020B0604020202020204" pitchFamily="34" charset="0"/>
              <a:buChar char="•"/>
            </a:pPr>
            <a:r>
              <a:rPr lang="fr-FR" sz="3200" dirty="0"/>
              <a:t>Cette base est la source de la confiance des échanges sur Internet</a:t>
            </a:r>
          </a:p>
          <a:p>
            <a:pPr marL="914400" lvl="1" indent="-457200">
              <a:buFont typeface="Arial" panose="020B0604020202020204" pitchFamily="34" charset="0"/>
              <a:buChar char="•"/>
            </a:pPr>
            <a:r>
              <a:rPr lang="fr-FR" sz="2400" dirty="0"/>
              <a:t>Elle est stockée de façon persistante dans le navigateur et au niveau l’OS, dans ce qu’on appelle un magasin de certificats</a:t>
            </a:r>
          </a:p>
          <a:p>
            <a:pPr marL="914400" lvl="1" indent="-457200">
              <a:buFont typeface="Arial" panose="020B0604020202020204" pitchFamily="34" charset="0"/>
              <a:buChar char="•"/>
            </a:pPr>
            <a:r>
              <a:rPr lang="fr-FR" sz="2400" dirty="0"/>
              <a:t>Dans le cas d’une IGC interne à une organisation, le certificat de l’autorité de certification doit également être ajouté aux magasins de certificats</a:t>
            </a:r>
          </a:p>
        </p:txBody>
      </p:sp>
    </p:spTree>
    <p:extLst>
      <p:ext uri="{BB962C8B-B14F-4D97-AF65-F5344CB8AC3E}">
        <p14:creationId xmlns:p14="http://schemas.microsoft.com/office/powerpoint/2010/main" val="17768820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C17CA-3711-CE6B-08BE-40FD97DBD6FA}"/>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4077F8C9-4064-9E96-C7EA-99EAB3240D45}"/>
              </a:ext>
            </a:extLst>
          </p:cNvPr>
          <p:cNvSpPr>
            <a:spLocks noGrp="1"/>
          </p:cNvSpPr>
          <p:nvPr>
            <p:ph type="title"/>
          </p:nvPr>
        </p:nvSpPr>
        <p:spPr>
          <a:xfrm>
            <a:off x="122881" y="559838"/>
            <a:ext cx="3814549" cy="594988"/>
          </a:xfrm>
        </p:spPr>
        <p:txBody>
          <a:bodyPr/>
          <a:lstStyle/>
          <a:p>
            <a:r>
              <a:rPr lang="fr-FR" sz="4800" dirty="0"/>
              <a:t>PKI</a:t>
            </a:r>
          </a:p>
        </p:txBody>
      </p:sp>
      <p:sp>
        <p:nvSpPr>
          <p:cNvPr id="4" name="Sous-titre 3">
            <a:extLst>
              <a:ext uri="{FF2B5EF4-FFF2-40B4-BE49-F238E27FC236}">
                <a16:creationId xmlns:a16="http://schemas.microsoft.com/office/drawing/2014/main" id="{38393C76-F0F4-54EF-5F3D-789A9CCF38F8}"/>
              </a:ext>
            </a:extLst>
          </p:cNvPr>
          <p:cNvSpPr>
            <a:spLocks noGrp="1"/>
          </p:cNvSpPr>
          <p:nvPr>
            <p:ph type="subTitle" idx="1"/>
          </p:nvPr>
        </p:nvSpPr>
        <p:spPr/>
        <p:txBody>
          <a:bodyPr>
            <a:normAutofit/>
          </a:bodyPr>
          <a:lstStyle/>
          <a:p>
            <a:r>
              <a:rPr lang="fr-FR" sz="2400" dirty="0"/>
              <a:t>Cycle de vie d’un certificat</a:t>
            </a:r>
          </a:p>
          <a:p>
            <a:endParaRPr lang="fr-FR" sz="2400" dirty="0"/>
          </a:p>
        </p:txBody>
      </p:sp>
      <p:sp>
        <p:nvSpPr>
          <p:cNvPr id="7" name="Espace réservé du texte 4">
            <a:extLst>
              <a:ext uri="{FF2B5EF4-FFF2-40B4-BE49-F238E27FC236}">
                <a16:creationId xmlns:a16="http://schemas.microsoft.com/office/drawing/2014/main" id="{D36317D5-652D-AE4A-19F8-5E3E0B9E9ECF}"/>
              </a:ext>
            </a:extLst>
          </p:cNvPr>
          <p:cNvSpPr>
            <a:spLocks noGrp="1"/>
          </p:cNvSpPr>
          <p:nvPr>
            <p:ph type="body" idx="13"/>
          </p:nvPr>
        </p:nvSpPr>
        <p:spPr/>
        <p:txBody>
          <a:bodyPr anchor="ctr">
            <a:normAutofit/>
          </a:bodyPr>
          <a:lstStyle/>
          <a:p>
            <a:pPr algn="r"/>
            <a:r>
              <a:rPr lang="fr-FR" sz="2000" dirty="0"/>
              <a:t>Un certificat suit un cycle de vie structuré dès sa création jusqu'à son éventuelle révocation</a:t>
            </a:r>
          </a:p>
          <a:p>
            <a:pPr algn="r"/>
            <a:r>
              <a:rPr lang="fr-FR" sz="2000" dirty="0"/>
              <a:t>Ce processus implique plusieurs étapes et acteurs clés de la PKI</a:t>
            </a:r>
          </a:p>
        </p:txBody>
      </p:sp>
      <p:grpSp>
        <p:nvGrpSpPr>
          <p:cNvPr id="8" name="Groupe 7">
            <a:extLst>
              <a:ext uri="{FF2B5EF4-FFF2-40B4-BE49-F238E27FC236}">
                <a16:creationId xmlns:a16="http://schemas.microsoft.com/office/drawing/2014/main" id="{D16ED5E6-BF0B-CB00-5B75-11D73F8F7172}"/>
              </a:ext>
            </a:extLst>
          </p:cNvPr>
          <p:cNvGrpSpPr/>
          <p:nvPr/>
        </p:nvGrpSpPr>
        <p:grpSpPr>
          <a:xfrm>
            <a:off x="4801614" y="1142730"/>
            <a:ext cx="6865069" cy="5429442"/>
            <a:chOff x="4801614" y="1142730"/>
            <a:chExt cx="6865069" cy="5429442"/>
          </a:xfrm>
        </p:grpSpPr>
        <p:sp>
          <p:nvSpPr>
            <p:cNvPr id="9" name="Flèche : en arc 8">
              <a:extLst>
                <a:ext uri="{FF2B5EF4-FFF2-40B4-BE49-F238E27FC236}">
                  <a16:creationId xmlns:a16="http://schemas.microsoft.com/office/drawing/2014/main" id="{1F7E05C7-F1D9-1FFE-28BF-631C9AB722E3}"/>
                </a:ext>
              </a:extLst>
            </p:cNvPr>
            <p:cNvSpPr/>
            <p:nvPr/>
          </p:nvSpPr>
          <p:spPr>
            <a:xfrm>
              <a:off x="5551152" y="1142730"/>
              <a:ext cx="5365993" cy="5365993"/>
            </a:xfrm>
            <a:prstGeom prst="circularArrow">
              <a:avLst>
                <a:gd name="adj1" fmla="val 5544"/>
                <a:gd name="adj2" fmla="val 330680"/>
                <a:gd name="adj3" fmla="val 13776088"/>
                <a:gd name="adj4" fmla="val 17385865"/>
                <a:gd name="adj5" fmla="val 5757"/>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fr-FR" dirty="0"/>
            </a:p>
          </p:txBody>
        </p:sp>
        <p:sp>
          <p:nvSpPr>
            <p:cNvPr id="10" name="Forme libre : forme 9">
              <a:extLst>
                <a:ext uri="{FF2B5EF4-FFF2-40B4-BE49-F238E27FC236}">
                  <a16:creationId xmlns:a16="http://schemas.microsoft.com/office/drawing/2014/main" id="{C3C19C4A-FAC4-71F4-12C2-6C29BD5C8910}"/>
                </a:ext>
              </a:extLst>
            </p:cNvPr>
            <p:cNvSpPr/>
            <p:nvPr/>
          </p:nvSpPr>
          <p:spPr>
            <a:xfrm>
              <a:off x="6977888" y="1176392"/>
              <a:ext cx="2512521" cy="1256260"/>
            </a:xfrm>
            <a:custGeom>
              <a:avLst/>
              <a:gdLst>
                <a:gd name="connsiteX0" fmla="*/ 0 w 2512521"/>
                <a:gd name="connsiteY0" fmla="*/ 209381 h 1256260"/>
                <a:gd name="connsiteX1" fmla="*/ 209381 w 2512521"/>
                <a:gd name="connsiteY1" fmla="*/ 0 h 1256260"/>
                <a:gd name="connsiteX2" fmla="*/ 2303140 w 2512521"/>
                <a:gd name="connsiteY2" fmla="*/ 0 h 1256260"/>
                <a:gd name="connsiteX3" fmla="*/ 2512521 w 2512521"/>
                <a:gd name="connsiteY3" fmla="*/ 209381 h 1256260"/>
                <a:gd name="connsiteX4" fmla="*/ 2512521 w 2512521"/>
                <a:gd name="connsiteY4" fmla="*/ 1046879 h 1256260"/>
                <a:gd name="connsiteX5" fmla="*/ 2303140 w 2512521"/>
                <a:gd name="connsiteY5" fmla="*/ 1256260 h 1256260"/>
                <a:gd name="connsiteX6" fmla="*/ 209381 w 2512521"/>
                <a:gd name="connsiteY6" fmla="*/ 1256260 h 1256260"/>
                <a:gd name="connsiteX7" fmla="*/ 0 w 2512521"/>
                <a:gd name="connsiteY7" fmla="*/ 1046879 h 1256260"/>
                <a:gd name="connsiteX8" fmla="*/ 0 w 2512521"/>
                <a:gd name="connsiteY8" fmla="*/ 209381 h 125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12521" h="1256260">
                  <a:moveTo>
                    <a:pt x="0" y="209381"/>
                  </a:moveTo>
                  <a:cubicBezTo>
                    <a:pt x="0" y="93743"/>
                    <a:pt x="93743" y="0"/>
                    <a:pt x="209381" y="0"/>
                  </a:cubicBezTo>
                  <a:lnTo>
                    <a:pt x="2303140" y="0"/>
                  </a:lnTo>
                  <a:cubicBezTo>
                    <a:pt x="2418778" y="0"/>
                    <a:pt x="2512521" y="93743"/>
                    <a:pt x="2512521" y="209381"/>
                  </a:cubicBezTo>
                  <a:lnTo>
                    <a:pt x="2512521" y="1046879"/>
                  </a:lnTo>
                  <a:cubicBezTo>
                    <a:pt x="2512521" y="1162517"/>
                    <a:pt x="2418778" y="1256260"/>
                    <a:pt x="2303140" y="1256260"/>
                  </a:cubicBezTo>
                  <a:lnTo>
                    <a:pt x="209381" y="1256260"/>
                  </a:lnTo>
                  <a:cubicBezTo>
                    <a:pt x="93743" y="1256260"/>
                    <a:pt x="0" y="1162517"/>
                    <a:pt x="0" y="1046879"/>
                  </a:cubicBezTo>
                  <a:lnTo>
                    <a:pt x="0" y="209381"/>
                  </a:lnTo>
                  <a:close/>
                </a:path>
              </a:pathLst>
            </a:custGeom>
            <a:solidFill>
              <a:srgbClr val="09253D"/>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18476" tIns="118476" rIns="118476" bIns="118476" numCol="1" spcCol="1270" anchor="ctr" anchorCtr="0">
              <a:noAutofit/>
            </a:bodyPr>
            <a:lstStyle/>
            <a:p>
              <a:pPr marL="0" lvl="0" indent="0" algn="ctr" defTabSz="666750">
                <a:lnSpc>
                  <a:spcPct val="90000"/>
                </a:lnSpc>
                <a:spcBef>
                  <a:spcPct val="0"/>
                </a:spcBef>
                <a:spcAft>
                  <a:spcPct val="35000"/>
                </a:spcAft>
                <a:buNone/>
              </a:pPr>
              <a:r>
                <a:rPr lang="fr-FR" kern="1200" dirty="0">
                  <a:solidFill>
                    <a:srgbClr val="42C5A5"/>
                  </a:solidFill>
                </a:rPr>
                <a:t>✍️ </a:t>
              </a:r>
              <a:r>
                <a:rPr lang="fr-FR" b="1" kern="1200" dirty="0">
                  <a:solidFill>
                    <a:srgbClr val="42C5A5"/>
                  </a:solidFill>
                </a:rPr>
                <a:t>CSR - </a:t>
              </a:r>
              <a:r>
                <a:rPr lang="fr-FR" b="1" kern="1200" dirty="0" err="1">
                  <a:solidFill>
                    <a:srgbClr val="42C5A5"/>
                  </a:solidFill>
                </a:rPr>
                <a:t>Certificate</a:t>
              </a:r>
              <a:r>
                <a:rPr lang="fr-FR" b="1" kern="1200" dirty="0">
                  <a:solidFill>
                    <a:srgbClr val="42C5A5"/>
                  </a:solidFill>
                </a:rPr>
                <a:t> </a:t>
              </a:r>
              <a:r>
                <a:rPr lang="fr-FR" b="1" kern="1200" dirty="0" err="1">
                  <a:solidFill>
                    <a:srgbClr val="42C5A5"/>
                  </a:solidFill>
                </a:rPr>
                <a:t>Signing</a:t>
              </a:r>
              <a:r>
                <a:rPr lang="fr-FR" b="1" kern="1200" dirty="0">
                  <a:solidFill>
                    <a:srgbClr val="42C5A5"/>
                  </a:solidFill>
                </a:rPr>
                <a:t> </a:t>
              </a:r>
              <a:r>
                <a:rPr lang="fr-FR" b="1" kern="1200" dirty="0" err="1">
                  <a:solidFill>
                    <a:srgbClr val="42C5A5"/>
                  </a:solidFill>
                </a:rPr>
                <a:t>Request</a:t>
              </a:r>
              <a:endParaRPr lang="fr-FR" b="1" kern="1200" dirty="0">
                <a:solidFill>
                  <a:srgbClr val="42C5A5"/>
                </a:solidFill>
              </a:endParaRPr>
            </a:p>
            <a:p>
              <a:pPr marL="0" lvl="0" indent="0" algn="ctr" defTabSz="666750">
                <a:lnSpc>
                  <a:spcPct val="90000"/>
                </a:lnSpc>
                <a:spcBef>
                  <a:spcPct val="0"/>
                </a:spcBef>
                <a:spcAft>
                  <a:spcPct val="35000"/>
                </a:spcAft>
                <a:buNone/>
              </a:pPr>
              <a:r>
                <a:rPr lang="fr-FR" sz="1500" kern="1200" dirty="0"/>
                <a:t>Demande de certificat signée par le demandeur</a:t>
              </a:r>
            </a:p>
          </p:txBody>
        </p:sp>
        <p:sp>
          <p:nvSpPr>
            <p:cNvPr id="11" name="Forme libre : forme 10">
              <a:extLst>
                <a:ext uri="{FF2B5EF4-FFF2-40B4-BE49-F238E27FC236}">
                  <a16:creationId xmlns:a16="http://schemas.microsoft.com/office/drawing/2014/main" id="{77499CC7-8129-9504-630B-DA32ED876D60}"/>
                </a:ext>
              </a:extLst>
            </p:cNvPr>
            <p:cNvSpPr/>
            <p:nvPr/>
          </p:nvSpPr>
          <p:spPr>
            <a:xfrm>
              <a:off x="9154162" y="2757548"/>
              <a:ext cx="2512521" cy="1256260"/>
            </a:xfrm>
            <a:custGeom>
              <a:avLst/>
              <a:gdLst>
                <a:gd name="connsiteX0" fmla="*/ 0 w 2512521"/>
                <a:gd name="connsiteY0" fmla="*/ 209381 h 1256260"/>
                <a:gd name="connsiteX1" fmla="*/ 209381 w 2512521"/>
                <a:gd name="connsiteY1" fmla="*/ 0 h 1256260"/>
                <a:gd name="connsiteX2" fmla="*/ 2303140 w 2512521"/>
                <a:gd name="connsiteY2" fmla="*/ 0 h 1256260"/>
                <a:gd name="connsiteX3" fmla="*/ 2512521 w 2512521"/>
                <a:gd name="connsiteY3" fmla="*/ 209381 h 1256260"/>
                <a:gd name="connsiteX4" fmla="*/ 2512521 w 2512521"/>
                <a:gd name="connsiteY4" fmla="*/ 1046879 h 1256260"/>
                <a:gd name="connsiteX5" fmla="*/ 2303140 w 2512521"/>
                <a:gd name="connsiteY5" fmla="*/ 1256260 h 1256260"/>
                <a:gd name="connsiteX6" fmla="*/ 209381 w 2512521"/>
                <a:gd name="connsiteY6" fmla="*/ 1256260 h 1256260"/>
                <a:gd name="connsiteX7" fmla="*/ 0 w 2512521"/>
                <a:gd name="connsiteY7" fmla="*/ 1046879 h 1256260"/>
                <a:gd name="connsiteX8" fmla="*/ 0 w 2512521"/>
                <a:gd name="connsiteY8" fmla="*/ 209381 h 125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12521" h="1256260">
                  <a:moveTo>
                    <a:pt x="0" y="209381"/>
                  </a:moveTo>
                  <a:cubicBezTo>
                    <a:pt x="0" y="93743"/>
                    <a:pt x="93743" y="0"/>
                    <a:pt x="209381" y="0"/>
                  </a:cubicBezTo>
                  <a:lnTo>
                    <a:pt x="2303140" y="0"/>
                  </a:lnTo>
                  <a:cubicBezTo>
                    <a:pt x="2418778" y="0"/>
                    <a:pt x="2512521" y="93743"/>
                    <a:pt x="2512521" y="209381"/>
                  </a:cubicBezTo>
                  <a:lnTo>
                    <a:pt x="2512521" y="1046879"/>
                  </a:lnTo>
                  <a:cubicBezTo>
                    <a:pt x="2512521" y="1162517"/>
                    <a:pt x="2418778" y="1256260"/>
                    <a:pt x="2303140" y="1256260"/>
                  </a:cubicBezTo>
                  <a:lnTo>
                    <a:pt x="209381" y="1256260"/>
                  </a:lnTo>
                  <a:cubicBezTo>
                    <a:pt x="93743" y="1256260"/>
                    <a:pt x="0" y="1162517"/>
                    <a:pt x="0" y="1046879"/>
                  </a:cubicBezTo>
                  <a:lnTo>
                    <a:pt x="0" y="209381"/>
                  </a:lnTo>
                  <a:close/>
                </a:path>
              </a:pathLst>
            </a:custGeom>
            <a:solidFill>
              <a:srgbClr val="09253D"/>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18476" tIns="118476" rIns="118476" bIns="118476" numCol="1" spcCol="1270" anchor="ctr" anchorCtr="0">
              <a:noAutofit/>
            </a:bodyPr>
            <a:lstStyle/>
            <a:p>
              <a:pPr marL="0" lvl="0" indent="0" algn="ctr" defTabSz="666750">
                <a:lnSpc>
                  <a:spcPct val="90000"/>
                </a:lnSpc>
                <a:spcBef>
                  <a:spcPct val="0"/>
                </a:spcBef>
                <a:spcAft>
                  <a:spcPct val="35000"/>
                </a:spcAft>
                <a:buNone/>
              </a:pPr>
              <a:r>
                <a:rPr lang="fr-FR" kern="1200" dirty="0">
                  <a:solidFill>
                    <a:srgbClr val="42C5A5"/>
                  </a:solidFill>
                </a:rPr>
                <a:t>🧾 </a:t>
              </a:r>
              <a:r>
                <a:rPr lang="fr-FR" b="1" kern="1200" dirty="0">
                  <a:solidFill>
                    <a:srgbClr val="42C5A5"/>
                  </a:solidFill>
                </a:rPr>
                <a:t>RA - Registration </a:t>
              </a:r>
              <a:r>
                <a:rPr lang="fr-FR" b="1" kern="1200" dirty="0" err="1">
                  <a:solidFill>
                    <a:srgbClr val="42C5A5"/>
                  </a:solidFill>
                </a:rPr>
                <a:t>Authority</a:t>
              </a:r>
              <a:endParaRPr lang="fr-FR" b="1" kern="1200" dirty="0">
                <a:solidFill>
                  <a:srgbClr val="42C5A5"/>
                </a:solidFill>
              </a:endParaRPr>
            </a:p>
            <a:p>
              <a:pPr marL="0" lvl="0" indent="0" algn="ctr" defTabSz="666750">
                <a:lnSpc>
                  <a:spcPct val="90000"/>
                </a:lnSpc>
                <a:spcBef>
                  <a:spcPct val="0"/>
                </a:spcBef>
                <a:spcAft>
                  <a:spcPct val="35000"/>
                </a:spcAft>
                <a:buNone/>
              </a:pPr>
              <a:r>
                <a:rPr lang="fr-FR" sz="1500" kern="1200" dirty="0"/>
                <a:t>Vérification de l'identité du demandeur</a:t>
              </a:r>
            </a:p>
          </p:txBody>
        </p:sp>
        <p:sp>
          <p:nvSpPr>
            <p:cNvPr id="12" name="Forme libre : forme 11">
              <a:extLst>
                <a:ext uri="{FF2B5EF4-FFF2-40B4-BE49-F238E27FC236}">
                  <a16:creationId xmlns:a16="http://schemas.microsoft.com/office/drawing/2014/main" id="{8922B81D-8954-26D0-6F3D-33FF2B0A11F8}"/>
                </a:ext>
              </a:extLst>
            </p:cNvPr>
            <p:cNvSpPr/>
            <p:nvPr/>
          </p:nvSpPr>
          <p:spPr>
            <a:xfrm>
              <a:off x="8322899" y="5315912"/>
              <a:ext cx="2512521" cy="1256260"/>
            </a:xfrm>
            <a:custGeom>
              <a:avLst/>
              <a:gdLst>
                <a:gd name="connsiteX0" fmla="*/ 0 w 2512521"/>
                <a:gd name="connsiteY0" fmla="*/ 209381 h 1256260"/>
                <a:gd name="connsiteX1" fmla="*/ 209381 w 2512521"/>
                <a:gd name="connsiteY1" fmla="*/ 0 h 1256260"/>
                <a:gd name="connsiteX2" fmla="*/ 2303140 w 2512521"/>
                <a:gd name="connsiteY2" fmla="*/ 0 h 1256260"/>
                <a:gd name="connsiteX3" fmla="*/ 2512521 w 2512521"/>
                <a:gd name="connsiteY3" fmla="*/ 209381 h 1256260"/>
                <a:gd name="connsiteX4" fmla="*/ 2512521 w 2512521"/>
                <a:gd name="connsiteY4" fmla="*/ 1046879 h 1256260"/>
                <a:gd name="connsiteX5" fmla="*/ 2303140 w 2512521"/>
                <a:gd name="connsiteY5" fmla="*/ 1256260 h 1256260"/>
                <a:gd name="connsiteX6" fmla="*/ 209381 w 2512521"/>
                <a:gd name="connsiteY6" fmla="*/ 1256260 h 1256260"/>
                <a:gd name="connsiteX7" fmla="*/ 0 w 2512521"/>
                <a:gd name="connsiteY7" fmla="*/ 1046879 h 1256260"/>
                <a:gd name="connsiteX8" fmla="*/ 0 w 2512521"/>
                <a:gd name="connsiteY8" fmla="*/ 209381 h 125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12521" h="1256260">
                  <a:moveTo>
                    <a:pt x="0" y="209381"/>
                  </a:moveTo>
                  <a:cubicBezTo>
                    <a:pt x="0" y="93743"/>
                    <a:pt x="93743" y="0"/>
                    <a:pt x="209381" y="0"/>
                  </a:cubicBezTo>
                  <a:lnTo>
                    <a:pt x="2303140" y="0"/>
                  </a:lnTo>
                  <a:cubicBezTo>
                    <a:pt x="2418778" y="0"/>
                    <a:pt x="2512521" y="93743"/>
                    <a:pt x="2512521" y="209381"/>
                  </a:cubicBezTo>
                  <a:lnTo>
                    <a:pt x="2512521" y="1046879"/>
                  </a:lnTo>
                  <a:cubicBezTo>
                    <a:pt x="2512521" y="1162517"/>
                    <a:pt x="2418778" y="1256260"/>
                    <a:pt x="2303140" y="1256260"/>
                  </a:cubicBezTo>
                  <a:lnTo>
                    <a:pt x="209381" y="1256260"/>
                  </a:lnTo>
                  <a:cubicBezTo>
                    <a:pt x="93743" y="1256260"/>
                    <a:pt x="0" y="1162517"/>
                    <a:pt x="0" y="1046879"/>
                  </a:cubicBezTo>
                  <a:lnTo>
                    <a:pt x="0" y="209381"/>
                  </a:lnTo>
                  <a:close/>
                </a:path>
              </a:pathLst>
            </a:custGeom>
            <a:solidFill>
              <a:srgbClr val="09253D"/>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18476" tIns="118476" rIns="118476" bIns="118476" numCol="1" spcCol="1270" anchor="ctr" anchorCtr="0">
              <a:noAutofit/>
            </a:bodyPr>
            <a:lstStyle/>
            <a:p>
              <a:pPr marL="0" lvl="0" indent="0" algn="ctr" defTabSz="666750">
                <a:lnSpc>
                  <a:spcPct val="90000"/>
                </a:lnSpc>
                <a:spcBef>
                  <a:spcPct val="0"/>
                </a:spcBef>
                <a:spcAft>
                  <a:spcPct val="35000"/>
                </a:spcAft>
                <a:buNone/>
              </a:pPr>
              <a:r>
                <a:rPr lang="fr-FR" kern="1200" dirty="0">
                  <a:solidFill>
                    <a:srgbClr val="42C5A5"/>
                  </a:solidFill>
                </a:rPr>
                <a:t>🏛️ </a:t>
              </a:r>
              <a:r>
                <a:rPr lang="fr-FR" b="1" kern="1200" dirty="0">
                  <a:solidFill>
                    <a:srgbClr val="42C5A5"/>
                  </a:solidFill>
                </a:rPr>
                <a:t>CA (Certification </a:t>
              </a:r>
              <a:r>
                <a:rPr lang="fr-FR" b="1" kern="1200" dirty="0" err="1">
                  <a:solidFill>
                    <a:srgbClr val="42C5A5"/>
                  </a:solidFill>
                </a:rPr>
                <a:t>Authority</a:t>
              </a:r>
              <a:r>
                <a:rPr lang="fr-FR" b="1" kern="1200" dirty="0">
                  <a:solidFill>
                    <a:srgbClr val="42C5A5"/>
                  </a:solidFill>
                </a:rPr>
                <a:t>)</a:t>
              </a:r>
              <a:r>
                <a:rPr lang="fr-FR" kern="1200" dirty="0">
                  <a:solidFill>
                    <a:srgbClr val="42C5A5"/>
                  </a:solidFill>
                </a:rPr>
                <a:t> </a:t>
              </a:r>
            </a:p>
            <a:p>
              <a:pPr marL="0" lvl="0" indent="0" algn="ctr" defTabSz="666750">
                <a:lnSpc>
                  <a:spcPct val="90000"/>
                </a:lnSpc>
                <a:spcBef>
                  <a:spcPct val="0"/>
                </a:spcBef>
                <a:spcAft>
                  <a:spcPct val="35000"/>
                </a:spcAft>
                <a:buNone/>
              </a:pPr>
              <a:r>
                <a:rPr lang="fr-FR" sz="1500" kern="1200" dirty="0"/>
                <a:t>Émission et signature du certificat</a:t>
              </a:r>
            </a:p>
          </p:txBody>
        </p:sp>
        <p:sp>
          <p:nvSpPr>
            <p:cNvPr id="13" name="Forme libre : forme 12">
              <a:extLst>
                <a:ext uri="{FF2B5EF4-FFF2-40B4-BE49-F238E27FC236}">
                  <a16:creationId xmlns:a16="http://schemas.microsoft.com/office/drawing/2014/main" id="{83716D66-97F1-F06B-6CAC-894D9BF73AF0}"/>
                </a:ext>
              </a:extLst>
            </p:cNvPr>
            <p:cNvSpPr/>
            <p:nvPr/>
          </p:nvSpPr>
          <p:spPr>
            <a:xfrm>
              <a:off x="5632876" y="5315912"/>
              <a:ext cx="2512521" cy="1256260"/>
            </a:xfrm>
            <a:custGeom>
              <a:avLst/>
              <a:gdLst>
                <a:gd name="connsiteX0" fmla="*/ 0 w 2512521"/>
                <a:gd name="connsiteY0" fmla="*/ 209381 h 1256260"/>
                <a:gd name="connsiteX1" fmla="*/ 209381 w 2512521"/>
                <a:gd name="connsiteY1" fmla="*/ 0 h 1256260"/>
                <a:gd name="connsiteX2" fmla="*/ 2303140 w 2512521"/>
                <a:gd name="connsiteY2" fmla="*/ 0 h 1256260"/>
                <a:gd name="connsiteX3" fmla="*/ 2512521 w 2512521"/>
                <a:gd name="connsiteY3" fmla="*/ 209381 h 1256260"/>
                <a:gd name="connsiteX4" fmla="*/ 2512521 w 2512521"/>
                <a:gd name="connsiteY4" fmla="*/ 1046879 h 1256260"/>
                <a:gd name="connsiteX5" fmla="*/ 2303140 w 2512521"/>
                <a:gd name="connsiteY5" fmla="*/ 1256260 h 1256260"/>
                <a:gd name="connsiteX6" fmla="*/ 209381 w 2512521"/>
                <a:gd name="connsiteY6" fmla="*/ 1256260 h 1256260"/>
                <a:gd name="connsiteX7" fmla="*/ 0 w 2512521"/>
                <a:gd name="connsiteY7" fmla="*/ 1046879 h 1256260"/>
                <a:gd name="connsiteX8" fmla="*/ 0 w 2512521"/>
                <a:gd name="connsiteY8" fmla="*/ 209381 h 125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12521" h="1256260">
                  <a:moveTo>
                    <a:pt x="0" y="209381"/>
                  </a:moveTo>
                  <a:cubicBezTo>
                    <a:pt x="0" y="93743"/>
                    <a:pt x="93743" y="0"/>
                    <a:pt x="209381" y="0"/>
                  </a:cubicBezTo>
                  <a:lnTo>
                    <a:pt x="2303140" y="0"/>
                  </a:lnTo>
                  <a:cubicBezTo>
                    <a:pt x="2418778" y="0"/>
                    <a:pt x="2512521" y="93743"/>
                    <a:pt x="2512521" y="209381"/>
                  </a:cubicBezTo>
                  <a:lnTo>
                    <a:pt x="2512521" y="1046879"/>
                  </a:lnTo>
                  <a:cubicBezTo>
                    <a:pt x="2512521" y="1162517"/>
                    <a:pt x="2418778" y="1256260"/>
                    <a:pt x="2303140" y="1256260"/>
                  </a:cubicBezTo>
                  <a:lnTo>
                    <a:pt x="209381" y="1256260"/>
                  </a:lnTo>
                  <a:cubicBezTo>
                    <a:pt x="93743" y="1256260"/>
                    <a:pt x="0" y="1162517"/>
                    <a:pt x="0" y="1046879"/>
                  </a:cubicBezTo>
                  <a:lnTo>
                    <a:pt x="0" y="209381"/>
                  </a:lnTo>
                  <a:close/>
                </a:path>
              </a:pathLst>
            </a:custGeom>
            <a:solidFill>
              <a:srgbClr val="09253D"/>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18476" tIns="118476" rIns="118476" bIns="118476" numCol="1" spcCol="1270" anchor="ctr" anchorCtr="0">
              <a:noAutofit/>
            </a:bodyPr>
            <a:lstStyle/>
            <a:p>
              <a:pPr marL="0" lvl="0" indent="0" algn="ctr" defTabSz="666750">
                <a:lnSpc>
                  <a:spcPct val="90000"/>
                </a:lnSpc>
                <a:spcBef>
                  <a:spcPct val="0"/>
                </a:spcBef>
                <a:spcAft>
                  <a:spcPct val="35000"/>
                </a:spcAft>
                <a:buFont typeface="Arial" panose="020B0604020202020204" pitchFamily="34" charset="0"/>
                <a:buNone/>
              </a:pPr>
              <a:r>
                <a:rPr lang="fr-FR" sz="1600" kern="1200" dirty="0"/>
                <a:t>📤 </a:t>
              </a:r>
              <a:r>
                <a:rPr lang="fr-FR" sz="1600" b="1" kern="1200" dirty="0">
                  <a:solidFill>
                    <a:srgbClr val="42C5A5"/>
                  </a:solidFill>
                </a:rPr>
                <a:t>Transmission</a:t>
              </a:r>
            </a:p>
            <a:p>
              <a:pPr marL="0" lvl="0" indent="0" algn="ctr" defTabSz="666750">
                <a:lnSpc>
                  <a:spcPct val="90000"/>
                </a:lnSpc>
                <a:spcBef>
                  <a:spcPct val="0"/>
                </a:spcBef>
                <a:spcAft>
                  <a:spcPct val="35000"/>
                </a:spcAft>
                <a:buFont typeface="Arial" panose="020B0604020202020204" pitchFamily="34" charset="0"/>
                <a:buNone/>
              </a:pPr>
              <a:r>
                <a:rPr lang="fr-FR" sz="1500" kern="1200" dirty="0"/>
                <a:t>Remise du certificat au demandeur, prêt à être utilisé</a:t>
              </a:r>
            </a:p>
          </p:txBody>
        </p:sp>
        <p:sp>
          <p:nvSpPr>
            <p:cNvPr id="14" name="Forme libre : forme 13">
              <a:extLst>
                <a:ext uri="{FF2B5EF4-FFF2-40B4-BE49-F238E27FC236}">
                  <a16:creationId xmlns:a16="http://schemas.microsoft.com/office/drawing/2014/main" id="{A0244323-7919-9337-2FBA-5965AECCD2A4}"/>
                </a:ext>
              </a:extLst>
            </p:cNvPr>
            <p:cNvSpPr/>
            <p:nvPr/>
          </p:nvSpPr>
          <p:spPr>
            <a:xfrm>
              <a:off x="4801614" y="2757548"/>
              <a:ext cx="2512521" cy="1256260"/>
            </a:xfrm>
            <a:custGeom>
              <a:avLst/>
              <a:gdLst>
                <a:gd name="connsiteX0" fmla="*/ 0 w 2512521"/>
                <a:gd name="connsiteY0" fmla="*/ 209381 h 1256260"/>
                <a:gd name="connsiteX1" fmla="*/ 209381 w 2512521"/>
                <a:gd name="connsiteY1" fmla="*/ 0 h 1256260"/>
                <a:gd name="connsiteX2" fmla="*/ 2303140 w 2512521"/>
                <a:gd name="connsiteY2" fmla="*/ 0 h 1256260"/>
                <a:gd name="connsiteX3" fmla="*/ 2512521 w 2512521"/>
                <a:gd name="connsiteY3" fmla="*/ 209381 h 1256260"/>
                <a:gd name="connsiteX4" fmla="*/ 2512521 w 2512521"/>
                <a:gd name="connsiteY4" fmla="*/ 1046879 h 1256260"/>
                <a:gd name="connsiteX5" fmla="*/ 2303140 w 2512521"/>
                <a:gd name="connsiteY5" fmla="*/ 1256260 h 1256260"/>
                <a:gd name="connsiteX6" fmla="*/ 209381 w 2512521"/>
                <a:gd name="connsiteY6" fmla="*/ 1256260 h 1256260"/>
                <a:gd name="connsiteX7" fmla="*/ 0 w 2512521"/>
                <a:gd name="connsiteY7" fmla="*/ 1046879 h 1256260"/>
                <a:gd name="connsiteX8" fmla="*/ 0 w 2512521"/>
                <a:gd name="connsiteY8" fmla="*/ 209381 h 125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12521" h="1256260">
                  <a:moveTo>
                    <a:pt x="0" y="209381"/>
                  </a:moveTo>
                  <a:cubicBezTo>
                    <a:pt x="0" y="93743"/>
                    <a:pt x="93743" y="0"/>
                    <a:pt x="209381" y="0"/>
                  </a:cubicBezTo>
                  <a:lnTo>
                    <a:pt x="2303140" y="0"/>
                  </a:lnTo>
                  <a:cubicBezTo>
                    <a:pt x="2418778" y="0"/>
                    <a:pt x="2512521" y="93743"/>
                    <a:pt x="2512521" y="209381"/>
                  </a:cubicBezTo>
                  <a:lnTo>
                    <a:pt x="2512521" y="1046879"/>
                  </a:lnTo>
                  <a:cubicBezTo>
                    <a:pt x="2512521" y="1162517"/>
                    <a:pt x="2418778" y="1256260"/>
                    <a:pt x="2303140" y="1256260"/>
                  </a:cubicBezTo>
                  <a:lnTo>
                    <a:pt x="209381" y="1256260"/>
                  </a:lnTo>
                  <a:cubicBezTo>
                    <a:pt x="93743" y="1256260"/>
                    <a:pt x="0" y="1162517"/>
                    <a:pt x="0" y="1046879"/>
                  </a:cubicBezTo>
                  <a:lnTo>
                    <a:pt x="0" y="209381"/>
                  </a:lnTo>
                  <a:close/>
                </a:path>
              </a:pathLst>
            </a:custGeom>
            <a:solidFill>
              <a:srgbClr val="09253D"/>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18476" tIns="118476" rIns="118476" bIns="118476" numCol="1" spcCol="1270" anchor="ctr" anchorCtr="0">
              <a:noAutofit/>
            </a:bodyPr>
            <a:lstStyle/>
            <a:p>
              <a:pPr marL="0" lvl="0" indent="0" algn="ctr" defTabSz="666750">
                <a:lnSpc>
                  <a:spcPct val="90000"/>
                </a:lnSpc>
                <a:spcBef>
                  <a:spcPct val="0"/>
                </a:spcBef>
                <a:spcAft>
                  <a:spcPct val="35000"/>
                </a:spcAft>
                <a:buFont typeface="Arial" panose="020B0604020202020204" pitchFamily="34" charset="0"/>
                <a:buNone/>
              </a:pPr>
              <a:r>
                <a:rPr lang="fr-FR" sz="1600" kern="1200" dirty="0"/>
                <a:t>🛑 </a:t>
              </a:r>
              <a:r>
                <a:rPr lang="fr-FR" sz="1600" b="1" kern="1200" dirty="0">
                  <a:solidFill>
                    <a:srgbClr val="42C5A5"/>
                  </a:solidFill>
                </a:rPr>
                <a:t>Révocation</a:t>
              </a:r>
            </a:p>
            <a:p>
              <a:pPr marL="0" lvl="0" indent="0" algn="ctr" defTabSz="666750">
                <a:lnSpc>
                  <a:spcPct val="90000"/>
                </a:lnSpc>
                <a:spcBef>
                  <a:spcPct val="0"/>
                </a:spcBef>
                <a:spcAft>
                  <a:spcPct val="35000"/>
                </a:spcAft>
                <a:buFont typeface="Arial" panose="020B0604020202020204" pitchFamily="34" charset="0"/>
                <a:buNone/>
              </a:pPr>
              <a:r>
                <a:rPr lang="fr-FR" sz="1500" kern="1200" dirty="0"/>
                <a:t>Retrait de la confiance accordée au certificat</a:t>
              </a:r>
            </a:p>
          </p:txBody>
        </p:sp>
      </p:grpSp>
    </p:spTree>
    <p:extLst>
      <p:ext uri="{BB962C8B-B14F-4D97-AF65-F5344CB8AC3E}">
        <p14:creationId xmlns:p14="http://schemas.microsoft.com/office/powerpoint/2010/main" val="26153781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87F60-BB18-DE95-AA7D-4C1505A1A7B6}"/>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003CD9CF-BF60-AEB6-CC94-368880E931D9}"/>
              </a:ext>
            </a:extLst>
          </p:cNvPr>
          <p:cNvSpPr>
            <a:spLocks noGrp="1"/>
          </p:cNvSpPr>
          <p:nvPr>
            <p:ph type="title"/>
          </p:nvPr>
        </p:nvSpPr>
        <p:spPr>
          <a:xfrm>
            <a:off x="320724" y="344557"/>
            <a:ext cx="10356511" cy="496366"/>
          </a:xfrm>
        </p:spPr>
        <p:txBody>
          <a:bodyPr/>
          <a:lstStyle/>
          <a:p>
            <a:r>
              <a:rPr lang="fr-FR" dirty="0"/>
              <a:t>PKI – Public Key Infrastructure</a:t>
            </a:r>
          </a:p>
        </p:txBody>
      </p:sp>
      <p:sp>
        <p:nvSpPr>
          <p:cNvPr id="4" name="Sous-titre 3">
            <a:extLst>
              <a:ext uri="{FF2B5EF4-FFF2-40B4-BE49-F238E27FC236}">
                <a16:creationId xmlns:a16="http://schemas.microsoft.com/office/drawing/2014/main" id="{5EB6E6B0-9894-DA84-A720-D84289EF61E5}"/>
              </a:ext>
            </a:extLst>
          </p:cNvPr>
          <p:cNvSpPr>
            <a:spLocks noGrp="1"/>
          </p:cNvSpPr>
          <p:nvPr>
            <p:ph type="subTitle" idx="1"/>
          </p:nvPr>
        </p:nvSpPr>
        <p:spPr>
          <a:xfrm>
            <a:off x="488515" y="861170"/>
            <a:ext cx="8464099" cy="365125"/>
          </a:xfrm>
        </p:spPr>
        <p:txBody>
          <a:bodyPr>
            <a:normAutofit/>
          </a:bodyPr>
          <a:lstStyle/>
          <a:p>
            <a:r>
              <a:rPr lang="fr-FR" sz="2400" dirty="0"/>
              <a:t>Cycle de vie d’un certificat</a:t>
            </a:r>
          </a:p>
          <a:p>
            <a:endParaRPr lang="fr-FR" sz="2400" dirty="0"/>
          </a:p>
        </p:txBody>
      </p:sp>
      <p:sp>
        <p:nvSpPr>
          <p:cNvPr id="7" name="Espace réservé du texte 4">
            <a:extLst>
              <a:ext uri="{FF2B5EF4-FFF2-40B4-BE49-F238E27FC236}">
                <a16:creationId xmlns:a16="http://schemas.microsoft.com/office/drawing/2014/main" id="{728B0886-FEC6-251C-21CA-18D0DD9670BD}"/>
              </a:ext>
            </a:extLst>
          </p:cNvPr>
          <p:cNvSpPr>
            <a:spLocks noGrp="1"/>
          </p:cNvSpPr>
          <p:nvPr>
            <p:ph type="body" idx="13"/>
          </p:nvPr>
        </p:nvSpPr>
        <p:spPr>
          <a:xfrm>
            <a:off x="68581" y="1539240"/>
            <a:ext cx="5730239" cy="2598420"/>
          </a:xfrm>
        </p:spPr>
        <p:txBody>
          <a:bodyPr anchor="ctr">
            <a:normAutofit fontScale="55000" lnSpcReduction="20000"/>
          </a:bodyPr>
          <a:lstStyle/>
          <a:p>
            <a:r>
              <a:rPr lang="fr-FR" sz="3200" dirty="0">
                <a:solidFill>
                  <a:srgbClr val="09253D"/>
                </a:solidFill>
              </a:rPr>
              <a:t> 1 – Demande (CSR)</a:t>
            </a:r>
          </a:p>
          <a:p>
            <a:pPr marL="457200" indent="-457200">
              <a:buFont typeface="Arial" panose="020B0604020202020204" pitchFamily="34" charset="0"/>
              <a:buChar char="•"/>
            </a:pPr>
            <a:r>
              <a:rPr lang="fr-FR" sz="3300" dirty="0"/>
              <a:t>Le demandeur génère</a:t>
            </a:r>
          </a:p>
          <a:p>
            <a:pPr marL="914400" lvl="1" indent="-457200">
              <a:buFont typeface="Arial" panose="020B0604020202020204" pitchFamily="34" charset="0"/>
              <a:buChar char="•"/>
            </a:pPr>
            <a:r>
              <a:rPr lang="fr-FR" sz="2800" dirty="0"/>
              <a:t>Une </a:t>
            </a:r>
            <a:r>
              <a:rPr lang="fr-FR" sz="2800" dirty="0">
                <a:solidFill>
                  <a:srgbClr val="42C5A5"/>
                </a:solidFill>
              </a:rPr>
              <a:t>paire de clés (privée/publique)</a:t>
            </a:r>
          </a:p>
          <a:p>
            <a:pPr marL="914400" lvl="1" indent="-457200">
              <a:buFont typeface="Arial" panose="020B0604020202020204" pitchFamily="34" charset="0"/>
              <a:buChar char="•"/>
            </a:pPr>
            <a:r>
              <a:rPr lang="fr-FR" sz="2800" dirty="0"/>
              <a:t>Une </a:t>
            </a:r>
            <a:r>
              <a:rPr lang="fr-FR" sz="2800" dirty="0">
                <a:solidFill>
                  <a:srgbClr val="42C5A5"/>
                </a:solidFill>
              </a:rPr>
              <a:t>CSR (</a:t>
            </a:r>
            <a:r>
              <a:rPr lang="fr-FR" sz="2800" dirty="0" err="1">
                <a:solidFill>
                  <a:srgbClr val="42C5A5"/>
                </a:solidFill>
              </a:rPr>
              <a:t>Certificate</a:t>
            </a:r>
            <a:r>
              <a:rPr lang="fr-FR" sz="2800" dirty="0">
                <a:solidFill>
                  <a:srgbClr val="42C5A5"/>
                </a:solidFill>
              </a:rPr>
              <a:t> </a:t>
            </a:r>
            <a:r>
              <a:rPr lang="fr-FR" sz="2800" dirty="0" err="1">
                <a:solidFill>
                  <a:srgbClr val="42C5A5"/>
                </a:solidFill>
              </a:rPr>
              <a:t>Signing</a:t>
            </a:r>
            <a:r>
              <a:rPr lang="fr-FR" sz="2800" dirty="0">
                <a:solidFill>
                  <a:srgbClr val="42C5A5"/>
                </a:solidFill>
              </a:rPr>
              <a:t> </a:t>
            </a:r>
            <a:r>
              <a:rPr lang="fr-FR" sz="2800" dirty="0" err="1">
                <a:solidFill>
                  <a:srgbClr val="42C5A5"/>
                </a:solidFill>
              </a:rPr>
              <a:t>Request</a:t>
            </a:r>
            <a:r>
              <a:rPr lang="fr-FR" sz="2800" dirty="0">
                <a:solidFill>
                  <a:srgbClr val="42C5A5"/>
                </a:solidFill>
              </a:rPr>
              <a:t>)</a:t>
            </a:r>
          </a:p>
          <a:p>
            <a:pPr marL="1371600" lvl="2" indent="-457200">
              <a:buFont typeface="Arial" panose="020B0604020202020204" pitchFamily="34" charset="0"/>
              <a:buChar char="•"/>
            </a:pPr>
            <a:r>
              <a:rPr lang="fr-FR" sz="2600" dirty="0"/>
              <a:t>Demande de signature de certificat transmise à une Autorité de Certification (CA)</a:t>
            </a:r>
          </a:p>
          <a:p>
            <a:pPr marL="1371600" lvl="2" indent="-457200">
              <a:buFont typeface="Arial" panose="020B0604020202020204" pitchFamily="34" charset="0"/>
              <a:buChar char="•"/>
            </a:pPr>
            <a:r>
              <a:rPr lang="fr-FR" sz="2600" dirty="0"/>
              <a:t>Elle contient</a:t>
            </a:r>
          </a:p>
          <a:p>
            <a:pPr marL="1828800" lvl="3" indent="-457200">
              <a:buFont typeface="Arial" panose="020B0604020202020204" pitchFamily="34" charset="0"/>
              <a:buChar char="•"/>
            </a:pPr>
            <a:r>
              <a:rPr lang="fr-FR" sz="2400" dirty="0"/>
              <a:t>La clé publique du demandeur</a:t>
            </a:r>
          </a:p>
          <a:p>
            <a:pPr marL="1828800" lvl="3" indent="-457200">
              <a:buFont typeface="Arial" panose="020B0604020202020204" pitchFamily="34" charset="0"/>
              <a:buChar char="•"/>
            </a:pPr>
            <a:r>
              <a:rPr lang="fr-FR" sz="2400" dirty="0"/>
              <a:t>Les informations d'identité (nom, organisation, domaine, etc.)</a:t>
            </a:r>
          </a:p>
          <a:p>
            <a:pPr marL="1828800" lvl="3" indent="-457200">
              <a:buFont typeface="Arial" panose="020B0604020202020204" pitchFamily="34" charset="0"/>
              <a:buChar char="•"/>
            </a:pPr>
            <a:r>
              <a:rPr lang="fr-FR" sz="2400" dirty="0"/>
              <a:t>Les usages souhaités du certificat (extensions)</a:t>
            </a:r>
          </a:p>
        </p:txBody>
      </p:sp>
      <p:sp>
        <p:nvSpPr>
          <p:cNvPr id="8" name="Espace réservé du texte 4">
            <a:extLst>
              <a:ext uri="{FF2B5EF4-FFF2-40B4-BE49-F238E27FC236}">
                <a16:creationId xmlns:a16="http://schemas.microsoft.com/office/drawing/2014/main" id="{D3D65763-E164-2A4A-429D-35AF620D24A2}"/>
              </a:ext>
            </a:extLst>
          </p:cNvPr>
          <p:cNvSpPr txBox="1">
            <a:spLocks/>
          </p:cNvSpPr>
          <p:nvPr/>
        </p:nvSpPr>
        <p:spPr>
          <a:xfrm>
            <a:off x="5797934" y="1632548"/>
            <a:ext cx="6309360" cy="1920264"/>
          </a:xfrm>
          <a:prstGeom prst="rect">
            <a:avLst/>
          </a:prstGeom>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fr-FR" sz="1800" dirty="0">
                <a:solidFill>
                  <a:srgbClr val="09253D"/>
                </a:solidFill>
              </a:rPr>
              <a:t> 2 – Signature et transmission</a:t>
            </a:r>
            <a:endParaRPr lang="fr-FR" sz="1800" dirty="0"/>
          </a:p>
          <a:p>
            <a:pPr marL="457200" indent="-457200">
              <a:buFont typeface="Arial" panose="020B0604020202020204" pitchFamily="34" charset="0"/>
              <a:buChar char="•"/>
            </a:pPr>
            <a:r>
              <a:rPr lang="fr-FR" sz="1400" dirty="0"/>
              <a:t>La CSR est signée avec la clé privée du demandeur pour prouver qu’il en est bien le détenteur </a:t>
            </a:r>
          </a:p>
          <a:p>
            <a:pPr marL="457200" indent="-457200">
              <a:buFont typeface="Arial" panose="020B0604020202020204" pitchFamily="34" charset="0"/>
              <a:buChar char="•"/>
            </a:pPr>
            <a:r>
              <a:rPr lang="fr-FR" sz="1400" dirty="0"/>
              <a:t>La CSR est transmise à</a:t>
            </a:r>
          </a:p>
          <a:p>
            <a:pPr marL="971550" lvl="1" indent="-514350">
              <a:buFont typeface="+mj-lt"/>
              <a:buAutoNum type="arabicPeriod"/>
            </a:pPr>
            <a:r>
              <a:rPr lang="fr-FR" sz="1400" dirty="0"/>
              <a:t>À l’autorité d’enregistrement (RA) pour vérification de l’identité du demandeur</a:t>
            </a:r>
          </a:p>
          <a:p>
            <a:pPr marL="971550" lvl="1" indent="-514350">
              <a:buFont typeface="+mj-lt"/>
              <a:buAutoNum type="arabicPeriod"/>
            </a:pPr>
            <a:r>
              <a:rPr lang="fr-FR" sz="1400" dirty="0"/>
              <a:t>À l’autorité de certification (CA) pour émission et signature du certificat</a:t>
            </a:r>
          </a:p>
        </p:txBody>
      </p:sp>
      <p:graphicFrame>
        <p:nvGraphicFramePr>
          <p:cNvPr id="2" name="Objet 1">
            <a:extLst>
              <a:ext uri="{FF2B5EF4-FFF2-40B4-BE49-F238E27FC236}">
                <a16:creationId xmlns:a16="http://schemas.microsoft.com/office/drawing/2014/main" id="{E7244FF0-46DA-1B75-AFD9-3A236416762B}"/>
              </a:ext>
            </a:extLst>
          </p:cNvPr>
          <p:cNvGraphicFramePr>
            <a:graphicFrameLocks noChangeAspect="1"/>
          </p:cNvGraphicFramePr>
          <p:nvPr>
            <p:extLst>
              <p:ext uri="{D42A27DB-BD31-4B8C-83A1-F6EECF244321}">
                <p14:modId xmlns:p14="http://schemas.microsoft.com/office/powerpoint/2010/main" val="3919677284"/>
              </p:ext>
            </p:extLst>
          </p:nvPr>
        </p:nvGraphicFramePr>
        <p:xfrm>
          <a:off x="982002" y="4137659"/>
          <a:ext cx="3903396" cy="2432686"/>
        </p:xfrm>
        <a:graphic>
          <a:graphicData uri="http://schemas.openxmlformats.org/presentationml/2006/ole">
            <mc:AlternateContent xmlns:mc="http://schemas.openxmlformats.org/markup-compatibility/2006">
              <mc:Choice xmlns:v="urn:schemas-microsoft-com:vml" Requires="v">
                <p:oleObj r:id="rId3" imgW="6029167" imgH="3757242" progId="">
                  <p:embed/>
                </p:oleObj>
              </mc:Choice>
              <mc:Fallback>
                <p:oleObj r:id="rId3" imgW="6029167" imgH="3757242" progId="">
                  <p:embed/>
                  <p:pic>
                    <p:nvPicPr>
                      <p:cNvPr id="2" name="Objet 1">
                        <a:extLst>
                          <a:ext uri="{FF2B5EF4-FFF2-40B4-BE49-F238E27FC236}">
                            <a16:creationId xmlns:a16="http://schemas.microsoft.com/office/drawing/2014/main" id="{E7244FF0-46DA-1B75-AFD9-3A236416762B}"/>
                          </a:ext>
                        </a:extLst>
                      </p:cNvPr>
                      <p:cNvPicPr/>
                      <p:nvPr/>
                    </p:nvPicPr>
                    <p:blipFill>
                      <a:blip r:embed="rId4"/>
                      <a:stretch>
                        <a:fillRect/>
                      </a:stretch>
                    </p:blipFill>
                    <p:spPr>
                      <a:xfrm>
                        <a:off x="982002" y="4137659"/>
                        <a:ext cx="3903396" cy="2432686"/>
                      </a:xfrm>
                      <a:prstGeom prst="rect">
                        <a:avLst/>
                      </a:prstGeom>
                    </p:spPr>
                  </p:pic>
                </p:oleObj>
              </mc:Fallback>
            </mc:AlternateContent>
          </a:graphicData>
        </a:graphic>
      </p:graphicFrame>
      <p:graphicFrame>
        <p:nvGraphicFramePr>
          <p:cNvPr id="9" name="Objet 8">
            <a:extLst>
              <a:ext uri="{FF2B5EF4-FFF2-40B4-BE49-F238E27FC236}">
                <a16:creationId xmlns:a16="http://schemas.microsoft.com/office/drawing/2014/main" id="{CEED8271-834F-F4DE-6F38-C0C29CC401F2}"/>
              </a:ext>
            </a:extLst>
          </p:cNvPr>
          <p:cNvGraphicFramePr>
            <a:graphicFrameLocks noChangeAspect="1"/>
          </p:cNvGraphicFramePr>
          <p:nvPr>
            <p:extLst>
              <p:ext uri="{D42A27DB-BD31-4B8C-83A1-F6EECF244321}">
                <p14:modId xmlns:p14="http://schemas.microsoft.com/office/powerpoint/2010/main" val="2793796262"/>
              </p:ext>
            </p:extLst>
          </p:nvPr>
        </p:nvGraphicFramePr>
        <p:xfrm>
          <a:off x="7286625" y="4414838"/>
          <a:ext cx="3330575" cy="1998662"/>
        </p:xfrm>
        <a:graphic>
          <a:graphicData uri="http://schemas.openxmlformats.org/presentationml/2006/ole">
            <mc:AlternateContent xmlns:mc="http://schemas.openxmlformats.org/markup-compatibility/2006">
              <mc:Choice xmlns:v="urn:schemas-microsoft-com:vml" Requires="v">
                <p:oleObj r:id="rId5" imgW="5144133" imgH="3086480" progId="">
                  <p:embed/>
                </p:oleObj>
              </mc:Choice>
              <mc:Fallback>
                <p:oleObj r:id="rId5" imgW="5144133" imgH="3086480" progId="">
                  <p:embed/>
                  <p:pic>
                    <p:nvPicPr>
                      <p:cNvPr id="9" name="Objet 8">
                        <a:extLst>
                          <a:ext uri="{FF2B5EF4-FFF2-40B4-BE49-F238E27FC236}">
                            <a16:creationId xmlns:a16="http://schemas.microsoft.com/office/drawing/2014/main" id="{CEED8271-834F-F4DE-6F38-C0C29CC401F2}"/>
                          </a:ext>
                        </a:extLst>
                      </p:cNvPr>
                      <p:cNvPicPr/>
                      <p:nvPr/>
                    </p:nvPicPr>
                    <p:blipFill>
                      <a:blip r:embed="rId6"/>
                      <a:stretch>
                        <a:fillRect/>
                      </a:stretch>
                    </p:blipFill>
                    <p:spPr>
                      <a:xfrm>
                        <a:off x="7286625" y="4414838"/>
                        <a:ext cx="3330575" cy="1998662"/>
                      </a:xfrm>
                      <a:prstGeom prst="rect">
                        <a:avLst/>
                      </a:prstGeom>
                    </p:spPr>
                  </p:pic>
                </p:oleObj>
              </mc:Fallback>
            </mc:AlternateContent>
          </a:graphicData>
        </a:graphic>
      </p:graphicFrame>
      <p:cxnSp>
        <p:nvCxnSpPr>
          <p:cNvPr id="12" name="Connecteur droit 11">
            <a:extLst>
              <a:ext uri="{FF2B5EF4-FFF2-40B4-BE49-F238E27FC236}">
                <a16:creationId xmlns:a16="http://schemas.microsoft.com/office/drawing/2014/main" id="{EB89AEDE-8149-B99B-707D-2FE34C242A82}"/>
              </a:ext>
            </a:extLst>
          </p:cNvPr>
          <p:cNvCxnSpPr/>
          <p:nvPr/>
        </p:nvCxnSpPr>
        <p:spPr>
          <a:xfrm>
            <a:off x="5498979" y="1632548"/>
            <a:ext cx="0" cy="4882552"/>
          </a:xfrm>
          <a:prstGeom prst="line">
            <a:avLst/>
          </a:prstGeom>
          <a:ln w="38100">
            <a:solidFill>
              <a:srgbClr val="09253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49816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BD0B8-D1EC-EB4E-17AB-78B19CB0C180}"/>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83610E4B-DF37-15A9-A11C-43506A0E1C8B}"/>
              </a:ext>
            </a:extLst>
          </p:cNvPr>
          <p:cNvSpPr>
            <a:spLocks noGrp="1"/>
          </p:cNvSpPr>
          <p:nvPr>
            <p:ph type="title"/>
          </p:nvPr>
        </p:nvSpPr>
        <p:spPr>
          <a:xfrm>
            <a:off x="320724" y="344557"/>
            <a:ext cx="10356511" cy="496366"/>
          </a:xfrm>
        </p:spPr>
        <p:txBody>
          <a:bodyPr/>
          <a:lstStyle/>
          <a:p>
            <a:r>
              <a:rPr lang="fr-FR" dirty="0"/>
              <a:t>PKI – Public Key Infrastructure</a:t>
            </a:r>
          </a:p>
        </p:txBody>
      </p:sp>
      <p:sp>
        <p:nvSpPr>
          <p:cNvPr id="4" name="Sous-titre 3">
            <a:extLst>
              <a:ext uri="{FF2B5EF4-FFF2-40B4-BE49-F238E27FC236}">
                <a16:creationId xmlns:a16="http://schemas.microsoft.com/office/drawing/2014/main" id="{5DE8CCF8-7AD3-8064-4E3F-FB4742B4730E}"/>
              </a:ext>
            </a:extLst>
          </p:cNvPr>
          <p:cNvSpPr>
            <a:spLocks noGrp="1"/>
          </p:cNvSpPr>
          <p:nvPr>
            <p:ph type="subTitle" idx="1"/>
          </p:nvPr>
        </p:nvSpPr>
        <p:spPr>
          <a:xfrm>
            <a:off x="488515" y="861170"/>
            <a:ext cx="8464099" cy="365125"/>
          </a:xfrm>
        </p:spPr>
        <p:txBody>
          <a:bodyPr>
            <a:normAutofit/>
          </a:bodyPr>
          <a:lstStyle/>
          <a:p>
            <a:r>
              <a:rPr lang="fr-FR" dirty="0"/>
              <a:t>Cycle de vie d’un certificat</a:t>
            </a:r>
          </a:p>
        </p:txBody>
      </p:sp>
      <p:sp>
        <p:nvSpPr>
          <p:cNvPr id="7" name="Espace réservé du texte 4">
            <a:extLst>
              <a:ext uri="{FF2B5EF4-FFF2-40B4-BE49-F238E27FC236}">
                <a16:creationId xmlns:a16="http://schemas.microsoft.com/office/drawing/2014/main" id="{E133F121-6A0F-D562-3982-39BFDC7C288F}"/>
              </a:ext>
            </a:extLst>
          </p:cNvPr>
          <p:cNvSpPr>
            <a:spLocks noGrp="1"/>
          </p:cNvSpPr>
          <p:nvPr>
            <p:ph type="body" idx="13"/>
          </p:nvPr>
        </p:nvSpPr>
        <p:spPr>
          <a:xfrm>
            <a:off x="522605" y="1743393"/>
            <a:ext cx="6604575" cy="4924107"/>
          </a:xfrm>
        </p:spPr>
        <p:txBody>
          <a:bodyPr anchor="ctr">
            <a:normAutofit fontScale="85000" lnSpcReduction="10000"/>
          </a:bodyPr>
          <a:lstStyle/>
          <a:p>
            <a:r>
              <a:rPr lang="fr-FR" sz="3200" dirty="0">
                <a:solidFill>
                  <a:srgbClr val="09253D"/>
                </a:solidFill>
              </a:rPr>
              <a:t>3 – Émission et signature du certificat</a:t>
            </a:r>
          </a:p>
          <a:p>
            <a:pPr marL="457200" indent="-457200">
              <a:buFont typeface="Arial" panose="020B0604020202020204" pitchFamily="34" charset="0"/>
              <a:buChar char="•"/>
            </a:pPr>
            <a:r>
              <a:rPr lang="fr-FR" sz="3200" dirty="0"/>
              <a:t>Après validation de la RA, la CA</a:t>
            </a:r>
          </a:p>
          <a:p>
            <a:pPr marL="914400" lvl="1" indent="-457200">
              <a:buFont typeface="Arial" panose="020B0604020202020204" pitchFamily="34" charset="0"/>
              <a:buChar char="•"/>
            </a:pPr>
            <a:r>
              <a:rPr lang="fr-FR" sz="2800" dirty="0"/>
              <a:t>Émet le certificat (format X.509)</a:t>
            </a:r>
          </a:p>
          <a:p>
            <a:pPr marL="914400" lvl="1" indent="-457200">
              <a:buFont typeface="Arial" panose="020B0604020202020204" pitchFamily="34" charset="0"/>
              <a:buChar char="•"/>
            </a:pPr>
            <a:r>
              <a:rPr lang="fr-FR" sz="2800" dirty="0"/>
              <a:t>Signe le certificat avec sa propre clé privée</a:t>
            </a:r>
          </a:p>
          <a:p>
            <a:pPr marL="457200" indent="-457200">
              <a:buFont typeface="Arial" panose="020B0604020202020204" pitchFamily="34" charset="0"/>
              <a:buChar char="•"/>
            </a:pPr>
            <a:r>
              <a:rPr lang="fr-FR" sz="3200" dirty="0"/>
              <a:t>Le certificat final contient</a:t>
            </a:r>
          </a:p>
          <a:p>
            <a:pPr marL="914400" lvl="1" indent="-457200">
              <a:buFont typeface="Arial" panose="020B0604020202020204" pitchFamily="34" charset="0"/>
              <a:buChar char="•"/>
            </a:pPr>
            <a:r>
              <a:rPr lang="fr-FR" sz="2800" dirty="0"/>
              <a:t>Les infos du demandeur</a:t>
            </a:r>
          </a:p>
          <a:p>
            <a:pPr marL="914400" lvl="1" indent="-457200">
              <a:buFont typeface="Arial" panose="020B0604020202020204" pitchFamily="34" charset="0"/>
              <a:buChar char="•"/>
            </a:pPr>
            <a:r>
              <a:rPr lang="fr-FR" sz="2800" dirty="0"/>
              <a:t>La clé publique du demandeur</a:t>
            </a:r>
          </a:p>
          <a:p>
            <a:pPr marL="914400" lvl="1" indent="-457200">
              <a:buFont typeface="Arial" panose="020B0604020202020204" pitchFamily="34" charset="0"/>
              <a:buChar char="•"/>
            </a:pPr>
            <a:r>
              <a:rPr lang="fr-FR" sz="2800" dirty="0"/>
              <a:t>La signature de la CA</a:t>
            </a:r>
          </a:p>
          <a:p>
            <a:pPr marL="914400" lvl="1" indent="-457200">
              <a:buFont typeface="Arial" panose="020B0604020202020204" pitchFamily="34" charset="0"/>
              <a:buChar char="•"/>
            </a:pPr>
            <a:r>
              <a:rPr lang="fr-FR" sz="2800" dirty="0"/>
              <a:t>La période de validité</a:t>
            </a:r>
          </a:p>
          <a:p>
            <a:pPr marL="914400" lvl="1" indent="-457200">
              <a:buFont typeface="Arial" panose="020B0604020202020204" pitchFamily="34" charset="0"/>
              <a:buChar char="•"/>
            </a:pPr>
            <a:r>
              <a:rPr lang="fr-FR" sz="2800" dirty="0"/>
              <a:t>Les usages autorisés (TLS, code </a:t>
            </a:r>
            <a:r>
              <a:rPr lang="fr-FR" sz="2800" dirty="0" err="1"/>
              <a:t>signing</a:t>
            </a:r>
            <a:r>
              <a:rPr lang="fr-FR" sz="2800" dirty="0"/>
              <a:t>, etc.)</a:t>
            </a:r>
          </a:p>
          <a:p>
            <a:pPr marL="457200" indent="-457200">
              <a:buFont typeface="Arial" panose="020B0604020202020204" pitchFamily="34" charset="0"/>
              <a:buChar char="•"/>
            </a:pPr>
            <a:r>
              <a:rPr lang="fr-FR" sz="3200" dirty="0"/>
              <a:t>Le certificat est ensuite délivré au demandeur et peut être publié</a:t>
            </a:r>
            <a:endParaRPr lang="fr-FR" sz="2600" dirty="0"/>
          </a:p>
        </p:txBody>
      </p:sp>
      <p:graphicFrame>
        <p:nvGraphicFramePr>
          <p:cNvPr id="2" name="Objet 1">
            <a:extLst>
              <a:ext uri="{FF2B5EF4-FFF2-40B4-BE49-F238E27FC236}">
                <a16:creationId xmlns:a16="http://schemas.microsoft.com/office/drawing/2014/main" id="{FBDB5E1D-0023-32A3-6EF8-52BFD29F2C3C}"/>
              </a:ext>
            </a:extLst>
          </p:cNvPr>
          <p:cNvGraphicFramePr>
            <a:graphicFrameLocks noChangeAspect="1"/>
          </p:cNvGraphicFramePr>
          <p:nvPr>
            <p:extLst>
              <p:ext uri="{D42A27DB-BD31-4B8C-83A1-F6EECF244321}">
                <p14:modId xmlns:p14="http://schemas.microsoft.com/office/powerpoint/2010/main" val="3393598419"/>
              </p:ext>
            </p:extLst>
          </p:nvPr>
        </p:nvGraphicFramePr>
        <p:xfrm>
          <a:off x="7002779" y="2674271"/>
          <a:ext cx="4940935" cy="3062350"/>
        </p:xfrm>
        <a:graphic>
          <a:graphicData uri="http://schemas.openxmlformats.org/presentationml/2006/ole">
            <mc:AlternateContent xmlns:mc="http://schemas.openxmlformats.org/markup-compatibility/2006">
              <mc:Choice xmlns:v="urn:schemas-microsoft-com:vml" Requires="v">
                <p:oleObj r:id="rId3" imgW="5485995" imgH="3400393" progId="">
                  <p:embed/>
                </p:oleObj>
              </mc:Choice>
              <mc:Fallback>
                <p:oleObj r:id="rId3" imgW="5485995" imgH="3400393" progId="">
                  <p:embed/>
                  <p:pic>
                    <p:nvPicPr>
                      <p:cNvPr id="2" name="Objet 1">
                        <a:extLst>
                          <a:ext uri="{FF2B5EF4-FFF2-40B4-BE49-F238E27FC236}">
                            <a16:creationId xmlns:a16="http://schemas.microsoft.com/office/drawing/2014/main" id="{FBDB5E1D-0023-32A3-6EF8-52BFD29F2C3C}"/>
                          </a:ext>
                        </a:extLst>
                      </p:cNvPr>
                      <p:cNvPicPr/>
                      <p:nvPr/>
                    </p:nvPicPr>
                    <p:blipFill>
                      <a:blip r:embed="rId4"/>
                      <a:stretch>
                        <a:fillRect/>
                      </a:stretch>
                    </p:blipFill>
                    <p:spPr>
                      <a:xfrm>
                        <a:off x="7002779" y="2674271"/>
                        <a:ext cx="4940935" cy="3062350"/>
                      </a:xfrm>
                      <a:prstGeom prst="rect">
                        <a:avLst/>
                      </a:prstGeom>
                    </p:spPr>
                  </p:pic>
                </p:oleObj>
              </mc:Fallback>
            </mc:AlternateContent>
          </a:graphicData>
        </a:graphic>
      </p:graphicFrame>
    </p:spTree>
    <p:extLst>
      <p:ext uri="{BB962C8B-B14F-4D97-AF65-F5344CB8AC3E}">
        <p14:creationId xmlns:p14="http://schemas.microsoft.com/office/powerpoint/2010/main" val="31279806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946FF-2E95-F684-3F0E-FC2E24786C63}"/>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FC6E784B-0A0F-011B-3D6F-6D71A6F9F948}"/>
              </a:ext>
            </a:extLst>
          </p:cNvPr>
          <p:cNvSpPr>
            <a:spLocks noGrp="1"/>
          </p:cNvSpPr>
          <p:nvPr>
            <p:ph type="title"/>
          </p:nvPr>
        </p:nvSpPr>
        <p:spPr>
          <a:xfrm>
            <a:off x="320724" y="344557"/>
            <a:ext cx="10356511" cy="496366"/>
          </a:xfrm>
        </p:spPr>
        <p:txBody>
          <a:bodyPr/>
          <a:lstStyle/>
          <a:p>
            <a:r>
              <a:rPr lang="fr-FR" dirty="0"/>
              <a:t>PKI – Public Key Infrastructure</a:t>
            </a:r>
          </a:p>
        </p:txBody>
      </p:sp>
      <p:sp>
        <p:nvSpPr>
          <p:cNvPr id="4" name="Sous-titre 3">
            <a:extLst>
              <a:ext uri="{FF2B5EF4-FFF2-40B4-BE49-F238E27FC236}">
                <a16:creationId xmlns:a16="http://schemas.microsoft.com/office/drawing/2014/main" id="{A0EBD6F0-BA3E-F3C5-7E80-CB3F03336E60}"/>
              </a:ext>
            </a:extLst>
          </p:cNvPr>
          <p:cNvSpPr>
            <a:spLocks noGrp="1"/>
          </p:cNvSpPr>
          <p:nvPr>
            <p:ph type="subTitle" idx="1"/>
          </p:nvPr>
        </p:nvSpPr>
        <p:spPr>
          <a:xfrm>
            <a:off x="488515" y="861170"/>
            <a:ext cx="8464099" cy="365125"/>
          </a:xfrm>
        </p:spPr>
        <p:txBody>
          <a:bodyPr>
            <a:normAutofit/>
          </a:bodyPr>
          <a:lstStyle/>
          <a:p>
            <a:r>
              <a:rPr lang="fr-FR" dirty="0"/>
              <a:t>Cycle de vie d’un certificat</a:t>
            </a:r>
          </a:p>
        </p:txBody>
      </p:sp>
      <p:sp>
        <p:nvSpPr>
          <p:cNvPr id="7" name="Espace réservé du texte 4">
            <a:extLst>
              <a:ext uri="{FF2B5EF4-FFF2-40B4-BE49-F238E27FC236}">
                <a16:creationId xmlns:a16="http://schemas.microsoft.com/office/drawing/2014/main" id="{24951ECF-B726-97C9-BCB5-108388CD3355}"/>
              </a:ext>
            </a:extLst>
          </p:cNvPr>
          <p:cNvSpPr>
            <a:spLocks noGrp="1"/>
          </p:cNvSpPr>
          <p:nvPr>
            <p:ph type="body" idx="13"/>
          </p:nvPr>
        </p:nvSpPr>
        <p:spPr>
          <a:xfrm>
            <a:off x="3362057" y="1709017"/>
            <a:ext cx="8557895" cy="4924107"/>
          </a:xfrm>
        </p:spPr>
        <p:txBody>
          <a:bodyPr anchor="ctr">
            <a:normAutofit fontScale="92500" lnSpcReduction="10000"/>
          </a:bodyPr>
          <a:lstStyle/>
          <a:p>
            <a:r>
              <a:rPr lang="fr-FR" sz="3200" dirty="0">
                <a:solidFill>
                  <a:srgbClr val="09253D"/>
                </a:solidFill>
              </a:rPr>
              <a:t> 4 – Révocation du certificat</a:t>
            </a:r>
          </a:p>
          <a:p>
            <a:pPr marL="457200" indent="-457200">
              <a:buFont typeface="Arial" panose="020B0604020202020204" pitchFamily="34" charset="0"/>
              <a:buChar char="•"/>
            </a:pPr>
            <a:r>
              <a:rPr lang="fr-FR" sz="3200" dirty="0"/>
              <a:t>Un certificat peut être révoqué avant sa date d’expiration s’il est</a:t>
            </a:r>
          </a:p>
          <a:p>
            <a:pPr marL="914400" lvl="1" indent="-457200">
              <a:buFont typeface="Arial" panose="020B0604020202020204" pitchFamily="34" charset="0"/>
              <a:buChar char="•"/>
            </a:pPr>
            <a:r>
              <a:rPr lang="fr-FR" sz="2800" dirty="0"/>
              <a:t>Compromis (clé privée volée)</a:t>
            </a:r>
          </a:p>
          <a:p>
            <a:pPr marL="914400" lvl="1" indent="-457200">
              <a:buFont typeface="Arial" panose="020B0604020202020204" pitchFamily="34" charset="0"/>
              <a:buChar char="•"/>
            </a:pPr>
            <a:r>
              <a:rPr lang="fr-FR" sz="2800" dirty="0"/>
              <a:t>Obsolète ou incorrect</a:t>
            </a:r>
          </a:p>
          <a:p>
            <a:pPr marL="914400" lvl="1" indent="-457200">
              <a:buFont typeface="Arial" panose="020B0604020202020204" pitchFamily="34" charset="0"/>
              <a:buChar char="•"/>
            </a:pPr>
            <a:r>
              <a:rPr lang="fr-FR" sz="2800" dirty="0"/>
              <a:t>Inutile (plus utilisé avant sa date d’expiration)</a:t>
            </a:r>
          </a:p>
          <a:p>
            <a:pPr marL="457200" indent="-457200">
              <a:buFont typeface="Arial" panose="020B0604020202020204" pitchFamily="34" charset="0"/>
              <a:buChar char="•"/>
            </a:pPr>
            <a:r>
              <a:rPr lang="fr-FR" sz="3200" dirty="0"/>
              <a:t>La révocation peut être publiée via </a:t>
            </a:r>
          </a:p>
          <a:p>
            <a:pPr marL="914400" lvl="1" indent="-457200">
              <a:buFont typeface="Arial" panose="020B0604020202020204" pitchFamily="34" charset="0"/>
              <a:buChar char="•"/>
            </a:pPr>
            <a:r>
              <a:rPr lang="fr-FR" sz="2800" dirty="0"/>
              <a:t>Une CRL (</a:t>
            </a:r>
            <a:r>
              <a:rPr lang="fr-FR" sz="2800" dirty="0" err="1"/>
              <a:t>Certificate</a:t>
            </a:r>
            <a:r>
              <a:rPr lang="fr-FR" sz="2800" dirty="0"/>
              <a:t> </a:t>
            </a:r>
            <a:r>
              <a:rPr lang="fr-FR" sz="2800" dirty="0" err="1"/>
              <a:t>Revocation</a:t>
            </a:r>
            <a:r>
              <a:rPr lang="fr-FR" sz="2800" dirty="0"/>
              <a:t> List)</a:t>
            </a:r>
          </a:p>
          <a:p>
            <a:pPr marL="914400" lvl="1" indent="-457200">
              <a:buFont typeface="Arial" panose="020B0604020202020204" pitchFamily="34" charset="0"/>
              <a:buChar char="•"/>
            </a:pPr>
            <a:r>
              <a:rPr lang="fr-FR" sz="2800" dirty="0"/>
              <a:t>Un serveur OCSP (Online </a:t>
            </a:r>
            <a:r>
              <a:rPr lang="fr-FR" sz="2800" dirty="0" err="1"/>
              <a:t>Certificate</a:t>
            </a:r>
            <a:r>
              <a:rPr lang="fr-FR" sz="2800" dirty="0"/>
              <a:t> </a:t>
            </a:r>
            <a:r>
              <a:rPr lang="fr-FR" sz="2800" dirty="0" err="1"/>
              <a:t>Status</a:t>
            </a:r>
            <a:r>
              <a:rPr lang="fr-FR" sz="2800" dirty="0"/>
              <a:t> Protocol)</a:t>
            </a:r>
          </a:p>
          <a:p>
            <a:pPr marL="457200" indent="-457200">
              <a:buFont typeface="Arial" panose="020B0604020202020204" pitchFamily="34" charset="0"/>
              <a:buChar char="•"/>
            </a:pPr>
            <a:r>
              <a:rPr lang="fr-FR" sz="3200" dirty="0"/>
              <a:t>Les clients doivent vérifier le statut des certificats avant de leur faire confiance</a:t>
            </a:r>
          </a:p>
        </p:txBody>
      </p:sp>
      <p:pic>
        <p:nvPicPr>
          <p:cNvPr id="5" name="Image 4">
            <a:extLst>
              <a:ext uri="{FF2B5EF4-FFF2-40B4-BE49-F238E27FC236}">
                <a16:creationId xmlns:a16="http://schemas.microsoft.com/office/drawing/2014/main" id="{F3DC85E9-23CB-9DA8-68EC-208D23E5F713}"/>
              </a:ext>
            </a:extLst>
          </p:cNvPr>
          <p:cNvPicPr>
            <a:picLocks noChangeAspect="1"/>
          </p:cNvPicPr>
          <p:nvPr/>
        </p:nvPicPr>
        <p:blipFill>
          <a:blip r:embed="rId3"/>
          <a:srcRect l="41872"/>
          <a:stretch>
            <a:fillRect/>
          </a:stretch>
        </p:blipFill>
        <p:spPr>
          <a:xfrm>
            <a:off x="0" y="1654955"/>
            <a:ext cx="2673274" cy="4978169"/>
          </a:xfrm>
          <a:prstGeom prst="rect">
            <a:avLst/>
          </a:prstGeom>
        </p:spPr>
      </p:pic>
    </p:spTree>
    <p:extLst>
      <p:ext uri="{BB962C8B-B14F-4D97-AF65-F5344CB8AC3E}">
        <p14:creationId xmlns:p14="http://schemas.microsoft.com/office/powerpoint/2010/main" val="12259454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97D77-D618-A841-90BE-F498CE31D280}"/>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78DC2EEE-8996-4B43-6FA8-2B2D1AD23696}"/>
              </a:ext>
            </a:extLst>
          </p:cNvPr>
          <p:cNvSpPr>
            <a:spLocks noGrp="1"/>
          </p:cNvSpPr>
          <p:nvPr>
            <p:ph type="title"/>
          </p:nvPr>
        </p:nvSpPr>
        <p:spPr>
          <a:xfrm>
            <a:off x="122881" y="559838"/>
            <a:ext cx="3814549" cy="594988"/>
          </a:xfrm>
        </p:spPr>
        <p:txBody>
          <a:bodyPr/>
          <a:lstStyle/>
          <a:p>
            <a:r>
              <a:rPr lang="fr-FR" sz="4800" dirty="0"/>
              <a:t>PKI</a:t>
            </a:r>
          </a:p>
        </p:txBody>
      </p:sp>
      <p:sp>
        <p:nvSpPr>
          <p:cNvPr id="4" name="Sous-titre 3">
            <a:extLst>
              <a:ext uri="{FF2B5EF4-FFF2-40B4-BE49-F238E27FC236}">
                <a16:creationId xmlns:a16="http://schemas.microsoft.com/office/drawing/2014/main" id="{BC0E85B3-B5E8-B398-51FB-E5482CA6F716}"/>
              </a:ext>
            </a:extLst>
          </p:cNvPr>
          <p:cNvSpPr>
            <a:spLocks noGrp="1"/>
          </p:cNvSpPr>
          <p:nvPr>
            <p:ph type="subTitle" idx="1"/>
          </p:nvPr>
        </p:nvSpPr>
        <p:spPr/>
        <p:txBody>
          <a:bodyPr>
            <a:normAutofit/>
          </a:bodyPr>
          <a:lstStyle/>
          <a:p>
            <a:r>
              <a:rPr lang="fr-FR" sz="2400" dirty="0"/>
              <a:t>Révocation</a:t>
            </a:r>
          </a:p>
          <a:p>
            <a:endParaRPr lang="fr-FR" sz="2400" dirty="0"/>
          </a:p>
        </p:txBody>
      </p:sp>
      <p:sp>
        <p:nvSpPr>
          <p:cNvPr id="7" name="Espace réservé du texte 4">
            <a:extLst>
              <a:ext uri="{FF2B5EF4-FFF2-40B4-BE49-F238E27FC236}">
                <a16:creationId xmlns:a16="http://schemas.microsoft.com/office/drawing/2014/main" id="{DF6132CC-250D-FC2D-B90E-9ABA201A2B86}"/>
              </a:ext>
            </a:extLst>
          </p:cNvPr>
          <p:cNvSpPr>
            <a:spLocks noGrp="1"/>
          </p:cNvSpPr>
          <p:nvPr>
            <p:ph type="body" idx="13"/>
          </p:nvPr>
        </p:nvSpPr>
        <p:spPr/>
        <p:txBody>
          <a:bodyPr anchor="ctr">
            <a:normAutofit/>
          </a:bodyPr>
          <a:lstStyle/>
          <a:p>
            <a:pPr algn="r"/>
            <a:r>
              <a:rPr lang="fr-FR" sz="2000" dirty="0">
                <a:solidFill>
                  <a:srgbClr val="898989"/>
                </a:solidFill>
              </a:rPr>
              <a:t>La révocation  est un mécanisme essentiel visant à retirer la confiance à un certificat valide, de manière prématurée</a:t>
            </a:r>
          </a:p>
        </p:txBody>
      </p:sp>
      <p:pic>
        <p:nvPicPr>
          <p:cNvPr id="6" name="Image 5">
            <a:extLst>
              <a:ext uri="{FF2B5EF4-FFF2-40B4-BE49-F238E27FC236}">
                <a16:creationId xmlns:a16="http://schemas.microsoft.com/office/drawing/2014/main" id="{D27901B7-4C50-6106-0217-BE5A39D29C02}"/>
              </a:ext>
            </a:extLst>
          </p:cNvPr>
          <p:cNvPicPr>
            <a:picLocks noChangeAspect="1"/>
          </p:cNvPicPr>
          <p:nvPr/>
        </p:nvPicPr>
        <p:blipFill>
          <a:blip r:embed="rId3"/>
          <a:srcRect b="9535"/>
          <a:stretch>
            <a:fillRect/>
          </a:stretch>
        </p:blipFill>
        <p:spPr>
          <a:xfrm>
            <a:off x="6366422" y="857332"/>
            <a:ext cx="4258651" cy="4170291"/>
          </a:xfrm>
          <a:prstGeom prst="rect">
            <a:avLst/>
          </a:prstGeom>
        </p:spPr>
      </p:pic>
      <p:sp>
        <p:nvSpPr>
          <p:cNvPr id="8" name="Espace réservé du texte 1">
            <a:extLst>
              <a:ext uri="{FF2B5EF4-FFF2-40B4-BE49-F238E27FC236}">
                <a16:creationId xmlns:a16="http://schemas.microsoft.com/office/drawing/2014/main" id="{A4C1234B-49EE-62F6-C73A-F2DF76D403DF}"/>
              </a:ext>
            </a:extLst>
          </p:cNvPr>
          <p:cNvSpPr>
            <a:spLocks noGrp="1"/>
          </p:cNvSpPr>
          <p:nvPr>
            <p:ph type="body" idx="14"/>
          </p:nvPr>
        </p:nvSpPr>
        <p:spPr>
          <a:xfrm>
            <a:off x="5265654" y="5218268"/>
            <a:ext cx="6460188" cy="1340661"/>
          </a:xfrm>
        </p:spPr>
        <p:txBody>
          <a:bodyPr>
            <a:normAutofit lnSpcReduction="10000"/>
          </a:bodyPr>
          <a:lstStyle/>
          <a:p>
            <a:pPr algn="ctr"/>
            <a:r>
              <a:rPr lang="fr-FR" sz="1800" dirty="0">
                <a:solidFill>
                  <a:srgbClr val="09253D"/>
                </a:solidFill>
              </a:rPr>
              <a:t>Un certificat peut être révoqué à tout moment </a:t>
            </a:r>
            <a:r>
              <a:rPr lang="fr-FR" sz="1600" dirty="0"/>
              <a:t>s’il n’est plus digne de confiance : compromission de clé, erreur de délivrance, changement d’usage…</a:t>
            </a:r>
          </a:p>
          <a:p>
            <a:pPr algn="ctr"/>
            <a:r>
              <a:rPr lang="fr-FR" sz="1800" dirty="0">
                <a:solidFill>
                  <a:srgbClr val="09253D"/>
                </a:solidFill>
              </a:rPr>
              <a:t>La révocation est publiée via une CRL ou consultée via OCSP</a:t>
            </a:r>
            <a:r>
              <a:rPr lang="fr-FR" sz="1600" dirty="0"/>
              <a:t>, permettant aux clients de vérifier en temps réel la validité du certificat...</a:t>
            </a:r>
          </a:p>
        </p:txBody>
      </p:sp>
    </p:spTree>
    <p:extLst>
      <p:ext uri="{BB962C8B-B14F-4D97-AF65-F5344CB8AC3E}">
        <p14:creationId xmlns:p14="http://schemas.microsoft.com/office/powerpoint/2010/main" val="8861192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67A2F-38A6-E7A0-4267-4AF88092AE98}"/>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CD93C51D-7626-8314-9562-5F7BA64A5F38}"/>
              </a:ext>
            </a:extLst>
          </p:cNvPr>
          <p:cNvSpPr>
            <a:spLocks noGrp="1"/>
          </p:cNvSpPr>
          <p:nvPr>
            <p:ph type="title"/>
          </p:nvPr>
        </p:nvSpPr>
        <p:spPr>
          <a:xfrm>
            <a:off x="320724" y="344557"/>
            <a:ext cx="10356511" cy="496366"/>
          </a:xfrm>
        </p:spPr>
        <p:txBody>
          <a:bodyPr/>
          <a:lstStyle/>
          <a:p>
            <a:r>
              <a:rPr lang="fr-FR" dirty="0"/>
              <a:t>PKI – Public Key Infrastructure</a:t>
            </a:r>
          </a:p>
        </p:txBody>
      </p:sp>
      <p:sp>
        <p:nvSpPr>
          <p:cNvPr id="4" name="Sous-titre 3">
            <a:extLst>
              <a:ext uri="{FF2B5EF4-FFF2-40B4-BE49-F238E27FC236}">
                <a16:creationId xmlns:a16="http://schemas.microsoft.com/office/drawing/2014/main" id="{F0B5D1AC-38BA-D631-4F4B-CD6F4183B7D4}"/>
              </a:ext>
            </a:extLst>
          </p:cNvPr>
          <p:cNvSpPr>
            <a:spLocks noGrp="1"/>
          </p:cNvSpPr>
          <p:nvPr>
            <p:ph type="subTitle" idx="1"/>
          </p:nvPr>
        </p:nvSpPr>
        <p:spPr>
          <a:xfrm>
            <a:off x="488515" y="861170"/>
            <a:ext cx="8464099" cy="365125"/>
          </a:xfrm>
        </p:spPr>
        <p:txBody>
          <a:bodyPr>
            <a:normAutofit/>
          </a:bodyPr>
          <a:lstStyle/>
          <a:p>
            <a:r>
              <a:rPr lang="fr-FR" dirty="0"/>
              <a:t>Révocation</a:t>
            </a:r>
          </a:p>
        </p:txBody>
      </p:sp>
      <p:sp>
        <p:nvSpPr>
          <p:cNvPr id="7" name="Espace réservé du texte 4">
            <a:extLst>
              <a:ext uri="{FF2B5EF4-FFF2-40B4-BE49-F238E27FC236}">
                <a16:creationId xmlns:a16="http://schemas.microsoft.com/office/drawing/2014/main" id="{DB1711FB-6F51-43B3-4283-DEFE271C8EAD}"/>
              </a:ext>
            </a:extLst>
          </p:cNvPr>
          <p:cNvSpPr>
            <a:spLocks noGrp="1"/>
          </p:cNvSpPr>
          <p:nvPr>
            <p:ph type="body" idx="13"/>
          </p:nvPr>
        </p:nvSpPr>
        <p:spPr>
          <a:xfrm>
            <a:off x="529480" y="1743393"/>
            <a:ext cx="11405845" cy="4924107"/>
          </a:xfrm>
        </p:spPr>
        <p:txBody>
          <a:bodyPr anchor="ctr">
            <a:normAutofit fontScale="92500" lnSpcReduction="20000"/>
          </a:bodyPr>
          <a:lstStyle/>
          <a:p>
            <a:r>
              <a:rPr lang="fr-FR" sz="3200" dirty="0">
                <a:solidFill>
                  <a:srgbClr val="09253D"/>
                </a:solidFill>
              </a:rPr>
              <a:t>Généralités</a:t>
            </a:r>
          </a:p>
          <a:p>
            <a:pPr marL="457200" indent="-457200">
              <a:buFont typeface="Arial" panose="020B0604020202020204" pitchFamily="34" charset="0"/>
              <a:buChar char="•"/>
            </a:pPr>
            <a:r>
              <a:rPr lang="fr-FR" dirty="0"/>
              <a:t>La révocation permet de retirer la confiance accordée au certificat, même s’il est encore valide</a:t>
            </a:r>
          </a:p>
          <a:p>
            <a:r>
              <a:rPr lang="fr-FR" dirty="0">
                <a:solidFill>
                  <a:srgbClr val="42C5A5"/>
                </a:solidFill>
              </a:rPr>
              <a:t>Raisons de révocation d’un certificat</a:t>
            </a:r>
          </a:p>
          <a:p>
            <a:pPr marL="457200" indent="-457200">
              <a:buFont typeface="Arial" panose="020B0604020202020204" pitchFamily="34" charset="0"/>
              <a:buChar char="•"/>
            </a:pPr>
            <a:r>
              <a:rPr lang="fr-FR" dirty="0"/>
              <a:t>Les certificats peuvent être révoqués prématurément par le propriétaire et/ou la CA pour diverses raisons </a:t>
            </a:r>
          </a:p>
          <a:p>
            <a:pPr marL="914400" lvl="1" indent="-457200">
              <a:buFont typeface="Arial" panose="020B0604020202020204" pitchFamily="34" charset="0"/>
              <a:buChar char="•"/>
            </a:pPr>
            <a:r>
              <a:rPr lang="fr-FR" dirty="0"/>
              <a:t>Erreur de l’autorité de certification (émission incorrecte ou injustifiée)</a:t>
            </a:r>
          </a:p>
          <a:p>
            <a:pPr marL="914400" lvl="1" indent="-457200">
              <a:buFont typeface="Arial" panose="020B0604020202020204" pitchFamily="34" charset="0"/>
              <a:buChar char="•"/>
            </a:pPr>
            <a:r>
              <a:rPr lang="fr-FR" dirty="0"/>
              <a:t>Compromission de la clé privée</a:t>
            </a:r>
          </a:p>
          <a:p>
            <a:pPr marL="914400" lvl="1" indent="-457200">
              <a:buFont typeface="Arial" panose="020B0604020202020204" pitchFamily="34" charset="0"/>
              <a:buChar char="•"/>
            </a:pPr>
            <a:r>
              <a:rPr lang="fr-FR" dirty="0"/>
              <a:t>Certificat frauduleux ou falsifié</a:t>
            </a:r>
          </a:p>
          <a:p>
            <a:pPr marL="914400" lvl="1" indent="-457200">
              <a:buFont typeface="Arial" panose="020B0604020202020204" pitchFamily="34" charset="0"/>
              <a:buChar char="•"/>
            </a:pPr>
            <a:r>
              <a:rPr lang="fr-FR" dirty="0"/>
              <a:t>Compromission de l’AC elle-même</a:t>
            </a:r>
          </a:p>
          <a:p>
            <a:pPr marL="914400" lvl="1" indent="-457200">
              <a:buFont typeface="Arial" panose="020B0604020202020204" pitchFamily="34" charset="0"/>
              <a:buChar char="•"/>
            </a:pPr>
            <a:r>
              <a:rPr lang="fr-FR" dirty="0"/>
              <a:t>Abandon du domaine ou cessation d’activité</a:t>
            </a:r>
          </a:p>
          <a:p>
            <a:pPr marL="914400" lvl="1" indent="-457200">
              <a:buFont typeface="Arial" panose="020B0604020202020204" pitchFamily="34" charset="0"/>
              <a:buChar char="•"/>
            </a:pPr>
            <a:r>
              <a:rPr lang="fr-FR" dirty="0"/>
              <a:t>Violation des conditions d’émission par le propriétaire</a:t>
            </a:r>
          </a:p>
          <a:p>
            <a:r>
              <a:rPr lang="fr-FR" dirty="0">
                <a:solidFill>
                  <a:srgbClr val="42C5A5"/>
                </a:solidFill>
              </a:rPr>
              <a:t>Rôle de la révocation</a:t>
            </a:r>
          </a:p>
          <a:p>
            <a:r>
              <a:rPr lang="fr-FR" dirty="0"/>
              <a:t>Les certificats non fiables doivent être révoqués et les utilisateurs doivent en être informés</a:t>
            </a:r>
          </a:p>
          <a:p>
            <a:pPr marL="914400" lvl="1" indent="-457200">
              <a:buFont typeface="Arial" panose="020B0604020202020204" pitchFamily="34" charset="0"/>
              <a:buChar char="•"/>
            </a:pPr>
            <a:r>
              <a:rPr lang="fr-FR" dirty="0"/>
              <a:t>Le certificat non fiable SSL/TLS est alors ajouté à une liste de révocation de certificats (CRL)</a:t>
            </a:r>
          </a:p>
          <a:p>
            <a:pPr marL="914400" lvl="1" indent="-457200">
              <a:buFont typeface="Arial" panose="020B0604020202020204" pitchFamily="34" charset="0"/>
              <a:buChar char="•"/>
            </a:pPr>
            <a:r>
              <a:rPr lang="fr-FR" dirty="0"/>
              <a:t>Les navigateurs web peuvent alors détecter que le certificat en question a été révoquer</a:t>
            </a:r>
          </a:p>
        </p:txBody>
      </p:sp>
    </p:spTree>
    <p:extLst>
      <p:ext uri="{BB962C8B-B14F-4D97-AF65-F5344CB8AC3E}">
        <p14:creationId xmlns:p14="http://schemas.microsoft.com/office/powerpoint/2010/main" val="40208359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C8CDE-8C97-F8E3-2F19-1298AA49FC8D}"/>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DB9C44B3-5444-1A26-462D-D16DCF76285E}"/>
              </a:ext>
            </a:extLst>
          </p:cNvPr>
          <p:cNvSpPr>
            <a:spLocks noGrp="1"/>
          </p:cNvSpPr>
          <p:nvPr>
            <p:ph type="title"/>
          </p:nvPr>
        </p:nvSpPr>
        <p:spPr>
          <a:xfrm>
            <a:off x="320724" y="344557"/>
            <a:ext cx="10356511" cy="496366"/>
          </a:xfrm>
        </p:spPr>
        <p:txBody>
          <a:bodyPr/>
          <a:lstStyle/>
          <a:p>
            <a:r>
              <a:rPr lang="fr-FR" dirty="0"/>
              <a:t>PKI – Public Key Infrastructure</a:t>
            </a:r>
          </a:p>
        </p:txBody>
      </p:sp>
      <p:sp>
        <p:nvSpPr>
          <p:cNvPr id="4" name="Sous-titre 3">
            <a:extLst>
              <a:ext uri="{FF2B5EF4-FFF2-40B4-BE49-F238E27FC236}">
                <a16:creationId xmlns:a16="http://schemas.microsoft.com/office/drawing/2014/main" id="{0853CED4-A06C-7352-F1D5-CE642A0448AC}"/>
              </a:ext>
            </a:extLst>
          </p:cNvPr>
          <p:cNvSpPr>
            <a:spLocks noGrp="1"/>
          </p:cNvSpPr>
          <p:nvPr>
            <p:ph type="subTitle" idx="1"/>
          </p:nvPr>
        </p:nvSpPr>
        <p:spPr>
          <a:xfrm>
            <a:off x="488515" y="861170"/>
            <a:ext cx="8464099" cy="365125"/>
          </a:xfrm>
        </p:spPr>
        <p:txBody>
          <a:bodyPr>
            <a:normAutofit/>
          </a:bodyPr>
          <a:lstStyle/>
          <a:p>
            <a:r>
              <a:rPr lang="fr-FR" dirty="0"/>
              <a:t>Révocation</a:t>
            </a:r>
          </a:p>
        </p:txBody>
      </p:sp>
      <p:sp>
        <p:nvSpPr>
          <p:cNvPr id="7" name="Espace réservé du texte 4">
            <a:extLst>
              <a:ext uri="{FF2B5EF4-FFF2-40B4-BE49-F238E27FC236}">
                <a16:creationId xmlns:a16="http://schemas.microsoft.com/office/drawing/2014/main" id="{F79470C2-0D7E-523D-0686-65DF78315E82}"/>
              </a:ext>
            </a:extLst>
          </p:cNvPr>
          <p:cNvSpPr>
            <a:spLocks noGrp="1"/>
          </p:cNvSpPr>
          <p:nvPr>
            <p:ph type="body" idx="13"/>
          </p:nvPr>
        </p:nvSpPr>
        <p:spPr>
          <a:xfrm>
            <a:off x="529480" y="1743393"/>
            <a:ext cx="11405845" cy="4924107"/>
          </a:xfrm>
        </p:spPr>
        <p:txBody>
          <a:bodyPr anchor="ctr">
            <a:normAutofit/>
          </a:bodyPr>
          <a:lstStyle/>
          <a:p>
            <a:r>
              <a:rPr lang="fr-FR" sz="3200" dirty="0">
                <a:solidFill>
                  <a:srgbClr val="09253D"/>
                </a:solidFill>
              </a:rPr>
              <a:t>Risques en l’absence de mécanismes de révocation</a:t>
            </a:r>
          </a:p>
          <a:p>
            <a:r>
              <a:rPr lang="fr-FR" dirty="0"/>
              <a:t>Pourquoi la révocation est essentielle à la sécurité ?</a:t>
            </a:r>
          </a:p>
          <a:p>
            <a:pPr marL="457200" indent="-457200">
              <a:buFont typeface="Arial" panose="020B0604020202020204" pitchFamily="34" charset="0"/>
              <a:buChar char="•"/>
            </a:pPr>
            <a:r>
              <a:rPr lang="fr-FR" dirty="0"/>
              <a:t>Sans mécanisme de révocation, les utilisateurs sont exposés à de graves risques</a:t>
            </a:r>
          </a:p>
          <a:p>
            <a:pPr lvl="2"/>
            <a:r>
              <a:rPr lang="fr-FR" sz="2000" dirty="0"/>
              <a:t>🕵️‍♂️ Attaques Man-in-the-Middle</a:t>
            </a:r>
          </a:p>
          <a:p>
            <a:pPr lvl="2"/>
            <a:r>
              <a:rPr lang="fr-FR" sz="2000" dirty="0"/>
              <a:t>🔐 Vol d’identifiants</a:t>
            </a:r>
          </a:p>
          <a:p>
            <a:pPr lvl="2"/>
            <a:r>
              <a:rPr lang="fr-FR" sz="2000" dirty="0"/>
              <a:t>💳 Perte financière (vol d’argent via données bancaires ou carte)</a:t>
            </a:r>
          </a:p>
          <a:p>
            <a:pPr lvl="2"/>
            <a:r>
              <a:rPr lang="fr-FR" sz="2000" dirty="0"/>
              <a:t>🦠 Infections (malware, ransomware, keyloggers...)</a:t>
            </a:r>
          </a:p>
          <a:p>
            <a:pPr lvl="2"/>
            <a:r>
              <a:rPr lang="fr-FR" sz="2000" dirty="0"/>
              <a:t>👥 Usurpation d’identité</a:t>
            </a:r>
          </a:p>
          <a:p>
            <a:pPr lvl="2"/>
            <a:r>
              <a:rPr lang="fr-FR" sz="2000" dirty="0"/>
              <a:t>🧬 Violation de vie privée et vol de données</a:t>
            </a:r>
          </a:p>
          <a:p>
            <a:pPr marL="342900" indent="-342900">
              <a:buFont typeface="Arial" panose="020B0604020202020204" pitchFamily="34" charset="0"/>
              <a:buChar char="•"/>
            </a:pPr>
            <a:r>
              <a:rPr lang="fr-FR" dirty="0"/>
              <a:t>La consultation de la CRL ou d’un serveur OCSP avant de faire confiance à un certificat est donc une étape de sécurité critique</a:t>
            </a:r>
          </a:p>
        </p:txBody>
      </p:sp>
    </p:spTree>
    <p:extLst>
      <p:ext uri="{BB962C8B-B14F-4D97-AF65-F5344CB8AC3E}">
        <p14:creationId xmlns:p14="http://schemas.microsoft.com/office/powerpoint/2010/main" val="1219061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7BC6D-640B-F02B-77FD-55841F00E700}"/>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72017F37-E241-AEAB-D810-7BB560313454}"/>
              </a:ext>
            </a:extLst>
          </p:cNvPr>
          <p:cNvSpPr>
            <a:spLocks noGrp="1"/>
          </p:cNvSpPr>
          <p:nvPr>
            <p:ph type="title"/>
          </p:nvPr>
        </p:nvSpPr>
        <p:spPr>
          <a:xfrm>
            <a:off x="320724" y="344557"/>
            <a:ext cx="10012683" cy="496366"/>
          </a:xfrm>
        </p:spPr>
        <p:txBody>
          <a:bodyPr/>
          <a:lstStyle/>
          <a:p>
            <a:r>
              <a:rPr lang="fr-FR" dirty="0"/>
              <a:t>PKI – Public Key Infrastructure</a:t>
            </a:r>
          </a:p>
        </p:txBody>
      </p:sp>
      <p:sp>
        <p:nvSpPr>
          <p:cNvPr id="4" name="Sous-titre 3">
            <a:extLst>
              <a:ext uri="{FF2B5EF4-FFF2-40B4-BE49-F238E27FC236}">
                <a16:creationId xmlns:a16="http://schemas.microsoft.com/office/drawing/2014/main" id="{24416811-048E-A2B6-6CD2-372A38CB472C}"/>
              </a:ext>
            </a:extLst>
          </p:cNvPr>
          <p:cNvSpPr>
            <a:spLocks noGrp="1"/>
          </p:cNvSpPr>
          <p:nvPr>
            <p:ph type="subTitle" idx="1"/>
          </p:nvPr>
        </p:nvSpPr>
        <p:spPr/>
        <p:txBody>
          <a:bodyPr>
            <a:normAutofit/>
          </a:bodyPr>
          <a:lstStyle/>
          <a:p>
            <a:r>
              <a:rPr lang="fr-FR" dirty="0"/>
              <a:t>Révocation</a:t>
            </a:r>
          </a:p>
        </p:txBody>
      </p:sp>
      <p:sp>
        <p:nvSpPr>
          <p:cNvPr id="7" name="Espace réservé du texte 4">
            <a:extLst>
              <a:ext uri="{FF2B5EF4-FFF2-40B4-BE49-F238E27FC236}">
                <a16:creationId xmlns:a16="http://schemas.microsoft.com/office/drawing/2014/main" id="{EAD2E545-1BF3-ED40-2D70-D39CA84C2A99}"/>
              </a:ext>
            </a:extLst>
          </p:cNvPr>
          <p:cNvSpPr>
            <a:spLocks noGrp="1"/>
          </p:cNvSpPr>
          <p:nvPr>
            <p:ph type="body" idx="13"/>
          </p:nvPr>
        </p:nvSpPr>
        <p:spPr>
          <a:xfrm>
            <a:off x="178707" y="1601893"/>
            <a:ext cx="8188397" cy="5080790"/>
          </a:xfrm>
        </p:spPr>
        <p:txBody>
          <a:bodyPr anchor="ctr">
            <a:normAutofit fontScale="70000" lnSpcReduction="20000"/>
          </a:bodyPr>
          <a:lstStyle/>
          <a:p>
            <a:r>
              <a:rPr lang="fr-FR" sz="4600" dirty="0">
                <a:solidFill>
                  <a:srgbClr val="09253D"/>
                </a:solidFill>
              </a:rPr>
              <a:t>CRL (</a:t>
            </a:r>
            <a:r>
              <a:rPr lang="fr-FR" sz="4600" dirty="0" err="1">
                <a:solidFill>
                  <a:srgbClr val="09253D"/>
                </a:solidFill>
              </a:rPr>
              <a:t>Certificate</a:t>
            </a:r>
            <a:r>
              <a:rPr lang="fr-FR" sz="4600" dirty="0">
                <a:solidFill>
                  <a:srgbClr val="09253D"/>
                </a:solidFill>
              </a:rPr>
              <a:t> </a:t>
            </a:r>
            <a:r>
              <a:rPr lang="fr-FR" sz="4600" dirty="0" err="1">
                <a:solidFill>
                  <a:srgbClr val="09253D"/>
                </a:solidFill>
              </a:rPr>
              <a:t>Revocation</a:t>
            </a:r>
            <a:r>
              <a:rPr lang="fr-FR" sz="4600" dirty="0">
                <a:solidFill>
                  <a:srgbClr val="09253D"/>
                </a:solidFill>
              </a:rPr>
              <a:t> List)</a:t>
            </a:r>
          </a:p>
          <a:p>
            <a:pPr marL="457200" indent="-457200">
              <a:buFont typeface="Arial" panose="020B0604020202020204" pitchFamily="34" charset="0"/>
              <a:buChar char="•"/>
            </a:pPr>
            <a:r>
              <a:rPr lang="fr-FR" sz="3200" dirty="0"/>
              <a:t>Permet aux clients (navigateurs, systèmes, applications) de ne plus faire confiance à un certificat compromis ou incorrect.</a:t>
            </a:r>
          </a:p>
          <a:p>
            <a:endParaRPr lang="fr-FR" sz="3200" dirty="0"/>
          </a:p>
          <a:p>
            <a:pPr marL="457200" indent="-457200">
              <a:buFont typeface="Arial" panose="020B0604020202020204" pitchFamily="34" charset="0"/>
              <a:buChar char="•"/>
            </a:pPr>
            <a:r>
              <a:rPr lang="fr-FR" sz="3200" dirty="0"/>
              <a:t>Une CRL, c’est un fichier</a:t>
            </a:r>
          </a:p>
          <a:p>
            <a:pPr marL="914400" lvl="1" indent="-457200">
              <a:buFont typeface="Arial" panose="020B0604020202020204" pitchFamily="34" charset="0"/>
              <a:buChar char="•"/>
            </a:pPr>
            <a:r>
              <a:rPr lang="fr-FR" sz="2800" dirty="0"/>
              <a:t>Signé numériquement</a:t>
            </a:r>
          </a:p>
          <a:p>
            <a:pPr marL="914400" lvl="1" indent="-457200">
              <a:buFont typeface="Arial" panose="020B0604020202020204" pitchFamily="34" charset="0"/>
              <a:buChar char="•"/>
            </a:pPr>
            <a:r>
              <a:rPr lang="fr-FR" sz="2800" dirty="0"/>
              <a:t>Publié par une Autorité de Certification (CA)</a:t>
            </a:r>
          </a:p>
          <a:p>
            <a:pPr marL="914400" lvl="1" indent="-457200">
              <a:buFont typeface="Arial" panose="020B0604020202020204" pitchFamily="34" charset="0"/>
              <a:buChar char="•"/>
            </a:pPr>
            <a:r>
              <a:rPr lang="fr-FR" sz="2800" dirty="0"/>
              <a:t>Contenant la liste des certificats révoqués avant leur expiration</a:t>
            </a:r>
          </a:p>
          <a:p>
            <a:pPr lvl="1"/>
            <a:endParaRPr lang="fr-FR" sz="3200" dirty="0"/>
          </a:p>
          <a:p>
            <a:pPr marL="457200" indent="-457200">
              <a:buFont typeface="Arial" panose="020B0604020202020204" pitchFamily="34" charset="0"/>
              <a:buChar char="•"/>
            </a:pPr>
            <a:r>
              <a:rPr lang="fr-FR" sz="3200" dirty="0"/>
              <a:t>Contenu d’une CRL</a:t>
            </a:r>
          </a:p>
          <a:p>
            <a:pPr marL="914400" lvl="1" indent="-457200">
              <a:buFont typeface="Arial" panose="020B0604020202020204" pitchFamily="34" charset="0"/>
              <a:buChar char="•"/>
            </a:pPr>
            <a:r>
              <a:rPr lang="fr-FR" sz="2800" dirty="0"/>
              <a:t>Numéros de série des certificats révoqués</a:t>
            </a:r>
          </a:p>
          <a:p>
            <a:pPr marL="914400" lvl="1" indent="-457200">
              <a:buFont typeface="Arial" panose="020B0604020202020204" pitchFamily="34" charset="0"/>
              <a:buChar char="•"/>
            </a:pPr>
            <a:r>
              <a:rPr lang="fr-FR" sz="2800" dirty="0"/>
              <a:t>Dates de révocation</a:t>
            </a:r>
          </a:p>
          <a:p>
            <a:pPr marL="914400" lvl="1" indent="-457200">
              <a:buFont typeface="Arial" panose="020B0604020202020204" pitchFamily="34" charset="0"/>
              <a:buChar char="•"/>
            </a:pPr>
            <a:r>
              <a:rPr lang="fr-FR" sz="2800" dirty="0"/>
              <a:t>Horodatage de la publication</a:t>
            </a:r>
          </a:p>
          <a:p>
            <a:pPr marL="914400" lvl="1" indent="-457200">
              <a:buFont typeface="Arial" panose="020B0604020202020204" pitchFamily="34" charset="0"/>
              <a:buChar char="•"/>
            </a:pPr>
            <a:r>
              <a:rPr lang="fr-FR" sz="2800" dirty="0"/>
              <a:t>Motif de révocation (facultatif)</a:t>
            </a:r>
          </a:p>
          <a:p>
            <a:pPr marL="914400" lvl="1" indent="-457200">
              <a:buFont typeface="Arial" panose="020B0604020202020204" pitchFamily="34" charset="0"/>
              <a:buChar char="•"/>
            </a:pPr>
            <a:r>
              <a:rPr lang="fr-FR" sz="2800" dirty="0"/>
              <a:t>Période de validité (facultatif)</a:t>
            </a:r>
          </a:p>
        </p:txBody>
      </p:sp>
      <p:sp>
        <p:nvSpPr>
          <p:cNvPr id="2" name="Espace réservé du texte 4">
            <a:extLst>
              <a:ext uri="{FF2B5EF4-FFF2-40B4-BE49-F238E27FC236}">
                <a16:creationId xmlns:a16="http://schemas.microsoft.com/office/drawing/2014/main" id="{E24F6E1C-A83F-6B27-197C-171FC0B75522}"/>
              </a:ext>
            </a:extLst>
          </p:cNvPr>
          <p:cNvSpPr txBox="1">
            <a:spLocks/>
          </p:cNvSpPr>
          <p:nvPr/>
        </p:nvSpPr>
        <p:spPr>
          <a:xfrm>
            <a:off x="8532108" y="4717873"/>
            <a:ext cx="3382593" cy="1889183"/>
          </a:xfrm>
          <a:prstGeom prst="rect">
            <a:avLst/>
          </a:prstGeom>
          <a:solidFill>
            <a:srgbClr val="09253D"/>
          </a:solidFill>
        </p:spPr>
        <p:txBody>
          <a:bodyPr vert="horz" lIns="91440" tIns="45720" rIns="91440" bIns="45720" rtlCol="0" anchor="ctr">
            <a:normAutofit fontScale="625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fr-FR" sz="3200" dirty="0">
                <a:solidFill>
                  <a:srgbClr val="42C5A5"/>
                </a:solidFill>
              </a:rPr>
              <a:t>💡Caractéristiques d’une CRL</a:t>
            </a:r>
          </a:p>
          <a:p>
            <a:pPr marL="457200" indent="-457200">
              <a:buFont typeface="Arial" panose="020B0604020202020204" pitchFamily="34" charset="0"/>
              <a:buChar char="•"/>
            </a:pPr>
            <a:r>
              <a:rPr lang="fr-FR" sz="3200" dirty="0"/>
              <a:t>Basée sur le format X.509</a:t>
            </a:r>
          </a:p>
          <a:p>
            <a:pPr marL="457200" indent="-457200">
              <a:buFont typeface="Arial" panose="020B0604020202020204" pitchFamily="34" charset="0"/>
              <a:buChar char="•"/>
            </a:pPr>
            <a:r>
              <a:rPr lang="fr-FR" sz="3200" dirty="0"/>
              <a:t>Définie dans la RFC 5280</a:t>
            </a:r>
          </a:p>
          <a:p>
            <a:pPr marL="457200" indent="-457200">
              <a:buFont typeface="Arial" panose="020B0604020202020204" pitchFamily="34" charset="0"/>
              <a:buChar char="•"/>
            </a:pPr>
            <a:r>
              <a:rPr lang="fr-FR" sz="3200" dirty="0"/>
              <a:t>Signée par la CA pour garantir son authenticité</a:t>
            </a:r>
          </a:p>
        </p:txBody>
      </p:sp>
    </p:spTree>
    <p:extLst>
      <p:ext uri="{BB962C8B-B14F-4D97-AF65-F5344CB8AC3E}">
        <p14:creationId xmlns:p14="http://schemas.microsoft.com/office/powerpoint/2010/main" val="33071819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1ADF7-9B54-BD30-A7E5-72190C7645A0}"/>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51089237-37E1-5F33-31F4-27CE926CD5BE}"/>
              </a:ext>
            </a:extLst>
          </p:cNvPr>
          <p:cNvSpPr>
            <a:spLocks noGrp="1"/>
          </p:cNvSpPr>
          <p:nvPr>
            <p:ph type="title"/>
          </p:nvPr>
        </p:nvSpPr>
        <p:spPr>
          <a:xfrm>
            <a:off x="320724" y="344557"/>
            <a:ext cx="10012683" cy="496366"/>
          </a:xfrm>
        </p:spPr>
        <p:txBody>
          <a:bodyPr/>
          <a:lstStyle/>
          <a:p>
            <a:r>
              <a:rPr lang="fr-FR" dirty="0"/>
              <a:t>PKI – Public Key Infrastructure</a:t>
            </a:r>
          </a:p>
        </p:txBody>
      </p:sp>
      <p:sp>
        <p:nvSpPr>
          <p:cNvPr id="4" name="Sous-titre 3">
            <a:extLst>
              <a:ext uri="{FF2B5EF4-FFF2-40B4-BE49-F238E27FC236}">
                <a16:creationId xmlns:a16="http://schemas.microsoft.com/office/drawing/2014/main" id="{E1292001-8367-786D-E0F1-E4C052B1EC3B}"/>
              </a:ext>
            </a:extLst>
          </p:cNvPr>
          <p:cNvSpPr>
            <a:spLocks noGrp="1"/>
          </p:cNvSpPr>
          <p:nvPr>
            <p:ph type="subTitle" idx="1"/>
          </p:nvPr>
        </p:nvSpPr>
        <p:spPr/>
        <p:txBody>
          <a:bodyPr>
            <a:normAutofit/>
          </a:bodyPr>
          <a:lstStyle/>
          <a:p>
            <a:r>
              <a:rPr lang="fr-FR" dirty="0"/>
              <a:t>Révocation</a:t>
            </a:r>
          </a:p>
        </p:txBody>
      </p:sp>
      <p:sp>
        <p:nvSpPr>
          <p:cNvPr id="7" name="Espace réservé du texte 4">
            <a:extLst>
              <a:ext uri="{FF2B5EF4-FFF2-40B4-BE49-F238E27FC236}">
                <a16:creationId xmlns:a16="http://schemas.microsoft.com/office/drawing/2014/main" id="{6767DBF3-8EF6-B045-FDD2-79010B67D021}"/>
              </a:ext>
            </a:extLst>
          </p:cNvPr>
          <p:cNvSpPr>
            <a:spLocks noGrp="1"/>
          </p:cNvSpPr>
          <p:nvPr>
            <p:ph type="body" idx="13"/>
          </p:nvPr>
        </p:nvSpPr>
        <p:spPr>
          <a:xfrm>
            <a:off x="213084" y="1656921"/>
            <a:ext cx="9199048" cy="5053263"/>
          </a:xfrm>
        </p:spPr>
        <p:txBody>
          <a:bodyPr anchor="ctr">
            <a:normAutofit fontScale="92500" lnSpcReduction="10000"/>
          </a:bodyPr>
          <a:lstStyle/>
          <a:p>
            <a:r>
              <a:rPr lang="fr-FR" sz="3200" dirty="0">
                <a:solidFill>
                  <a:srgbClr val="09253D"/>
                </a:solidFill>
              </a:rPr>
              <a:t>CRL - Processus de vérification des CRL par les navigateurs</a:t>
            </a:r>
          </a:p>
          <a:p>
            <a:pPr marL="514350" indent="-514350">
              <a:buFont typeface="+mj-lt"/>
              <a:buAutoNum type="arabicPeriod"/>
            </a:pPr>
            <a:r>
              <a:rPr lang="fr-FR" sz="2800" dirty="0">
                <a:solidFill>
                  <a:srgbClr val="42C5A5"/>
                </a:solidFill>
              </a:rPr>
              <a:t>Le navigateur tente d’établir une connexion TLS/HTTPS</a:t>
            </a:r>
          </a:p>
          <a:p>
            <a:pPr marL="514350" indent="-514350">
              <a:buFont typeface="+mj-lt"/>
              <a:buAutoNum type="arabicPeriod"/>
            </a:pPr>
            <a:endParaRPr lang="fr-FR" sz="2800" dirty="0"/>
          </a:p>
          <a:p>
            <a:pPr marL="514350" indent="-514350">
              <a:buFont typeface="+mj-lt"/>
              <a:buAutoNum type="arabicPeriod"/>
            </a:pPr>
            <a:r>
              <a:rPr lang="fr-FR" sz="2800" dirty="0">
                <a:solidFill>
                  <a:srgbClr val="42C5A5"/>
                </a:solidFill>
              </a:rPr>
              <a:t>Le navigateur reçoit le certificat du serveur</a:t>
            </a:r>
          </a:p>
          <a:p>
            <a:pPr marL="914400" lvl="1" indent="-457200">
              <a:buFont typeface="Arial" panose="020B0604020202020204" pitchFamily="34" charset="0"/>
              <a:buChar char="•"/>
            </a:pPr>
            <a:r>
              <a:rPr lang="fr-FR" sz="2400" dirty="0"/>
              <a:t>Il en vérifie la validité (période, signature, chaîne de certification)</a:t>
            </a:r>
          </a:p>
          <a:p>
            <a:pPr marL="914400" lvl="1" indent="-457200">
              <a:buFont typeface="Arial" panose="020B0604020202020204" pitchFamily="34" charset="0"/>
              <a:buChar char="•"/>
            </a:pPr>
            <a:r>
              <a:rPr lang="fr-FR" sz="2400" dirty="0"/>
              <a:t>Le certificat contient une ou plusieurs URL pointant vers la CRL</a:t>
            </a:r>
          </a:p>
          <a:p>
            <a:pPr marL="914400" lvl="1" indent="-457200">
              <a:buFont typeface="Arial" panose="020B0604020202020204" pitchFamily="34" charset="0"/>
              <a:buChar char="•"/>
            </a:pPr>
            <a:endParaRPr lang="fr-FR" sz="2400" dirty="0"/>
          </a:p>
          <a:p>
            <a:pPr marL="514350" indent="-514350">
              <a:buFont typeface="+mj-lt"/>
              <a:buAutoNum type="arabicPeriod"/>
            </a:pPr>
            <a:r>
              <a:rPr lang="fr-FR" sz="2800" dirty="0">
                <a:solidFill>
                  <a:srgbClr val="42C5A5"/>
                </a:solidFill>
              </a:rPr>
              <a:t>Le navigateur contacte la CA et télécharge la CRL</a:t>
            </a:r>
          </a:p>
          <a:p>
            <a:pPr marL="800100" lvl="1" indent="-342900">
              <a:buFont typeface="Arial" panose="020B0604020202020204" pitchFamily="34" charset="0"/>
              <a:buChar char="•"/>
            </a:pPr>
            <a:r>
              <a:rPr lang="fr-FR" sz="2400" dirty="0"/>
              <a:t>Il vérifie que le certificat n’a pas été révoqué, en consultant la CRL publiée par l’Autorité de Certification</a:t>
            </a:r>
          </a:p>
          <a:p>
            <a:pPr marL="800100" lvl="1" indent="-342900">
              <a:buFont typeface="Arial" panose="020B0604020202020204" pitchFamily="34" charset="0"/>
              <a:buChar char="•"/>
            </a:pPr>
            <a:r>
              <a:rPr lang="fr-FR" sz="2400" dirty="0"/>
              <a:t>Il cherche si le numéro de série du certificat figure dans la liste</a:t>
            </a:r>
          </a:p>
          <a:p>
            <a:pPr marL="1257300" lvl="2" indent="-342900">
              <a:buFont typeface="Arial" panose="020B0604020202020204" pitchFamily="34" charset="0"/>
              <a:buChar char="•"/>
            </a:pPr>
            <a:r>
              <a:rPr lang="fr-FR" sz="2200" dirty="0"/>
              <a:t>Si le certificat n’est pas dans la CRL : initiation de la connexion sécurisée</a:t>
            </a:r>
          </a:p>
          <a:p>
            <a:pPr marL="1257300" lvl="2" indent="-342900">
              <a:buFont typeface="Arial" panose="020B0604020202020204" pitchFamily="34" charset="0"/>
              <a:buChar char="•"/>
            </a:pPr>
            <a:r>
              <a:rPr lang="fr-FR" sz="2200" dirty="0"/>
              <a:t>S’il est révoqué : le navigateur bloque la connexion ou affiche une alerte de sécurité</a:t>
            </a:r>
          </a:p>
        </p:txBody>
      </p:sp>
      <p:graphicFrame>
        <p:nvGraphicFramePr>
          <p:cNvPr id="2" name="Diagramme 1">
            <a:extLst>
              <a:ext uri="{FF2B5EF4-FFF2-40B4-BE49-F238E27FC236}">
                <a16:creationId xmlns:a16="http://schemas.microsoft.com/office/drawing/2014/main" id="{C4D4AAD1-01FB-46E1-83C3-FC26DCB29CF6}"/>
              </a:ext>
            </a:extLst>
          </p:cNvPr>
          <p:cNvGraphicFramePr/>
          <p:nvPr>
            <p:extLst>
              <p:ext uri="{D42A27DB-BD31-4B8C-83A1-F6EECF244321}">
                <p14:modId xmlns:p14="http://schemas.microsoft.com/office/powerpoint/2010/main" val="4183789758"/>
              </p:ext>
            </p:extLst>
          </p:nvPr>
        </p:nvGraphicFramePr>
        <p:xfrm>
          <a:off x="9235715" y="1922028"/>
          <a:ext cx="2743201" cy="45914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46071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AE849-4EE2-BDA7-44D0-F129C0375A45}"/>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D592C4CD-D9B3-BF1F-9D9D-E28050469570}"/>
              </a:ext>
            </a:extLst>
          </p:cNvPr>
          <p:cNvSpPr>
            <a:spLocks noGrp="1"/>
          </p:cNvSpPr>
          <p:nvPr>
            <p:ph type="title"/>
          </p:nvPr>
        </p:nvSpPr>
        <p:spPr>
          <a:xfrm>
            <a:off x="320724" y="344557"/>
            <a:ext cx="10356511" cy="496366"/>
          </a:xfrm>
        </p:spPr>
        <p:txBody>
          <a:bodyPr/>
          <a:lstStyle/>
          <a:p>
            <a:r>
              <a:rPr lang="fr-FR" dirty="0"/>
              <a:t>PKI – Public Key Infrastructure</a:t>
            </a:r>
          </a:p>
        </p:txBody>
      </p:sp>
      <p:sp>
        <p:nvSpPr>
          <p:cNvPr id="4" name="Sous-titre 3">
            <a:extLst>
              <a:ext uri="{FF2B5EF4-FFF2-40B4-BE49-F238E27FC236}">
                <a16:creationId xmlns:a16="http://schemas.microsoft.com/office/drawing/2014/main" id="{6D024064-4B6F-4EC2-2F81-B804E54E1A83}"/>
              </a:ext>
            </a:extLst>
          </p:cNvPr>
          <p:cNvSpPr>
            <a:spLocks noGrp="1"/>
          </p:cNvSpPr>
          <p:nvPr>
            <p:ph type="subTitle" idx="1"/>
          </p:nvPr>
        </p:nvSpPr>
        <p:spPr>
          <a:xfrm>
            <a:off x="488515" y="861170"/>
            <a:ext cx="8464099" cy="365125"/>
          </a:xfrm>
        </p:spPr>
        <p:txBody>
          <a:bodyPr>
            <a:normAutofit/>
          </a:bodyPr>
          <a:lstStyle/>
          <a:p>
            <a:r>
              <a:rPr lang="fr-FR" dirty="0"/>
              <a:t>Révocation</a:t>
            </a:r>
          </a:p>
        </p:txBody>
      </p:sp>
      <p:sp>
        <p:nvSpPr>
          <p:cNvPr id="7" name="Espace réservé du texte 4">
            <a:extLst>
              <a:ext uri="{FF2B5EF4-FFF2-40B4-BE49-F238E27FC236}">
                <a16:creationId xmlns:a16="http://schemas.microsoft.com/office/drawing/2014/main" id="{858276D7-62D1-C46C-6F2C-9D35CD6375E9}"/>
              </a:ext>
            </a:extLst>
          </p:cNvPr>
          <p:cNvSpPr>
            <a:spLocks noGrp="1"/>
          </p:cNvSpPr>
          <p:nvPr>
            <p:ph type="body" idx="13"/>
          </p:nvPr>
        </p:nvSpPr>
        <p:spPr>
          <a:xfrm>
            <a:off x="529481" y="1743393"/>
            <a:ext cx="6517587" cy="4924107"/>
          </a:xfrm>
        </p:spPr>
        <p:txBody>
          <a:bodyPr anchor="ctr">
            <a:normAutofit/>
          </a:bodyPr>
          <a:lstStyle/>
          <a:p>
            <a:r>
              <a:rPr lang="fr-FR" sz="3200" dirty="0">
                <a:solidFill>
                  <a:srgbClr val="09253D"/>
                </a:solidFill>
              </a:rPr>
              <a:t>CRL - Détection par les navigateurs et les applications web</a:t>
            </a:r>
          </a:p>
          <a:p>
            <a:pPr marL="457200" indent="-457200">
              <a:buFont typeface="Arial" panose="020B0604020202020204" pitchFamily="34" charset="0"/>
              <a:buChar char="•"/>
            </a:pPr>
            <a:r>
              <a:rPr lang="fr-FR" dirty="0"/>
              <a:t>Au cours de la période de validité d’un certificat, le propriétaire et/ou l'autorité de certification (AC) ayant émis le certificat peut déclarer qu'il n'est plus digne de confiance</a:t>
            </a:r>
          </a:p>
          <a:p>
            <a:pPr marL="457200" indent="-457200">
              <a:buFont typeface="Arial" panose="020B0604020202020204" pitchFamily="34" charset="0"/>
              <a:buChar char="•"/>
            </a:pPr>
            <a:r>
              <a:rPr lang="fr-FR" dirty="0"/>
              <a:t>Les certificats non fiables doivent être révoqués et les utilisateurs doivent en être informés</a:t>
            </a:r>
          </a:p>
          <a:p>
            <a:pPr marL="914400" lvl="1" indent="-457200">
              <a:buFont typeface="Arial" panose="020B0604020202020204" pitchFamily="34" charset="0"/>
              <a:buChar char="•"/>
            </a:pPr>
            <a:r>
              <a:rPr lang="fr-FR" dirty="0"/>
              <a:t>Le certificat non fiable SSL/TLS est alors ajouté à une liste de révocation</a:t>
            </a:r>
          </a:p>
          <a:p>
            <a:pPr marL="914400" lvl="1" indent="-457200">
              <a:buFont typeface="Arial" panose="020B0604020202020204" pitchFamily="34" charset="0"/>
              <a:buChar char="•"/>
            </a:pPr>
            <a:r>
              <a:rPr lang="fr-FR" dirty="0"/>
              <a:t>Les navigateurs web peuvent alors détecter que le certificat en question a été révoqué</a:t>
            </a:r>
          </a:p>
        </p:txBody>
      </p:sp>
      <p:pic>
        <p:nvPicPr>
          <p:cNvPr id="2" name="Picture 2" descr="Avertissement du navigateur concernant le certificat révoqué de SSL">
            <a:extLst>
              <a:ext uri="{FF2B5EF4-FFF2-40B4-BE49-F238E27FC236}">
                <a16:creationId xmlns:a16="http://schemas.microsoft.com/office/drawing/2014/main" id="{9839F307-7E60-4EB1-6A0F-0C2575B2DD9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6685"/>
          <a:stretch>
            <a:fillRect/>
          </a:stretch>
        </p:blipFill>
        <p:spPr bwMode="auto">
          <a:xfrm>
            <a:off x="7260107" y="2147482"/>
            <a:ext cx="4931894" cy="41159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67979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B0FA6-3B7F-4667-CF65-52C9F3885153}"/>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BA79F95C-F4AA-2896-64F1-559614160E5F}"/>
              </a:ext>
            </a:extLst>
          </p:cNvPr>
          <p:cNvSpPr>
            <a:spLocks noGrp="1"/>
          </p:cNvSpPr>
          <p:nvPr>
            <p:ph type="title"/>
          </p:nvPr>
        </p:nvSpPr>
        <p:spPr>
          <a:xfrm>
            <a:off x="320724" y="344557"/>
            <a:ext cx="9655173" cy="496366"/>
          </a:xfrm>
        </p:spPr>
        <p:txBody>
          <a:bodyPr/>
          <a:lstStyle/>
          <a:p>
            <a:r>
              <a:rPr lang="fr-FR" dirty="0"/>
              <a:t>PKI – Public Key Infrastructure</a:t>
            </a:r>
          </a:p>
        </p:txBody>
      </p:sp>
      <p:sp>
        <p:nvSpPr>
          <p:cNvPr id="4" name="Sous-titre 3">
            <a:extLst>
              <a:ext uri="{FF2B5EF4-FFF2-40B4-BE49-F238E27FC236}">
                <a16:creationId xmlns:a16="http://schemas.microsoft.com/office/drawing/2014/main" id="{498234A5-585B-0B13-8754-DA73A39F58E2}"/>
              </a:ext>
            </a:extLst>
          </p:cNvPr>
          <p:cNvSpPr>
            <a:spLocks noGrp="1"/>
          </p:cNvSpPr>
          <p:nvPr>
            <p:ph type="subTitle" idx="1"/>
          </p:nvPr>
        </p:nvSpPr>
        <p:spPr/>
        <p:txBody>
          <a:bodyPr>
            <a:normAutofit/>
          </a:bodyPr>
          <a:lstStyle/>
          <a:p>
            <a:r>
              <a:rPr lang="fr-FR" dirty="0"/>
              <a:t>Révocation</a:t>
            </a:r>
          </a:p>
        </p:txBody>
      </p:sp>
      <p:sp>
        <p:nvSpPr>
          <p:cNvPr id="7" name="Espace réservé du texte 4">
            <a:extLst>
              <a:ext uri="{FF2B5EF4-FFF2-40B4-BE49-F238E27FC236}">
                <a16:creationId xmlns:a16="http://schemas.microsoft.com/office/drawing/2014/main" id="{5830B6CB-C616-521B-A933-38A40BAACA22}"/>
              </a:ext>
            </a:extLst>
          </p:cNvPr>
          <p:cNvSpPr>
            <a:spLocks noGrp="1"/>
          </p:cNvSpPr>
          <p:nvPr>
            <p:ph type="body" idx="13"/>
          </p:nvPr>
        </p:nvSpPr>
        <p:spPr/>
        <p:txBody>
          <a:bodyPr anchor="ctr">
            <a:normAutofit/>
          </a:bodyPr>
          <a:lstStyle/>
          <a:p>
            <a:r>
              <a:rPr lang="fr-FR" sz="3200" dirty="0">
                <a:solidFill>
                  <a:srgbClr val="09253D"/>
                </a:solidFill>
              </a:rPr>
              <a:t>CRL – Limites et faiblesses</a:t>
            </a:r>
          </a:p>
          <a:p>
            <a:r>
              <a:rPr lang="fr-FR" sz="2000" dirty="0"/>
              <a:t>Bien qu’indispensables, les CRL posent plusieurs problèmes techniques et de sécurité</a:t>
            </a:r>
          </a:p>
          <a:p>
            <a:pPr lvl="1"/>
            <a:endParaRPr lang="fr-FR" dirty="0">
              <a:solidFill>
                <a:srgbClr val="42C5A5"/>
              </a:solidFill>
            </a:endParaRPr>
          </a:p>
          <a:p>
            <a:pPr lvl="1"/>
            <a:r>
              <a:rPr lang="fr-FR" dirty="0">
                <a:solidFill>
                  <a:srgbClr val="42C5A5"/>
                </a:solidFill>
              </a:rPr>
              <a:t>Problèmes de performance</a:t>
            </a:r>
          </a:p>
          <a:p>
            <a:pPr marL="1371600" lvl="2" indent="-457200">
              <a:buFont typeface="Arial" panose="020B0604020202020204" pitchFamily="34" charset="0"/>
              <a:buChar char="•"/>
            </a:pPr>
            <a:r>
              <a:rPr lang="fr-FR" dirty="0"/>
              <a:t>Les fichiers CRL peuvent être volumineux, surtout pour de grandes autorités de certification</a:t>
            </a:r>
          </a:p>
          <a:p>
            <a:pPr marL="1371600" lvl="2" indent="-457200">
              <a:buFont typeface="Arial" panose="020B0604020202020204" pitchFamily="34" charset="0"/>
              <a:buChar char="•"/>
            </a:pPr>
            <a:r>
              <a:rPr lang="fr-FR" dirty="0"/>
              <a:t>Appareils à mémoire limitée (smartphones, IoT) ont du mal à les stocker et traiter</a:t>
            </a:r>
          </a:p>
          <a:p>
            <a:pPr marL="1371600" lvl="2" indent="-457200">
              <a:buFont typeface="Arial" panose="020B0604020202020204" pitchFamily="34" charset="0"/>
              <a:buChar char="•"/>
            </a:pPr>
            <a:r>
              <a:rPr lang="fr-FR" dirty="0"/>
              <a:t>Chaque demande renvoie une liste complète, ce qui engendre des latences</a:t>
            </a:r>
          </a:p>
          <a:p>
            <a:pPr lvl="1"/>
            <a:endParaRPr lang="fr-FR" dirty="0">
              <a:solidFill>
                <a:srgbClr val="42C5A5"/>
              </a:solidFill>
            </a:endParaRPr>
          </a:p>
          <a:p>
            <a:pPr lvl="1"/>
            <a:r>
              <a:rPr lang="fr-FR" dirty="0">
                <a:solidFill>
                  <a:srgbClr val="42C5A5"/>
                </a:solidFill>
              </a:rPr>
              <a:t>Problématiques de maintient à jour</a:t>
            </a:r>
          </a:p>
          <a:p>
            <a:pPr marL="1371600" lvl="2" indent="-457200">
              <a:buFont typeface="Arial" panose="020B0604020202020204" pitchFamily="34" charset="0"/>
              <a:buChar char="•"/>
            </a:pPr>
            <a:r>
              <a:rPr lang="fr-FR" dirty="0"/>
              <a:t>Si le client n’a pas une CRL récente, il doit en télécharger une nouvelle (ralentissement)</a:t>
            </a:r>
          </a:p>
          <a:p>
            <a:pPr marL="1371600" lvl="2" indent="-457200">
              <a:buFont typeface="Arial" panose="020B0604020202020204" pitchFamily="34" charset="0"/>
              <a:buChar char="•"/>
            </a:pPr>
            <a:r>
              <a:rPr lang="fr-FR" dirty="0"/>
              <a:t>Fenêtre de vulnérabilité : une CRL en cache peut encore accepter un certificat révoqué ce qui expose l’utilisateur à des risques de sécurité</a:t>
            </a:r>
          </a:p>
        </p:txBody>
      </p:sp>
    </p:spTree>
    <p:extLst>
      <p:ext uri="{BB962C8B-B14F-4D97-AF65-F5344CB8AC3E}">
        <p14:creationId xmlns:p14="http://schemas.microsoft.com/office/powerpoint/2010/main" val="15640582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6E0C9-2197-CDFE-4455-C57FCBE9FF61}"/>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5D7A8256-6812-4ACB-F542-38BE5F2FEF58}"/>
              </a:ext>
            </a:extLst>
          </p:cNvPr>
          <p:cNvSpPr>
            <a:spLocks noGrp="1"/>
          </p:cNvSpPr>
          <p:nvPr>
            <p:ph type="title"/>
          </p:nvPr>
        </p:nvSpPr>
        <p:spPr>
          <a:xfrm>
            <a:off x="320724" y="344557"/>
            <a:ext cx="10356511" cy="496366"/>
          </a:xfrm>
        </p:spPr>
        <p:txBody>
          <a:bodyPr/>
          <a:lstStyle/>
          <a:p>
            <a:r>
              <a:rPr lang="fr-FR" dirty="0"/>
              <a:t>PKI – Public Key Infrastructure</a:t>
            </a:r>
          </a:p>
        </p:txBody>
      </p:sp>
      <p:sp>
        <p:nvSpPr>
          <p:cNvPr id="4" name="Sous-titre 3">
            <a:extLst>
              <a:ext uri="{FF2B5EF4-FFF2-40B4-BE49-F238E27FC236}">
                <a16:creationId xmlns:a16="http://schemas.microsoft.com/office/drawing/2014/main" id="{69D47FDE-1A74-77DD-BDC4-10E1623D674A}"/>
              </a:ext>
            </a:extLst>
          </p:cNvPr>
          <p:cNvSpPr>
            <a:spLocks noGrp="1"/>
          </p:cNvSpPr>
          <p:nvPr>
            <p:ph type="subTitle" idx="1"/>
          </p:nvPr>
        </p:nvSpPr>
        <p:spPr>
          <a:xfrm>
            <a:off x="488515" y="861170"/>
            <a:ext cx="8464099" cy="365125"/>
          </a:xfrm>
        </p:spPr>
        <p:txBody>
          <a:bodyPr>
            <a:normAutofit/>
          </a:bodyPr>
          <a:lstStyle/>
          <a:p>
            <a:r>
              <a:rPr lang="fr-FR" dirty="0"/>
              <a:t>Révocation</a:t>
            </a:r>
          </a:p>
        </p:txBody>
      </p:sp>
      <p:sp>
        <p:nvSpPr>
          <p:cNvPr id="7" name="Espace réservé du texte 4">
            <a:extLst>
              <a:ext uri="{FF2B5EF4-FFF2-40B4-BE49-F238E27FC236}">
                <a16:creationId xmlns:a16="http://schemas.microsoft.com/office/drawing/2014/main" id="{EC7F6398-30A6-AE92-25A6-153B88010192}"/>
              </a:ext>
            </a:extLst>
          </p:cNvPr>
          <p:cNvSpPr>
            <a:spLocks noGrp="1"/>
          </p:cNvSpPr>
          <p:nvPr>
            <p:ph type="body" idx="13"/>
          </p:nvPr>
        </p:nvSpPr>
        <p:spPr>
          <a:xfrm>
            <a:off x="522605" y="1743393"/>
            <a:ext cx="11068962" cy="4924107"/>
          </a:xfrm>
        </p:spPr>
        <p:txBody>
          <a:bodyPr anchor="ctr">
            <a:normAutofit/>
          </a:bodyPr>
          <a:lstStyle/>
          <a:p>
            <a:r>
              <a:rPr lang="it-IT" sz="3200" dirty="0">
                <a:solidFill>
                  <a:srgbClr val="09253D"/>
                </a:solidFill>
              </a:rPr>
              <a:t>OCSP (Online Certificate Status Protocol)</a:t>
            </a:r>
            <a:endParaRPr lang="fr-FR" sz="3200" dirty="0">
              <a:solidFill>
                <a:srgbClr val="09253D"/>
              </a:solidFill>
            </a:endParaRPr>
          </a:p>
          <a:p>
            <a:pPr marL="457200" indent="-457200">
              <a:buFont typeface="Arial" panose="020B0604020202020204" pitchFamily="34" charset="0"/>
              <a:buChar char="•"/>
            </a:pPr>
            <a:r>
              <a:rPr lang="fr-FR" sz="3200" dirty="0"/>
              <a:t>Permet de vérifier en temps réel si un certificat est toujours valide, sans télécharger l’intégralité d’une CRL</a:t>
            </a:r>
          </a:p>
          <a:p>
            <a:endParaRPr lang="fr-FR" sz="3200" dirty="0">
              <a:solidFill>
                <a:srgbClr val="42C5A5"/>
              </a:solidFill>
            </a:endParaRPr>
          </a:p>
          <a:p>
            <a:r>
              <a:rPr lang="fr-FR" sz="3200" dirty="0">
                <a:solidFill>
                  <a:srgbClr val="42C5A5"/>
                </a:solidFill>
              </a:rPr>
              <a:t>Avantages</a:t>
            </a:r>
          </a:p>
          <a:p>
            <a:pPr marL="514350" indent="-514350">
              <a:buFont typeface="Arial" panose="020B0604020202020204" pitchFamily="34" charset="0"/>
              <a:buChar char="•"/>
            </a:pPr>
            <a:r>
              <a:rPr lang="fr-FR" dirty="0"/>
              <a:t>Plus léger qu’une CRL (réponse ciblée)</a:t>
            </a:r>
          </a:p>
          <a:p>
            <a:pPr marL="514350" indent="-514350">
              <a:buFont typeface="Arial" panose="020B0604020202020204" pitchFamily="34" charset="0"/>
              <a:buChar char="•"/>
            </a:pPr>
            <a:r>
              <a:rPr lang="fr-FR" dirty="0"/>
              <a:t>Rapide : adaptée aux connexions en temps réel</a:t>
            </a:r>
          </a:p>
          <a:p>
            <a:pPr marL="514350" indent="-514350">
              <a:buFont typeface="Arial" panose="020B0604020202020204" pitchFamily="34" charset="0"/>
              <a:buChar char="•"/>
            </a:pPr>
            <a:r>
              <a:rPr lang="fr-FR" dirty="0"/>
              <a:t>Idéal pour les appareils mobiles et IoT</a:t>
            </a:r>
          </a:p>
        </p:txBody>
      </p:sp>
    </p:spTree>
    <p:extLst>
      <p:ext uri="{BB962C8B-B14F-4D97-AF65-F5344CB8AC3E}">
        <p14:creationId xmlns:p14="http://schemas.microsoft.com/office/powerpoint/2010/main" val="130804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577C5-67E0-8A7C-1AE5-B19918D85183}"/>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EB51FD23-84A6-0C2F-0F60-616AAED0AAA9}"/>
              </a:ext>
            </a:extLst>
          </p:cNvPr>
          <p:cNvSpPr>
            <a:spLocks noGrp="1"/>
          </p:cNvSpPr>
          <p:nvPr>
            <p:ph type="title"/>
          </p:nvPr>
        </p:nvSpPr>
        <p:spPr>
          <a:xfrm>
            <a:off x="320724" y="344557"/>
            <a:ext cx="10012683" cy="496366"/>
          </a:xfrm>
        </p:spPr>
        <p:txBody>
          <a:bodyPr/>
          <a:lstStyle/>
          <a:p>
            <a:r>
              <a:rPr lang="fr-FR" dirty="0"/>
              <a:t>PKI – Public Key Infrastructure</a:t>
            </a:r>
          </a:p>
        </p:txBody>
      </p:sp>
      <p:sp>
        <p:nvSpPr>
          <p:cNvPr id="4" name="Sous-titre 3">
            <a:extLst>
              <a:ext uri="{FF2B5EF4-FFF2-40B4-BE49-F238E27FC236}">
                <a16:creationId xmlns:a16="http://schemas.microsoft.com/office/drawing/2014/main" id="{8ECAA795-A336-957C-75CB-FAB700AA8F39}"/>
              </a:ext>
            </a:extLst>
          </p:cNvPr>
          <p:cNvSpPr>
            <a:spLocks noGrp="1"/>
          </p:cNvSpPr>
          <p:nvPr>
            <p:ph type="subTitle" idx="1"/>
          </p:nvPr>
        </p:nvSpPr>
        <p:spPr/>
        <p:txBody>
          <a:bodyPr>
            <a:normAutofit/>
          </a:bodyPr>
          <a:lstStyle/>
          <a:p>
            <a:r>
              <a:rPr lang="fr-FR" dirty="0"/>
              <a:t>Révocation</a:t>
            </a:r>
          </a:p>
        </p:txBody>
      </p:sp>
      <p:sp>
        <p:nvSpPr>
          <p:cNvPr id="7" name="Espace réservé du texte 4">
            <a:extLst>
              <a:ext uri="{FF2B5EF4-FFF2-40B4-BE49-F238E27FC236}">
                <a16:creationId xmlns:a16="http://schemas.microsoft.com/office/drawing/2014/main" id="{0B83E875-2FFC-FCE8-089F-A13E3DB7169B}"/>
              </a:ext>
            </a:extLst>
          </p:cNvPr>
          <p:cNvSpPr>
            <a:spLocks noGrp="1"/>
          </p:cNvSpPr>
          <p:nvPr>
            <p:ph type="body" idx="13"/>
          </p:nvPr>
        </p:nvSpPr>
        <p:spPr>
          <a:xfrm>
            <a:off x="213084" y="1656921"/>
            <a:ext cx="9199048" cy="5053263"/>
          </a:xfrm>
        </p:spPr>
        <p:txBody>
          <a:bodyPr anchor="ctr">
            <a:normAutofit/>
          </a:bodyPr>
          <a:lstStyle/>
          <a:p>
            <a:r>
              <a:rPr lang="fr-FR" sz="3200" dirty="0">
                <a:solidFill>
                  <a:srgbClr val="09253D"/>
                </a:solidFill>
              </a:rPr>
              <a:t>OCSP - Processus de vérification</a:t>
            </a:r>
          </a:p>
          <a:p>
            <a:pPr marL="514350" indent="-514350">
              <a:buFont typeface="+mj-lt"/>
              <a:buAutoNum type="arabicPeriod"/>
            </a:pPr>
            <a:r>
              <a:rPr lang="fr-FR" sz="2800" dirty="0">
                <a:solidFill>
                  <a:srgbClr val="42C5A5"/>
                </a:solidFill>
              </a:rPr>
              <a:t>Extraction du numéro de série du certificat</a:t>
            </a:r>
          </a:p>
          <a:p>
            <a:pPr marL="971550" lvl="1" indent="-514350">
              <a:buFont typeface="Arial" panose="020B0604020202020204" pitchFamily="34" charset="0"/>
              <a:buChar char="•"/>
            </a:pPr>
            <a:r>
              <a:rPr lang="fr-FR" sz="2400" dirty="0">
                <a:solidFill>
                  <a:srgbClr val="898989"/>
                </a:solidFill>
              </a:rPr>
              <a:t>Le navigateur extrait le numéro de série du certificat du site web</a:t>
            </a:r>
          </a:p>
          <a:p>
            <a:pPr marL="514350" indent="-514350">
              <a:buFont typeface="+mj-lt"/>
              <a:buAutoNum type="arabicPeriod"/>
            </a:pPr>
            <a:r>
              <a:rPr lang="fr-FR" sz="2800" dirty="0">
                <a:solidFill>
                  <a:srgbClr val="42C5A5"/>
                </a:solidFill>
              </a:rPr>
              <a:t>Transmission au serveur OCSP de la CA</a:t>
            </a:r>
          </a:p>
          <a:p>
            <a:pPr marL="971550" lvl="1" indent="-514350">
              <a:buFont typeface="Arial" panose="020B0604020202020204" pitchFamily="34" charset="0"/>
              <a:buChar char="•"/>
            </a:pPr>
            <a:r>
              <a:rPr lang="fr-FR" sz="2400" dirty="0">
                <a:solidFill>
                  <a:srgbClr val="898989"/>
                </a:solidFill>
              </a:rPr>
              <a:t>Il l’envoie au serveur OCSP de l’autorité de certification</a:t>
            </a:r>
          </a:p>
          <a:p>
            <a:pPr marL="514350" indent="-514350">
              <a:buFont typeface="+mj-lt"/>
              <a:buAutoNum type="arabicPeriod"/>
            </a:pPr>
            <a:r>
              <a:rPr lang="fr-FR" sz="2800" dirty="0">
                <a:solidFill>
                  <a:srgbClr val="42C5A5"/>
                </a:solidFill>
              </a:rPr>
              <a:t>Réception de la réponse OCSP</a:t>
            </a:r>
          </a:p>
          <a:p>
            <a:pPr marL="971550" lvl="1" indent="-514350">
              <a:buFont typeface="Arial" panose="020B0604020202020204" pitchFamily="34" charset="0"/>
              <a:buChar char="•"/>
            </a:pPr>
            <a:r>
              <a:rPr lang="fr-FR" sz="2400" dirty="0">
                <a:solidFill>
                  <a:srgbClr val="898989"/>
                </a:solidFill>
              </a:rPr>
              <a:t>Le serveur OCSP renvoie une réponse signée indiquant le statut du certificat</a:t>
            </a:r>
          </a:p>
          <a:p>
            <a:pPr marL="971550" lvl="1" indent="-514350">
              <a:buFont typeface="Arial" panose="020B0604020202020204" pitchFamily="34" charset="0"/>
              <a:buChar char="•"/>
            </a:pPr>
            <a:r>
              <a:rPr lang="fr-FR" sz="2400" dirty="0">
                <a:solidFill>
                  <a:srgbClr val="898989"/>
                </a:solidFill>
              </a:rPr>
              <a:t>Trois types de réponses</a:t>
            </a:r>
          </a:p>
          <a:p>
            <a:pPr lvl="3"/>
            <a:r>
              <a:rPr lang="fr-FR" sz="2000" dirty="0">
                <a:solidFill>
                  <a:srgbClr val="898989"/>
                </a:solidFill>
              </a:rPr>
              <a:t>✅ Good : le certificat est valide</a:t>
            </a:r>
          </a:p>
          <a:p>
            <a:pPr lvl="3"/>
            <a:r>
              <a:rPr lang="fr-FR" sz="2000" dirty="0">
                <a:solidFill>
                  <a:srgbClr val="898989"/>
                </a:solidFill>
              </a:rPr>
              <a:t>❌ </a:t>
            </a:r>
            <a:r>
              <a:rPr lang="fr-FR" sz="2000" dirty="0" err="1">
                <a:solidFill>
                  <a:srgbClr val="898989"/>
                </a:solidFill>
              </a:rPr>
              <a:t>Revoked</a:t>
            </a:r>
            <a:r>
              <a:rPr lang="fr-FR" sz="2000" dirty="0">
                <a:solidFill>
                  <a:srgbClr val="898989"/>
                </a:solidFill>
              </a:rPr>
              <a:t> : le certificat a été révoqué</a:t>
            </a:r>
          </a:p>
          <a:p>
            <a:pPr lvl="3"/>
            <a:r>
              <a:rPr lang="fr-FR" sz="2000" dirty="0">
                <a:solidFill>
                  <a:srgbClr val="898989"/>
                </a:solidFill>
              </a:rPr>
              <a:t>❓ </a:t>
            </a:r>
            <a:r>
              <a:rPr lang="fr-FR" sz="2000" dirty="0" err="1">
                <a:solidFill>
                  <a:srgbClr val="898989"/>
                </a:solidFill>
              </a:rPr>
              <a:t>Unknown</a:t>
            </a:r>
            <a:r>
              <a:rPr lang="fr-FR" sz="2000" dirty="0">
                <a:solidFill>
                  <a:srgbClr val="898989"/>
                </a:solidFill>
              </a:rPr>
              <a:t> : le certificat est inconnu de l’AC (erreur possible)</a:t>
            </a:r>
          </a:p>
        </p:txBody>
      </p:sp>
      <p:graphicFrame>
        <p:nvGraphicFramePr>
          <p:cNvPr id="2" name="Diagramme 1">
            <a:extLst>
              <a:ext uri="{FF2B5EF4-FFF2-40B4-BE49-F238E27FC236}">
                <a16:creationId xmlns:a16="http://schemas.microsoft.com/office/drawing/2014/main" id="{7FFE0E31-7E81-7DF1-BCB9-895F339D38BF}"/>
              </a:ext>
            </a:extLst>
          </p:cNvPr>
          <p:cNvGraphicFramePr/>
          <p:nvPr>
            <p:extLst>
              <p:ext uri="{D42A27DB-BD31-4B8C-83A1-F6EECF244321}">
                <p14:modId xmlns:p14="http://schemas.microsoft.com/office/powerpoint/2010/main" val="1408804986"/>
              </p:ext>
            </p:extLst>
          </p:nvPr>
        </p:nvGraphicFramePr>
        <p:xfrm>
          <a:off x="9235715" y="1922028"/>
          <a:ext cx="2743201" cy="45914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620985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E81B8-2B09-9EC7-21CA-2E9F1DBCE22D}"/>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11805C29-24A2-8F8D-D16C-55B06125E822}"/>
              </a:ext>
            </a:extLst>
          </p:cNvPr>
          <p:cNvSpPr>
            <a:spLocks noGrp="1"/>
          </p:cNvSpPr>
          <p:nvPr>
            <p:ph type="title"/>
          </p:nvPr>
        </p:nvSpPr>
        <p:spPr>
          <a:xfrm>
            <a:off x="320724" y="344557"/>
            <a:ext cx="10012683" cy="496366"/>
          </a:xfrm>
        </p:spPr>
        <p:txBody>
          <a:bodyPr/>
          <a:lstStyle/>
          <a:p>
            <a:r>
              <a:rPr lang="fr-FR" dirty="0"/>
              <a:t>PKI – Public Key Infrastructure</a:t>
            </a:r>
          </a:p>
        </p:txBody>
      </p:sp>
      <p:sp>
        <p:nvSpPr>
          <p:cNvPr id="4" name="Sous-titre 3">
            <a:extLst>
              <a:ext uri="{FF2B5EF4-FFF2-40B4-BE49-F238E27FC236}">
                <a16:creationId xmlns:a16="http://schemas.microsoft.com/office/drawing/2014/main" id="{BD04EC25-1599-FCA1-F3CC-E23F459C6E55}"/>
              </a:ext>
            </a:extLst>
          </p:cNvPr>
          <p:cNvSpPr>
            <a:spLocks noGrp="1"/>
          </p:cNvSpPr>
          <p:nvPr>
            <p:ph type="subTitle" idx="1"/>
          </p:nvPr>
        </p:nvSpPr>
        <p:spPr/>
        <p:txBody>
          <a:bodyPr>
            <a:normAutofit/>
          </a:bodyPr>
          <a:lstStyle/>
          <a:p>
            <a:r>
              <a:rPr lang="fr-FR" dirty="0"/>
              <a:t>Révocation</a:t>
            </a:r>
          </a:p>
        </p:txBody>
      </p:sp>
      <p:sp>
        <p:nvSpPr>
          <p:cNvPr id="7" name="Espace réservé du texte 4">
            <a:extLst>
              <a:ext uri="{FF2B5EF4-FFF2-40B4-BE49-F238E27FC236}">
                <a16:creationId xmlns:a16="http://schemas.microsoft.com/office/drawing/2014/main" id="{003E2E4D-4BC4-FE03-A2E1-A2E7C12631CB}"/>
              </a:ext>
            </a:extLst>
          </p:cNvPr>
          <p:cNvSpPr>
            <a:spLocks noGrp="1"/>
          </p:cNvSpPr>
          <p:nvPr>
            <p:ph type="body" idx="13"/>
          </p:nvPr>
        </p:nvSpPr>
        <p:spPr>
          <a:xfrm>
            <a:off x="213084" y="1505667"/>
            <a:ext cx="8930916" cy="5280144"/>
          </a:xfrm>
        </p:spPr>
        <p:txBody>
          <a:bodyPr anchor="ctr">
            <a:normAutofit fontScale="62500" lnSpcReduction="20000"/>
          </a:bodyPr>
          <a:lstStyle/>
          <a:p>
            <a:r>
              <a:rPr lang="fr-FR" sz="3200" dirty="0">
                <a:solidFill>
                  <a:srgbClr val="09253D"/>
                </a:solidFill>
              </a:rPr>
              <a:t>OSCP </a:t>
            </a:r>
            <a:r>
              <a:rPr lang="fr-FR" sz="3200" dirty="0" err="1">
                <a:solidFill>
                  <a:srgbClr val="09253D"/>
                </a:solidFill>
              </a:rPr>
              <a:t>Stapling</a:t>
            </a:r>
            <a:r>
              <a:rPr lang="fr-FR" sz="3200" dirty="0">
                <a:solidFill>
                  <a:srgbClr val="09253D"/>
                </a:solidFill>
              </a:rPr>
              <a:t> – Optimisation du protocole OSCP</a:t>
            </a:r>
          </a:p>
          <a:p>
            <a:pPr marL="514350" indent="-514350">
              <a:buFont typeface="Arial" panose="020B0604020202020204" pitchFamily="34" charset="0"/>
              <a:buChar char="•"/>
            </a:pPr>
            <a:r>
              <a:rPr lang="fr-FR" sz="2800" dirty="0">
                <a:solidFill>
                  <a:srgbClr val="898989"/>
                </a:solidFill>
              </a:rPr>
              <a:t>Améliore le protocole OCSP en déplaçant la charge de la vérification vers le serveur web</a:t>
            </a:r>
          </a:p>
          <a:p>
            <a:pPr marL="514350" indent="-514350">
              <a:buFont typeface="Arial" panose="020B0604020202020204" pitchFamily="34" charset="0"/>
              <a:buChar char="•"/>
            </a:pPr>
            <a:r>
              <a:rPr lang="fr-FR" sz="2800" dirty="0">
                <a:solidFill>
                  <a:srgbClr val="898989"/>
                </a:solidFill>
              </a:rPr>
              <a:t>Décrit dans la RFC 6066</a:t>
            </a:r>
          </a:p>
          <a:p>
            <a:endParaRPr lang="fr-FR" sz="2800" dirty="0">
              <a:solidFill>
                <a:srgbClr val="42C5A5"/>
              </a:solidFill>
            </a:endParaRPr>
          </a:p>
          <a:p>
            <a:r>
              <a:rPr lang="fr-FR" sz="2800" dirty="0">
                <a:solidFill>
                  <a:srgbClr val="42C5A5"/>
                </a:solidFill>
              </a:rPr>
              <a:t>Principe de fonctionnement</a:t>
            </a:r>
          </a:p>
          <a:p>
            <a:pPr marL="457200" indent="-457200">
              <a:buFont typeface="Arial" panose="020B0604020202020204" pitchFamily="34" charset="0"/>
              <a:buChar char="•"/>
            </a:pPr>
            <a:r>
              <a:rPr lang="fr-FR" sz="2800" dirty="0">
                <a:solidFill>
                  <a:srgbClr val="898989"/>
                </a:solidFill>
              </a:rPr>
              <a:t>Le serveur web contacte périodiquement l’autorité de certification (CA) pour obtenir une réponse OCSP signée (jusqu’à 10 jours)</a:t>
            </a:r>
          </a:p>
          <a:p>
            <a:pPr marL="457200" indent="-457200">
              <a:buFont typeface="Arial" panose="020B0604020202020204" pitchFamily="34" charset="0"/>
              <a:buChar char="•"/>
            </a:pPr>
            <a:r>
              <a:rPr lang="fr-FR" sz="2800" dirty="0">
                <a:solidFill>
                  <a:srgbClr val="898989"/>
                </a:solidFill>
              </a:rPr>
              <a:t>Il met en cache cette réponse pendant sa durée de validité</a:t>
            </a:r>
          </a:p>
          <a:p>
            <a:pPr marL="457200" indent="-457200">
              <a:buFont typeface="Arial" panose="020B0604020202020204" pitchFamily="34" charset="0"/>
              <a:buChar char="•"/>
            </a:pPr>
            <a:r>
              <a:rPr lang="fr-FR" sz="2800" dirty="0">
                <a:solidFill>
                  <a:srgbClr val="898989"/>
                </a:solidFill>
              </a:rPr>
              <a:t>Lors d’une connexion TLS, il "agrafe" la réponse OCSP au certificat envoyé au navigateur</a:t>
            </a:r>
          </a:p>
          <a:p>
            <a:endParaRPr lang="fr-FR" sz="2800" dirty="0">
              <a:solidFill>
                <a:srgbClr val="42C5A5"/>
              </a:solidFill>
            </a:endParaRPr>
          </a:p>
          <a:p>
            <a:r>
              <a:rPr lang="fr-FR" sz="2800" dirty="0">
                <a:solidFill>
                  <a:srgbClr val="42C5A5"/>
                </a:solidFill>
              </a:rPr>
              <a:t>Avantages</a:t>
            </a:r>
          </a:p>
          <a:p>
            <a:pPr marL="457200" indent="-457200">
              <a:buFont typeface="Arial" panose="020B0604020202020204" pitchFamily="34" charset="0"/>
              <a:buChar char="•"/>
            </a:pPr>
            <a:r>
              <a:rPr lang="fr-FR" sz="2800" dirty="0">
                <a:solidFill>
                  <a:srgbClr val="898989"/>
                </a:solidFill>
              </a:rPr>
              <a:t>Le navigateur n’interroge plus l’AC directement</a:t>
            </a:r>
          </a:p>
          <a:p>
            <a:pPr marL="457200" indent="-457200">
              <a:buFont typeface="Arial" panose="020B0604020202020204" pitchFamily="34" charset="0"/>
              <a:buChar char="•"/>
            </a:pPr>
            <a:r>
              <a:rPr lang="fr-FR" sz="2800" dirty="0">
                <a:solidFill>
                  <a:srgbClr val="898989"/>
                </a:solidFill>
              </a:rPr>
              <a:t>Réduction de la latence et du trafic réseau</a:t>
            </a:r>
          </a:p>
          <a:p>
            <a:pPr marL="457200" indent="-457200">
              <a:buFont typeface="Arial" panose="020B0604020202020204" pitchFamily="34" charset="0"/>
              <a:buChar char="•"/>
            </a:pPr>
            <a:r>
              <a:rPr lang="fr-FR" sz="2800" dirty="0">
                <a:solidFill>
                  <a:srgbClr val="898989"/>
                </a:solidFill>
              </a:rPr>
              <a:t>Confidentialité renforcée : le client ne révèle pas au CA quels sites il visite</a:t>
            </a:r>
          </a:p>
          <a:p>
            <a:pPr marL="457200" indent="-457200">
              <a:buFont typeface="Arial" panose="020B0604020202020204" pitchFamily="34" charset="0"/>
              <a:buChar char="•"/>
            </a:pPr>
            <a:r>
              <a:rPr lang="fr-FR" sz="2800" dirty="0">
                <a:solidFill>
                  <a:srgbClr val="898989"/>
                </a:solidFill>
              </a:rPr>
              <a:t> Plus rapide et compatible avec les appareils à ressources limitées</a:t>
            </a:r>
          </a:p>
        </p:txBody>
      </p:sp>
      <p:graphicFrame>
        <p:nvGraphicFramePr>
          <p:cNvPr id="2" name="Diagramme 1">
            <a:extLst>
              <a:ext uri="{FF2B5EF4-FFF2-40B4-BE49-F238E27FC236}">
                <a16:creationId xmlns:a16="http://schemas.microsoft.com/office/drawing/2014/main" id="{2F9B0BEA-9349-03DA-34A7-231715FA7127}"/>
              </a:ext>
            </a:extLst>
          </p:cNvPr>
          <p:cNvGraphicFramePr/>
          <p:nvPr>
            <p:extLst>
              <p:ext uri="{D42A27DB-BD31-4B8C-83A1-F6EECF244321}">
                <p14:modId xmlns:p14="http://schemas.microsoft.com/office/powerpoint/2010/main" val="3467256447"/>
              </p:ext>
            </p:extLst>
          </p:nvPr>
        </p:nvGraphicFramePr>
        <p:xfrm>
          <a:off x="9235715" y="1922028"/>
          <a:ext cx="2743201" cy="45914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215608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B16F7-CC19-DAF0-7BE2-874639717D91}"/>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ACCF59B6-F14B-088E-BD14-C028E0A758E4}"/>
              </a:ext>
            </a:extLst>
          </p:cNvPr>
          <p:cNvSpPr>
            <a:spLocks noGrp="1"/>
          </p:cNvSpPr>
          <p:nvPr>
            <p:ph type="title"/>
          </p:nvPr>
        </p:nvSpPr>
        <p:spPr>
          <a:xfrm>
            <a:off x="122881" y="559838"/>
            <a:ext cx="3814549" cy="594988"/>
          </a:xfrm>
        </p:spPr>
        <p:txBody>
          <a:bodyPr/>
          <a:lstStyle/>
          <a:p>
            <a:r>
              <a:rPr lang="fr-FR" sz="4800" dirty="0"/>
              <a:t>PKI</a:t>
            </a:r>
          </a:p>
        </p:txBody>
      </p:sp>
      <p:sp>
        <p:nvSpPr>
          <p:cNvPr id="4" name="Sous-titre 3">
            <a:extLst>
              <a:ext uri="{FF2B5EF4-FFF2-40B4-BE49-F238E27FC236}">
                <a16:creationId xmlns:a16="http://schemas.microsoft.com/office/drawing/2014/main" id="{95C2BBB3-6205-E462-B0E0-1EAF8EA3F60C}"/>
              </a:ext>
            </a:extLst>
          </p:cNvPr>
          <p:cNvSpPr>
            <a:spLocks noGrp="1"/>
          </p:cNvSpPr>
          <p:nvPr>
            <p:ph type="subTitle" idx="1"/>
          </p:nvPr>
        </p:nvSpPr>
        <p:spPr/>
        <p:txBody>
          <a:bodyPr>
            <a:normAutofit/>
          </a:bodyPr>
          <a:lstStyle/>
          <a:p>
            <a:r>
              <a:rPr lang="fr-FR" sz="2400" dirty="0"/>
              <a:t>Chaîne de certification</a:t>
            </a:r>
          </a:p>
          <a:p>
            <a:endParaRPr lang="fr-FR" sz="2400" dirty="0"/>
          </a:p>
        </p:txBody>
      </p:sp>
      <p:sp>
        <p:nvSpPr>
          <p:cNvPr id="7" name="Espace réservé du texte 4">
            <a:extLst>
              <a:ext uri="{FF2B5EF4-FFF2-40B4-BE49-F238E27FC236}">
                <a16:creationId xmlns:a16="http://schemas.microsoft.com/office/drawing/2014/main" id="{70B1C683-A553-D0D8-C71A-BD222CFFD690}"/>
              </a:ext>
            </a:extLst>
          </p:cNvPr>
          <p:cNvSpPr>
            <a:spLocks noGrp="1"/>
          </p:cNvSpPr>
          <p:nvPr>
            <p:ph type="body" idx="13"/>
          </p:nvPr>
        </p:nvSpPr>
        <p:spPr/>
        <p:txBody>
          <a:bodyPr anchor="ctr">
            <a:normAutofit/>
          </a:bodyPr>
          <a:lstStyle/>
          <a:p>
            <a:pPr algn="r"/>
            <a:r>
              <a:rPr lang="fr-FR" sz="2000" dirty="0"/>
              <a:t>La chaîne de certification établit un lien de confiance hiérarchique, depuis une autorité racine jusqu’au certificat final</a:t>
            </a:r>
          </a:p>
          <a:p>
            <a:pPr algn="r"/>
            <a:r>
              <a:rPr lang="fr-FR" sz="2000" dirty="0"/>
              <a:t>Elle permet aux clients de vérifier qu’un certificat a bien été émis par une autorité reconnue et digne de confiance</a:t>
            </a:r>
          </a:p>
        </p:txBody>
      </p:sp>
      <p:graphicFrame>
        <p:nvGraphicFramePr>
          <p:cNvPr id="5" name="Diagramme 4">
            <a:extLst>
              <a:ext uri="{FF2B5EF4-FFF2-40B4-BE49-F238E27FC236}">
                <a16:creationId xmlns:a16="http://schemas.microsoft.com/office/drawing/2014/main" id="{3C2EF8CD-22C6-45D5-CC11-85BD0CB73398}"/>
              </a:ext>
            </a:extLst>
          </p:cNvPr>
          <p:cNvGraphicFramePr/>
          <p:nvPr>
            <p:extLst>
              <p:ext uri="{D42A27DB-BD31-4B8C-83A1-F6EECF244321}">
                <p14:modId xmlns:p14="http://schemas.microsoft.com/office/powerpoint/2010/main" val="583371040"/>
              </p:ext>
            </p:extLst>
          </p:nvPr>
        </p:nvGraphicFramePr>
        <p:xfrm>
          <a:off x="4248866" y="1154826"/>
          <a:ext cx="7739934" cy="53685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337750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76651-2ED5-C395-9619-FF3592332CB2}"/>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2FA5F6C8-86DA-2964-A63A-B3186B225497}"/>
              </a:ext>
            </a:extLst>
          </p:cNvPr>
          <p:cNvSpPr>
            <a:spLocks noGrp="1"/>
          </p:cNvSpPr>
          <p:nvPr>
            <p:ph type="title"/>
          </p:nvPr>
        </p:nvSpPr>
        <p:spPr>
          <a:xfrm>
            <a:off x="320724" y="344557"/>
            <a:ext cx="10356511" cy="496366"/>
          </a:xfrm>
        </p:spPr>
        <p:txBody>
          <a:bodyPr/>
          <a:lstStyle/>
          <a:p>
            <a:r>
              <a:rPr lang="fr-FR" dirty="0"/>
              <a:t>PKI – Public Key Infrastructure</a:t>
            </a:r>
          </a:p>
        </p:txBody>
      </p:sp>
      <p:sp>
        <p:nvSpPr>
          <p:cNvPr id="4" name="Sous-titre 3">
            <a:extLst>
              <a:ext uri="{FF2B5EF4-FFF2-40B4-BE49-F238E27FC236}">
                <a16:creationId xmlns:a16="http://schemas.microsoft.com/office/drawing/2014/main" id="{4078421F-19FD-8D47-DD92-0B2DA00EC0C6}"/>
              </a:ext>
            </a:extLst>
          </p:cNvPr>
          <p:cNvSpPr>
            <a:spLocks noGrp="1"/>
          </p:cNvSpPr>
          <p:nvPr>
            <p:ph type="subTitle" idx="1"/>
          </p:nvPr>
        </p:nvSpPr>
        <p:spPr>
          <a:xfrm>
            <a:off x="488515" y="861170"/>
            <a:ext cx="8464099" cy="365125"/>
          </a:xfrm>
        </p:spPr>
        <p:txBody>
          <a:bodyPr>
            <a:normAutofit/>
          </a:bodyPr>
          <a:lstStyle/>
          <a:p>
            <a:r>
              <a:rPr lang="fr-FR" dirty="0"/>
              <a:t>Chaîne </a:t>
            </a:r>
            <a:r>
              <a:rPr lang="fr-FR"/>
              <a:t>de certification </a:t>
            </a:r>
            <a:endParaRPr lang="fr-FR" dirty="0"/>
          </a:p>
        </p:txBody>
      </p:sp>
      <p:sp>
        <p:nvSpPr>
          <p:cNvPr id="7" name="Espace réservé du texte 4">
            <a:extLst>
              <a:ext uri="{FF2B5EF4-FFF2-40B4-BE49-F238E27FC236}">
                <a16:creationId xmlns:a16="http://schemas.microsoft.com/office/drawing/2014/main" id="{883F0C7C-B5C7-509B-A8B0-A4AFDB99D7B4}"/>
              </a:ext>
            </a:extLst>
          </p:cNvPr>
          <p:cNvSpPr>
            <a:spLocks noGrp="1"/>
          </p:cNvSpPr>
          <p:nvPr>
            <p:ph type="body" idx="13"/>
          </p:nvPr>
        </p:nvSpPr>
        <p:spPr>
          <a:xfrm>
            <a:off x="522605" y="1743393"/>
            <a:ext cx="11323344" cy="4924107"/>
          </a:xfrm>
        </p:spPr>
        <p:txBody>
          <a:bodyPr anchor="ctr">
            <a:normAutofit/>
          </a:bodyPr>
          <a:lstStyle/>
          <a:p>
            <a:r>
              <a:rPr lang="fr-FR" sz="3200" dirty="0">
                <a:solidFill>
                  <a:srgbClr val="09253D"/>
                </a:solidFill>
              </a:rPr>
              <a:t>Généralités</a:t>
            </a:r>
          </a:p>
          <a:p>
            <a:pPr marL="457200" indent="-457200">
              <a:buFont typeface="Arial" panose="020B0604020202020204" pitchFamily="34" charset="0"/>
              <a:buChar char="•"/>
            </a:pPr>
            <a:r>
              <a:rPr lang="fr-FR" sz="2800" dirty="0"/>
              <a:t>La chaîne de certificats permet aux navigateurs de vérifier qu’un site web est authentique, grâce à un lien hiérarchique remontant jusqu’à un certificat racine de confiance</a:t>
            </a:r>
          </a:p>
          <a:p>
            <a:pPr marL="457200" indent="-457200">
              <a:buFont typeface="Arial" panose="020B0604020202020204" pitchFamily="34" charset="0"/>
              <a:buChar char="•"/>
            </a:pPr>
            <a:r>
              <a:rPr lang="fr-FR" sz="2800" dirty="0"/>
              <a:t>Pour faire confiance à un certificat, il faut pouvoir remonter jusqu’à l’autorité racine (Root CA) de confiance</a:t>
            </a:r>
          </a:p>
          <a:p>
            <a:pPr marL="914400" lvl="1" indent="-457200">
              <a:buFont typeface="Arial" panose="020B0604020202020204" pitchFamily="34" charset="0"/>
              <a:buChar char="•"/>
            </a:pPr>
            <a:r>
              <a:rPr lang="fr-FR" sz="2400" dirty="0"/>
              <a:t>À chaque niveau, la clé privée supérieure signe la clé publique du niveau inférieur</a:t>
            </a:r>
          </a:p>
          <a:p>
            <a:pPr marL="914400" lvl="1" indent="-457200">
              <a:buFont typeface="Arial" panose="020B0604020202020204" pitchFamily="34" charset="0"/>
              <a:buChar char="•"/>
            </a:pPr>
            <a:r>
              <a:rPr lang="fr-FR" sz="2400" dirty="0"/>
              <a:t>Le client vérifie toute la chaîne jusqu’à identifier une autorité racine connue</a:t>
            </a:r>
            <a:endParaRPr lang="fr-FR" dirty="0"/>
          </a:p>
        </p:txBody>
      </p:sp>
    </p:spTree>
    <p:extLst>
      <p:ext uri="{BB962C8B-B14F-4D97-AF65-F5344CB8AC3E}">
        <p14:creationId xmlns:p14="http://schemas.microsoft.com/office/powerpoint/2010/main" val="1534317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4EE62-E46A-4F23-D700-324F6049EB9B}"/>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E7070F26-D6F4-E56E-2B83-63AB143EFC80}"/>
              </a:ext>
            </a:extLst>
          </p:cNvPr>
          <p:cNvSpPr>
            <a:spLocks noGrp="1"/>
          </p:cNvSpPr>
          <p:nvPr>
            <p:ph type="title"/>
          </p:nvPr>
        </p:nvSpPr>
        <p:spPr>
          <a:xfrm>
            <a:off x="320724" y="344557"/>
            <a:ext cx="10356511" cy="496366"/>
          </a:xfrm>
        </p:spPr>
        <p:txBody>
          <a:bodyPr/>
          <a:lstStyle/>
          <a:p>
            <a:r>
              <a:rPr lang="fr-FR" dirty="0"/>
              <a:t>PKI – Public Key Infrastructure</a:t>
            </a:r>
          </a:p>
        </p:txBody>
      </p:sp>
      <p:sp>
        <p:nvSpPr>
          <p:cNvPr id="4" name="Sous-titre 3">
            <a:extLst>
              <a:ext uri="{FF2B5EF4-FFF2-40B4-BE49-F238E27FC236}">
                <a16:creationId xmlns:a16="http://schemas.microsoft.com/office/drawing/2014/main" id="{2333EB06-EC08-55DC-AEBE-F1A51014CF9D}"/>
              </a:ext>
            </a:extLst>
          </p:cNvPr>
          <p:cNvSpPr>
            <a:spLocks noGrp="1"/>
          </p:cNvSpPr>
          <p:nvPr>
            <p:ph type="subTitle" idx="1"/>
          </p:nvPr>
        </p:nvSpPr>
        <p:spPr>
          <a:xfrm>
            <a:off x="488515" y="861170"/>
            <a:ext cx="8464099" cy="365125"/>
          </a:xfrm>
        </p:spPr>
        <p:txBody>
          <a:bodyPr>
            <a:normAutofit/>
          </a:bodyPr>
          <a:lstStyle/>
          <a:p>
            <a:r>
              <a:rPr lang="fr-FR" dirty="0"/>
              <a:t>Chaîne </a:t>
            </a:r>
            <a:r>
              <a:rPr lang="fr-FR"/>
              <a:t>de certification </a:t>
            </a:r>
            <a:endParaRPr lang="fr-FR" dirty="0"/>
          </a:p>
        </p:txBody>
      </p:sp>
      <p:sp>
        <p:nvSpPr>
          <p:cNvPr id="7" name="Espace réservé du texte 4">
            <a:extLst>
              <a:ext uri="{FF2B5EF4-FFF2-40B4-BE49-F238E27FC236}">
                <a16:creationId xmlns:a16="http://schemas.microsoft.com/office/drawing/2014/main" id="{9DACDACC-7B02-BE85-C1C3-5E03E9CA2641}"/>
              </a:ext>
            </a:extLst>
          </p:cNvPr>
          <p:cNvSpPr>
            <a:spLocks noGrp="1"/>
          </p:cNvSpPr>
          <p:nvPr>
            <p:ph type="body" idx="13"/>
          </p:nvPr>
        </p:nvSpPr>
        <p:spPr>
          <a:xfrm>
            <a:off x="522605" y="1743393"/>
            <a:ext cx="11323344" cy="4924107"/>
          </a:xfrm>
        </p:spPr>
        <p:txBody>
          <a:bodyPr anchor="ctr">
            <a:normAutofit/>
          </a:bodyPr>
          <a:lstStyle/>
          <a:p>
            <a:r>
              <a:rPr lang="fr-FR" sz="3200" dirty="0">
                <a:solidFill>
                  <a:srgbClr val="09253D"/>
                </a:solidFill>
              </a:rPr>
              <a:t>Intérêts de la chaine de confiance</a:t>
            </a:r>
          </a:p>
          <a:p>
            <a:pPr marL="457200" indent="-457200">
              <a:buFont typeface="Arial" panose="020B0604020202020204" pitchFamily="34" charset="0"/>
              <a:buChar char="•"/>
            </a:pPr>
            <a:r>
              <a:rPr lang="fr-FR" sz="2800" dirty="0"/>
              <a:t>Établir une relation de confiance hiérarchique entre le certificat du site et le certificat racine reconnu</a:t>
            </a:r>
          </a:p>
          <a:p>
            <a:pPr marL="914400" lvl="1" indent="-457200">
              <a:buFont typeface="Arial" panose="020B0604020202020204" pitchFamily="34" charset="0"/>
              <a:buChar char="•"/>
            </a:pPr>
            <a:r>
              <a:rPr lang="fr-FR" sz="2400" dirty="0"/>
              <a:t>En vérifiant chaque signature intermédiaire, le client s’assure que le certificat final est bien émis par une autorité légitime</a:t>
            </a:r>
          </a:p>
          <a:p>
            <a:pPr marL="457200" indent="-457200">
              <a:buFont typeface="Arial" panose="020B0604020202020204" pitchFamily="34" charset="0"/>
              <a:buChar char="•"/>
            </a:pPr>
            <a:r>
              <a:rPr lang="fr-FR" sz="2800" dirty="0"/>
              <a:t>Prévenir des attaques (usurpation, MITM…) en s’assurant de l’intégrité de la chaîne</a:t>
            </a:r>
            <a:endParaRPr lang="fr-FR" dirty="0"/>
          </a:p>
        </p:txBody>
      </p:sp>
    </p:spTree>
    <p:extLst>
      <p:ext uri="{BB962C8B-B14F-4D97-AF65-F5344CB8AC3E}">
        <p14:creationId xmlns:p14="http://schemas.microsoft.com/office/powerpoint/2010/main" val="41424840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321CA-F72B-FF15-3120-2F32B3AE1DD8}"/>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37DCEBAD-AF61-5550-480B-BE953321C13A}"/>
              </a:ext>
            </a:extLst>
          </p:cNvPr>
          <p:cNvSpPr>
            <a:spLocks noGrp="1"/>
          </p:cNvSpPr>
          <p:nvPr>
            <p:ph type="title"/>
          </p:nvPr>
        </p:nvSpPr>
        <p:spPr>
          <a:xfrm>
            <a:off x="320724" y="344557"/>
            <a:ext cx="10356511" cy="496366"/>
          </a:xfrm>
        </p:spPr>
        <p:txBody>
          <a:bodyPr/>
          <a:lstStyle/>
          <a:p>
            <a:r>
              <a:rPr lang="fr-FR" dirty="0"/>
              <a:t>PKI – Public Key Infrastructure</a:t>
            </a:r>
          </a:p>
        </p:txBody>
      </p:sp>
      <p:sp>
        <p:nvSpPr>
          <p:cNvPr id="4" name="Sous-titre 3">
            <a:extLst>
              <a:ext uri="{FF2B5EF4-FFF2-40B4-BE49-F238E27FC236}">
                <a16:creationId xmlns:a16="http://schemas.microsoft.com/office/drawing/2014/main" id="{55BDD164-7E0A-B755-B97A-86F663CF6771}"/>
              </a:ext>
            </a:extLst>
          </p:cNvPr>
          <p:cNvSpPr>
            <a:spLocks noGrp="1"/>
          </p:cNvSpPr>
          <p:nvPr>
            <p:ph type="subTitle" idx="1"/>
          </p:nvPr>
        </p:nvSpPr>
        <p:spPr>
          <a:xfrm>
            <a:off x="488515" y="861170"/>
            <a:ext cx="8464099" cy="365125"/>
          </a:xfrm>
        </p:spPr>
        <p:txBody>
          <a:bodyPr>
            <a:normAutofit/>
          </a:bodyPr>
          <a:lstStyle/>
          <a:p>
            <a:r>
              <a:rPr lang="fr-FR" dirty="0"/>
              <a:t>Chaîne de certification</a:t>
            </a:r>
          </a:p>
        </p:txBody>
      </p:sp>
      <p:sp>
        <p:nvSpPr>
          <p:cNvPr id="7" name="Espace réservé du texte 4">
            <a:extLst>
              <a:ext uri="{FF2B5EF4-FFF2-40B4-BE49-F238E27FC236}">
                <a16:creationId xmlns:a16="http://schemas.microsoft.com/office/drawing/2014/main" id="{71769ACC-71D4-621C-16DA-64102DF8E879}"/>
              </a:ext>
            </a:extLst>
          </p:cNvPr>
          <p:cNvSpPr>
            <a:spLocks noGrp="1"/>
          </p:cNvSpPr>
          <p:nvPr>
            <p:ph type="body" idx="13"/>
          </p:nvPr>
        </p:nvSpPr>
        <p:spPr>
          <a:xfrm>
            <a:off x="522605" y="1743393"/>
            <a:ext cx="5678815" cy="4924107"/>
          </a:xfrm>
        </p:spPr>
        <p:txBody>
          <a:bodyPr anchor="ctr">
            <a:normAutofit fontScale="92500" lnSpcReduction="20000"/>
          </a:bodyPr>
          <a:lstStyle/>
          <a:p>
            <a:r>
              <a:rPr lang="fr-FR" sz="3200" dirty="0">
                <a:solidFill>
                  <a:srgbClr val="09253D"/>
                </a:solidFill>
              </a:rPr>
              <a:t>Structure typique</a:t>
            </a:r>
          </a:p>
          <a:p>
            <a:pPr marL="457200" indent="-457200">
              <a:buFont typeface="Arial" panose="020B0604020202020204" pitchFamily="34" charset="0"/>
              <a:buChar char="•"/>
            </a:pPr>
            <a:r>
              <a:rPr lang="fr-FR" sz="2800" dirty="0"/>
              <a:t>La chaine de certification est composée de trois niveaux</a:t>
            </a:r>
          </a:p>
          <a:p>
            <a:pPr marL="914400" lvl="1" indent="-457200">
              <a:buFont typeface="Arial" panose="020B0604020202020204" pitchFamily="34" charset="0"/>
              <a:buChar char="•"/>
            </a:pPr>
            <a:r>
              <a:rPr lang="fr-FR" sz="2400" dirty="0"/>
              <a:t>Root CA</a:t>
            </a:r>
          </a:p>
          <a:p>
            <a:pPr marL="1828800" lvl="3" indent="-457200">
              <a:buFont typeface="Arial" panose="020B0604020202020204" pitchFamily="34" charset="0"/>
              <a:buChar char="•"/>
            </a:pPr>
            <a:r>
              <a:rPr lang="fr-FR" sz="2000" dirty="0"/>
              <a:t>Ancrée dans les OS et les navigateurs</a:t>
            </a:r>
          </a:p>
          <a:p>
            <a:pPr marL="914400" lvl="1" indent="-457200">
              <a:buFont typeface="Arial" panose="020B0604020202020204" pitchFamily="34" charset="0"/>
              <a:buChar char="•"/>
            </a:pPr>
            <a:r>
              <a:rPr lang="fr-FR" sz="2400" dirty="0" err="1"/>
              <a:t>Intermediate</a:t>
            </a:r>
            <a:r>
              <a:rPr lang="fr-FR" sz="2400" dirty="0"/>
              <a:t> CA</a:t>
            </a:r>
          </a:p>
          <a:p>
            <a:pPr marL="1828800" lvl="3" indent="-457200">
              <a:buFont typeface="Arial" panose="020B0604020202020204" pitchFamily="34" charset="0"/>
              <a:buChar char="•"/>
            </a:pPr>
            <a:r>
              <a:rPr lang="fr-FR" sz="2000" dirty="0"/>
              <a:t>Signée par la Root CA</a:t>
            </a:r>
          </a:p>
          <a:p>
            <a:pPr marL="1828800" lvl="3" indent="-457200">
              <a:buFont typeface="Arial" panose="020B0604020202020204" pitchFamily="34" charset="0"/>
              <a:buChar char="•"/>
            </a:pPr>
            <a:r>
              <a:rPr lang="fr-FR" sz="2000" dirty="0"/>
              <a:t>Émet des certificats finaux</a:t>
            </a:r>
          </a:p>
          <a:p>
            <a:pPr marL="914400" lvl="1" indent="-457200">
              <a:buFont typeface="Arial" panose="020B0604020202020204" pitchFamily="34" charset="0"/>
              <a:buChar char="•"/>
            </a:pPr>
            <a:r>
              <a:rPr lang="fr-FR" sz="2400" dirty="0" err="1"/>
              <a:t>Leaf</a:t>
            </a:r>
            <a:r>
              <a:rPr lang="fr-FR" sz="2400" dirty="0"/>
              <a:t>/Server </a:t>
            </a:r>
            <a:r>
              <a:rPr lang="fr-FR" sz="2400" dirty="0" err="1"/>
              <a:t>certificate</a:t>
            </a:r>
            <a:r>
              <a:rPr lang="fr-FR" sz="2400" dirty="0"/>
              <a:t> (certificat final, ex : site web)</a:t>
            </a:r>
          </a:p>
          <a:p>
            <a:pPr marL="1828800" lvl="3" indent="-457200">
              <a:buFont typeface="Arial" panose="020B0604020202020204" pitchFamily="34" charset="0"/>
              <a:buChar char="•"/>
            </a:pPr>
            <a:r>
              <a:rPr lang="fr-FR" sz="2000" dirty="0"/>
              <a:t>Utilisée par le site pour le chiffrement et l’authentification</a:t>
            </a:r>
          </a:p>
          <a:p>
            <a:pPr marL="457200" indent="-457200">
              <a:buFont typeface="Arial" panose="020B0604020202020204" pitchFamily="34" charset="0"/>
              <a:buChar char="•"/>
            </a:pPr>
            <a:r>
              <a:rPr lang="fr-FR" sz="2800" dirty="0"/>
              <a:t>La Root CA signe le certificat de l’</a:t>
            </a:r>
            <a:r>
              <a:rPr lang="fr-FR" sz="2800" dirty="0" err="1"/>
              <a:t>Intermediate</a:t>
            </a:r>
            <a:r>
              <a:rPr lang="fr-FR" sz="2800" dirty="0"/>
              <a:t> CA qui signe à son tour le certificat final (</a:t>
            </a:r>
            <a:r>
              <a:rPr lang="fr-FR" sz="2800" dirty="0" err="1"/>
              <a:t>Leaf</a:t>
            </a:r>
            <a:r>
              <a:rPr lang="fr-FR" sz="2800" dirty="0"/>
              <a:t>/Server)</a:t>
            </a:r>
          </a:p>
        </p:txBody>
      </p:sp>
      <p:graphicFrame>
        <p:nvGraphicFramePr>
          <p:cNvPr id="2" name="Diagramme 1">
            <a:extLst>
              <a:ext uri="{FF2B5EF4-FFF2-40B4-BE49-F238E27FC236}">
                <a16:creationId xmlns:a16="http://schemas.microsoft.com/office/drawing/2014/main" id="{EDFAEE61-D78C-4F22-55AD-47C7B5B6C143}"/>
              </a:ext>
            </a:extLst>
          </p:cNvPr>
          <p:cNvGraphicFramePr/>
          <p:nvPr>
            <p:extLst>
              <p:ext uri="{D42A27DB-BD31-4B8C-83A1-F6EECF244321}">
                <p14:modId xmlns:p14="http://schemas.microsoft.com/office/powerpoint/2010/main" val="2015372081"/>
              </p:ext>
            </p:extLst>
          </p:nvPr>
        </p:nvGraphicFramePr>
        <p:xfrm>
          <a:off x="6730809" y="1567543"/>
          <a:ext cx="5076090" cy="50999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792368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73A6E-8491-7197-0DFE-AC0EA1CE599E}"/>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363B1455-24F4-76B3-3B84-CB2E1CA3002C}"/>
              </a:ext>
            </a:extLst>
          </p:cNvPr>
          <p:cNvSpPr>
            <a:spLocks noGrp="1"/>
          </p:cNvSpPr>
          <p:nvPr>
            <p:ph type="title"/>
          </p:nvPr>
        </p:nvSpPr>
        <p:spPr>
          <a:xfrm>
            <a:off x="320724" y="344557"/>
            <a:ext cx="10356511" cy="496366"/>
          </a:xfrm>
        </p:spPr>
        <p:txBody>
          <a:bodyPr/>
          <a:lstStyle/>
          <a:p>
            <a:r>
              <a:rPr lang="fr-FR" dirty="0"/>
              <a:t>PKI – Public Key Infrastructure</a:t>
            </a:r>
          </a:p>
        </p:txBody>
      </p:sp>
      <p:sp>
        <p:nvSpPr>
          <p:cNvPr id="4" name="Sous-titre 3">
            <a:extLst>
              <a:ext uri="{FF2B5EF4-FFF2-40B4-BE49-F238E27FC236}">
                <a16:creationId xmlns:a16="http://schemas.microsoft.com/office/drawing/2014/main" id="{9AAFB1FF-F2D6-CAEE-0AB1-3DF0CC5ABB48}"/>
              </a:ext>
            </a:extLst>
          </p:cNvPr>
          <p:cNvSpPr>
            <a:spLocks noGrp="1"/>
          </p:cNvSpPr>
          <p:nvPr>
            <p:ph type="subTitle" idx="1"/>
          </p:nvPr>
        </p:nvSpPr>
        <p:spPr>
          <a:xfrm>
            <a:off x="488515" y="861170"/>
            <a:ext cx="8464099" cy="365125"/>
          </a:xfrm>
        </p:spPr>
        <p:txBody>
          <a:bodyPr>
            <a:normAutofit/>
          </a:bodyPr>
          <a:lstStyle/>
          <a:p>
            <a:r>
              <a:rPr lang="fr-FR" dirty="0"/>
              <a:t>Chaîne de certification</a:t>
            </a:r>
          </a:p>
        </p:txBody>
      </p:sp>
      <p:graphicFrame>
        <p:nvGraphicFramePr>
          <p:cNvPr id="8" name="Diagramme 7">
            <a:extLst>
              <a:ext uri="{FF2B5EF4-FFF2-40B4-BE49-F238E27FC236}">
                <a16:creationId xmlns:a16="http://schemas.microsoft.com/office/drawing/2014/main" id="{F776D376-558A-C389-28AD-CEB0F3E01330}"/>
              </a:ext>
            </a:extLst>
          </p:cNvPr>
          <p:cNvGraphicFramePr/>
          <p:nvPr>
            <p:extLst>
              <p:ext uri="{D42A27DB-BD31-4B8C-83A1-F6EECF244321}">
                <p14:modId xmlns:p14="http://schemas.microsoft.com/office/powerpoint/2010/main" val="1483858955"/>
              </p:ext>
            </p:extLst>
          </p:nvPr>
        </p:nvGraphicFramePr>
        <p:xfrm>
          <a:off x="398378" y="1790986"/>
          <a:ext cx="11395243" cy="50670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ZoneTexte 9">
            <a:extLst>
              <a:ext uri="{FF2B5EF4-FFF2-40B4-BE49-F238E27FC236}">
                <a16:creationId xmlns:a16="http://schemas.microsoft.com/office/drawing/2014/main" id="{747300D3-B6DC-5143-71FA-CF67115E906A}"/>
              </a:ext>
            </a:extLst>
          </p:cNvPr>
          <p:cNvSpPr txBox="1"/>
          <p:nvPr/>
        </p:nvSpPr>
        <p:spPr>
          <a:xfrm>
            <a:off x="2451552" y="1472255"/>
            <a:ext cx="6094854" cy="584775"/>
          </a:xfrm>
          <a:prstGeom prst="rect">
            <a:avLst/>
          </a:prstGeom>
          <a:noFill/>
        </p:spPr>
        <p:txBody>
          <a:bodyPr wrap="square">
            <a:spAutoFit/>
          </a:bodyPr>
          <a:lstStyle/>
          <a:p>
            <a:pPr algn="ctr"/>
            <a:r>
              <a:rPr lang="fr-FR" sz="3200" dirty="0">
                <a:solidFill>
                  <a:srgbClr val="09253D"/>
                </a:solidFill>
              </a:rPr>
              <a:t>Rôles</a:t>
            </a:r>
            <a:endParaRPr lang="fr-FR" sz="2400" dirty="0">
              <a:solidFill>
                <a:srgbClr val="09253D"/>
              </a:solidFill>
            </a:endParaRPr>
          </a:p>
        </p:txBody>
      </p:sp>
    </p:spTree>
    <p:extLst>
      <p:ext uri="{BB962C8B-B14F-4D97-AF65-F5344CB8AC3E}">
        <p14:creationId xmlns:p14="http://schemas.microsoft.com/office/powerpoint/2010/main" val="27224939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F2B90-96D2-584F-B257-240C6A55A9C8}"/>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9C332D9A-598B-BDA4-ED56-C966F096417D}"/>
              </a:ext>
            </a:extLst>
          </p:cNvPr>
          <p:cNvSpPr>
            <a:spLocks noGrp="1"/>
          </p:cNvSpPr>
          <p:nvPr>
            <p:ph type="title"/>
          </p:nvPr>
        </p:nvSpPr>
        <p:spPr>
          <a:xfrm>
            <a:off x="320724" y="344557"/>
            <a:ext cx="10356511" cy="496366"/>
          </a:xfrm>
        </p:spPr>
        <p:txBody>
          <a:bodyPr/>
          <a:lstStyle/>
          <a:p>
            <a:r>
              <a:rPr lang="fr-FR" dirty="0"/>
              <a:t>PKI – Public Key Infrastructure</a:t>
            </a:r>
          </a:p>
        </p:txBody>
      </p:sp>
      <p:sp>
        <p:nvSpPr>
          <p:cNvPr id="4" name="Sous-titre 3">
            <a:extLst>
              <a:ext uri="{FF2B5EF4-FFF2-40B4-BE49-F238E27FC236}">
                <a16:creationId xmlns:a16="http://schemas.microsoft.com/office/drawing/2014/main" id="{C420E7B7-C111-C104-370B-5372A670051B}"/>
              </a:ext>
            </a:extLst>
          </p:cNvPr>
          <p:cNvSpPr>
            <a:spLocks noGrp="1"/>
          </p:cNvSpPr>
          <p:nvPr>
            <p:ph type="subTitle" idx="1"/>
          </p:nvPr>
        </p:nvSpPr>
        <p:spPr>
          <a:xfrm>
            <a:off x="488515" y="861170"/>
            <a:ext cx="8464099" cy="365125"/>
          </a:xfrm>
        </p:spPr>
        <p:txBody>
          <a:bodyPr>
            <a:normAutofit/>
          </a:bodyPr>
          <a:lstStyle/>
          <a:p>
            <a:r>
              <a:rPr lang="fr-FR" dirty="0"/>
              <a:t>Chaîne de certification</a:t>
            </a:r>
          </a:p>
        </p:txBody>
      </p:sp>
      <p:sp>
        <p:nvSpPr>
          <p:cNvPr id="7" name="Espace réservé du texte 4">
            <a:extLst>
              <a:ext uri="{FF2B5EF4-FFF2-40B4-BE49-F238E27FC236}">
                <a16:creationId xmlns:a16="http://schemas.microsoft.com/office/drawing/2014/main" id="{1683CCFD-224B-1FBF-EEB2-92528919D289}"/>
              </a:ext>
            </a:extLst>
          </p:cNvPr>
          <p:cNvSpPr>
            <a:spLocks noGrp="1"/>
          </p:cNvSpPr>
          <p:nvPr>
            <p:ph type="body" idx="13"/>
          </p:nvPr>
        </p:nvSpPr>
        <p:spPr>
          <a:xfrm>
            <a:off x="522605" y="1743393"/>
            <a:ext cx="11123963" cy="4924107"/>
          </a:xfrm>
        </p:spPr>
        <p:txBody>
          <a:bodyPr anchor="ctr">
            <a:normAutofit/>
          </a:bodyPr>
          <a:lstStyle/>
          <a:p>
            <a:r>
              <a:rPr lang="fr-FR" sz="3200" dirty="0">
                <a:solidFill>
                  <a:srgbClr val="09253D"/>
                </a:solidFill>
              </a:rPr>
              <a:t>Validation de la chaîne (navigateur ↔ serveur)</a:t>
            </a:r>
          </a:p>
          <a:p>
            <a:pPr marL="514350" indent="-514350">
              <a:buFont typeface="+mj-lt"/>
              <a:buAutoNum type="arabicPeriod"/>
            </a:pPr>
            <a:r>
              <a:rPr lang="fr-FR" sz="2800" dirty="0"/>
              <a:t>Le serveur envoie son certificat + les intermédiaires</a:t>
            </a:r>
          </a:p>
          <a:p>
            <a:pPr marL="514350" indent="-514350">
              <a:buFont typeface="+mj-lt"/>
              <a:buAutoNum type="arabicPeriod"/>
            </a:pPr>
            <a:r>
              <a:rPr lang="fr-FR" sz="2800" dirty="0"/>
              <a:t>Le navigateur vérifie</a:t>
            </a:r>
          </a:p>
          <a:p>
            <a:pPr marL="971550" lvl="1" indent="-514350">
              <a:buFont typeface="Arial" panose="020B0604020202020204" pitchFamily="34" charset="0"/>
              <a:buChar char="•"/>
            </a:pPr>
            <a:r>
              <a:rPr lang="fr-FR" sz="2400" dirty="0"/>
              <a:t>Que chaque émission correspond à la signature de l'autorité supérieure</a:t>
            </a:r>
          </a:p>
          <a:p>
            <a:pPr marL="971550" lvl="1" indent="-514350">
              <a:buFont typeface="Arial" panose="020B0604020202020204" pitchFamily="34" charset="0"/>
              <a:buChar char="•"/>
            </a:pPr>
            <a:r>
              <a:rPr lang="fr-FR" sz="2400" dirty="0"/>
              <a:t>Que la chaîne remonte bien à un certificat racine présent et fiable dans le système</a:t>
            </a:r>
          </a:p>
          <a:p>
            <a:pPr marL="514350" indent="-514350">
              <a:buFont typeface="+mj-lt"/>
              <a:buAutoNum type="arabicPeriod"/>
            </a:pPr>
            <a:r>
              <a:rPr lang="fr-FR" sz="2800" dirty="0"/>
              <a:t>En cas de rupture (certificat expiré, signature invalide, absence d’intermédiaire…) : le client affiche une alerte de sécurité</a:t>
            </a:r>
          </a:p>
        </p:txBody>
      </p:sp>
    </p:spTree>
    <p:extLst>
      <p:ext uri="{BB962C8B-B14F-4D97-AF65-F5344CB8AC3E}">
        <p14:creationId xmlns:p14="http://schemas.microsoft.com/office/powerpoint/2010/main" val="210067069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2B5DE-BDAC-C721-02E1-B26717A19EB0}"/>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6AE6327D-7CC3-29CC-CCC8-D1A9F442D2D7}"/>
              </a:ext>
            </a:extLst>
          </p:cNvPr>
          <p:cNvSpPr>
            <a:spLocks noGrp="1"/>
          </p:cNvSpPr>
          <p:nvPr>
            <p:ph type="title"/>
          </p:nvPr>
        </p:nvSpPr>
        <p:spPr>
          <a:xfrm>
            <a:off x="320724" y="344557"/>
            <a:ext cx="10356511" cy="496366"/>
          </a:xfrm>
        </p:spPr>
        <p:txBody>
          <a:bodyPr/>
          <a:lstStyle/>
          <a:p>
            <a:r>
              <a:rPr lang="fr-FR" dirty="0"/>
              <a:t>PKI – Public Key Infrastructure</a:t>
            </a:r>
          </a:p>
        </p:txBody>
      </p:sp>
      <p:sp>
        <p:nvSpPr>
          <p:cNvPr id="4" name="Sous-titre 3">
            <a:extLst>
              <a:ext uri="{FF2B5EF4-FFF2-40B4-BE49-F238E27FC236}">
                <a16:creationId xmlns:a16="http://schemas.microsoft.com/office/drawing/2014/main" id="{D6340164-45B5-AC38-8B0C-6FA949FDAAC5}"/>
              </a:ext>
            </a:extLst>
          </p:cNvPr>
          <p:cNvSpPr>
            <a:spLocks noGrp="1"/>
          </p:cNvSpPr>
          <p:nvPr>
            <p:ph type="subTitle" idx="1"/>
          </p:nvPr>
        </p:nvSpPr>
        <p:spPr>
          <a:xfrm>
            <a:off x="488515" y="861170"/>
            <a:ext cx="8464099" cy="365125"/>
          </a:xfrm>
        </p:spPr>
        <p:txBody>
          <a:bodyPr>
            <a:normAutofit/>
          </a:bodyPr>
          <a:lstStyle/>
          <a:p>
            <a:r>
              <a:rPr lang="fr-FR" dirty="0"/>
              <a:t>Chaîne de certification</a:t>
            </a:r>
          </a:p>
        </p:txBody>
      </p:sp>
      <p:pic>
        <p:nvPicPr>
          <p:cNvPr id="7170" name="Picture 2">
            <a:extLst>
              <a:ext uri="{FF2B5EF4-FFF2-40B4-BE49-F238E27FC236}">
                <a16:creationId xmlns:a16="http://schemas.microsoft.com/office/drawing/2014/main" id="{8FEC3D50-8F54-88A8-77E8-4C27D69EE1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2450" y="1510854"/>
            <a:ext cx="7147099" cy="52887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01660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46634D51-61AC-6F9B-648D-4C2538E85FD5}"/>
              </a:ext>
            </a:extLst>
          </p:cNvPr>
          <p:cNvSpPr>
            <a:spLocks noGrp="1"/>
          </p:cNvSpPr>
          <p:nvPr>
            <p:ph type="ctrTitle"/>
          </p:nvPr>
        </p:nvSpPr>
        <p:spPr>
          <a:xfrm>
            <a:off x="0" y="2109093"/>
            <a:ext cx="12192000" cy="1400870"/>
          </a:xfrm>
        </p:spPr>
        <p:txBody>
          <a:bodyPr anchor="ctr" anchorCtr="0">
            <a:normAutofit fontScale="90000"/>
          </a:bodyPr>
          <a:lstStyle/>
          <a:p>
            <a:r>
              <a:rPr lang="fr-FR" sz="9600" dirty="0"/>
              <a:t>Questions ?</a:t>
            </a:r>
          </a:p>
        </p:txBody>
      </p:sp>
      <p:sp>
        <p:nvSpPr>
          <p:cNvPr id="2" name="Sous-titre 1">
            <a:extLst>
              <a:ext uri="{FF2B5EF4-FFF2-40B4-BE49-F238E27FC236}">
                <a16:creationId xmlns:a16="http://schemas.microsoft.com/office/drawing/2014/main" id="{971E9DF5-EFAE-38F1-2220-F6504836FE18}"/>
              </a:ext>
            </a:extLst>
          </p:cNvPr>
          <p:cNvSpPr>
            <a:spLocks noGrp="1"/>
          </p:cNvSpPr>
          <p:nvPr>
            <p:ph type="subTitle" idx="1"/>
          </p:nvPr>
        </p:nvSpPr>
        <p:spPr/>
        <p:txBody>
          <a:bodyPr/>
          <a:lstStyle/>
          <a:p>
            <a:r>
              <a:rPr lang="fr-FR" dirty="0"/>
              <a:t>À vous de jouer !</a:t>
            </a:r>
          </a:p>
        </p:txBody>
      </p:sp>
    </p:spTree>
    <p:extLst>
      <p:ext uri="{BB962C8B-B14F-4D97-AF65-F5344CB8AC3E}">
        <p14:creationId xmlns:p14="http://schemas.microsoft.com/office/powerpoint/2010/main" val="40283646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FF436-79F6-505E-5806-B81A51718407}"/>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90ABBB31-D737-3C19-2FB8-B4D362D73A3B}"/>
              </a:ext>
            </a:extLst>
          </p:cNvPr>
          <p:cNvSpPr>
            <a:spLocks noGrp="1"/>
          </p:cNvSpPr>
          <p:nvPr>
            <p:ph type="ctrTitle"/>
          </p:nvPr>
        </p:nvSpPr>
        <p:spPr/>
        <p:txBody>
          <a:bodyPr anchor="ctr" anchorCtr="0">
            <a:noAutofit/>
          </a:bodyPr>
          <a:lstStyle/>
          <a:p>
            <a:r>
              <a:rPr lang="fr-FR" dirty="0"/>
              <a:t>Vidéos</a:t>
            </a:r>
            <a:endParaRPr lang="fr-FR" sz="4800" dirty="0"/>
          </a:p>
        </p:txBody>
      </p:sp>
      <p:sp>
        <p:nvSpPr>
          <p:cNvPr id="2" name="Sous-titre 1">
            <a:extLst>
              <a:ext uri="{FF2B5EF4-FFF2-40B4-BE49-F238E27FC236}">
                <a16:creationId xmlns:a16="http://schemas.microsoft.com/office/drawing/2014/main" id="{F7307626-B6C7-500A-A93D-2FE303859A4D}"/>
              </a:ext>
            </a:extLst>
          </p:cNvPr>
          <p:cNvSpPr>
            <a:spLocks noGrp="1"/>
          </p:cNvSpPr>
          <p:nvPr>
            <p:ph type="subTitle" idx="1"/>
          </p:nvPr>
        </p:nvSpPr>
        <p:spPr/>
        <p:txBody>
          <a:bodyPr/>
          <a:lstStyle/>
          <a:p>
            <a:r>
              <a:rPr lang="fr-FR" dirty="0" err="1"/>
              <a:t>HeartBleed</a:t>
            </a:r>
            <a:endParaRPr lang="fr-FR" dirty="0"/>
          </a:p>
        </p:txBody>
      </p:sp>
      <p:pic>
        <p:nvPicPr>
          <p:cNvPr id="4" name="Média en ligne 3" title="Heartbleed : que faire face à la faille de sécurité qui fait mal au coeur ?">
            <a:hlinkClick r:id="" action="ppaction://media"/>
            <a:extLst>
              <a:ext uri="{FF2B5EF4-FFF2-40B4-BE49-F238E27FC236}">
                <a16:creationId xmlns:a16="http://schemas.microsoft.com/office/drawing/2014/main" id="{E99AE547-2E0C-E1CE-21B3-6BAABD9C25DA}"/>
              </a:ext>
            </a:extLst>
          </p:cNvPr>
          <p:cNvPicPr>
            <a:picLocks noRot="1" noChangeAspect="1"/>
          </p:cNvPicPr>
          <p:nvPr>
            <a:videoFile r:link="rId1"/>
          </p:nvPr>
        </p:nvPicPr>
        <p:blipFill>
          <a:blip r:embed="rId4"/>
          <a:stretch>
            <a:fillRect/>
          </a:stretch>
        </p:blipFill>
        <p:spPr>
          <a:xfrm>
            <a:off x="137110" y="122034"/>
            <a:ext cx="11917779" cy="6613931"/>
          </a:xfrm>
          <a:prstGeom prst="rect">
            <a:avLst/>
          </a:prstGeom>
        </p:spPr>
      </p:pic>
    </p:spTree>
    <p:extLst>
      <p:ext uri="{BB962C8B-B14F-4D97-AF65-F5344CB8AC3E}">
        <p14:creationId xmlns:p14="http://schemas.microsoft.com/office/powerpoint/2010/main" val="2517121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FF436-79F6-505E-5806-B81A51718407}"/>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90ABBB31-D737-3C19-2FB8-B4D362D73A3B}"/>
              </a:ext>
            </a:extLst>
          </p:cNvPr>
          <p:cNvSpPr>
            <a:spLocks noGrp="1"/>
          </p:cNvSpPr>
          <p:nvPr>
            <p:ph type="ctrTitle"/>
          </p:nvPr>
        </p:nvSpPr>
        <p:spPr/>
        <p:txBody>
          <a:bodyPr anchor="ctr" anchorCtr="0">
            <a:noAutofit/>
          </a:bodyPr>
          <a:lstStyle/>
          <a:p>
            <a:r>
              <a:rPr lang="fr-FR" dirty="0"/>
              <a:t>Vidéos</a:t>
            </a:r>
            <a:endParaRPr lang="fr-FR" sz="4800" dirty="0"/>
          </a:p>
        </p:txBody>
      </p:sp>
      <p:sp>
        <p:nvSpPr>
          <p:cNvPr id="2" name="Sous-titre 1">
            <a:extLst>
              <a:ext uri="{FF2B5EF4-FFF2-40B4-BE49-F238E27FC236}">
                <a16:creationId xmlns:a16="http://schemas.microsoft.com/office/drawing/2014/main" id="{F7307626-B6C7-500A-A93D-2FE303859A4D}"/>
              </a:ext>
            </a:extLst>
          </p:cNvPr>
          <p:cNvSpPr>
            <a:spLocks noGrp="1"/>
          </p:cNvSpPr>
          <p:nvPr>
            <p:ph type="subTitle" idx="1"/>
          </p:nvPr>
        </p:nvSpPr>
        <p:spPr/>
        <p:txBody>
          <a:bodyPr/>
          <a:lstStyle/>
          <a:p>
            <a:r>
              <a:rPr lang="fr-FR" dirty="0" err="1"/>
              <a:t>DigiNotar</a:t>
            </a:r>
            <a:endParaRPr lang="fr-FR" dirty="0"/>
          </a:p>
        </p:txBody>
      </p:sp>
      <p:pic>
        <p:nvPicPr>
          <p:cNvPr id="5" name="Média en ligne 4" title="How The Hack of DigiNotar Changed The Internet’s Infrastructure">
            <a:hlinkClick r:id="" action="ppaction://media"/>
            <a:extLst>
              <a:ext uri="{FF2B5EF4-FFF2-40B4-BE49-F238E27FC236}">
                <a16:creationId xmlns:a16="http://schemas.microsoft.com/office/drawing/2014/main" id="{2070CF14-2990-D2EA-AADE-5EA46029539F}"/>
              </a:ext>
            </a:extLst>
          </p:cNvPr>
          <p:cNvPicPr>
            <a:picLocks noRot="1" noChangeAspect="1"/>
          </p:cNvPicPr>
          <p:nvPr>
            <a:videoFile r:link="rId1"/>
          </p:nvPr>
        </p:nvPicPr>
        <p:blipFill>
          <a:blip r:embed="rId4"/>
          <a:stretch>
            <a:fillRect/>
          </a:stretch>
        </p:blipFill>
        <p:spPr>
          <a:xfrm>
            <a:off x="177057" y="169087"/>
            <a:ext cx="11837885" cy="6519825"/>
          </a:xfrm>
          <a:prstGeom prst="rect">
            <a:avLst/>
          </a:prstGeom>
        </p:spPr>
      </p:pic>
    </p:spTree>
    <p:extLst>
      <p:ext uri="{BB962C8B-B14F-4D97-AF65-F5344CB8AC3E}">
        <p14:creationId xmlns:p14="http://schemas.microsoft.com/office/powerpoint/2010/main" val="1626624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t">
        <a:noAutofit/>
      </a:bodyPr>
      <a:lstStyle>
        <a:defPPr algn="l">
          <a:defRPr sz="2400" dirty="0" smtClean="0">
            <a:solidFill>
              <a:schemeClr val="bg1"/>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2588</TotalTime>
  <Words>5745</Words>
  <Application>Microsoft Office PowerPoint</Application>
  <PresentationFormat>Grand écran</PresentationFormat>
  <Paragraphs>825</Paragraphs>
  <Slides>73</Slides>
  <Notes>70</Notes>
  <HiddenSlides>0</HiddenSlides>
  <MMClips>2</MMClips>
  <ScaleCrop>false</ScaleCrop>
  <HeadingPairs>
    <vt:vector size="8" baseType="variant">
      <vt:variant>
        <vt:lpstr>Polices utilisées</vt:lpstr>
      </vt:variant>
      <vt:variant>
        <vt:i4>4</vt:i4>
      </vt:variant>
      <vt:variant>
        <vt:lpstr>Thème</vt:lpstr>
      </vt:variant>
      <vt:variant>
        <vt:i4>1</vt:i4>
      </vt:variant>
      <vt:variant>
        <vt:lpstr>Serveurs OLE incorporés</vt:lpstr>
      </vt:variant>
      <vt:variant>
        <vt:i4>0</vt:i4>
      </vt:variant>
      <vt:variant>
        <vt:lpstr>Titres des diapositives</vt:lpstr>
      </vt:variant>
      <vt:variant>
        <vt:i4>73</vt:i4>
      </vt:variant>
    </vt:vector>
  </HeadingPairs>
  <TitlesOfParts>
    <vt:vector size="78" baseType="lpstr">
      <vt:lpstr>Arial</vt:lpstr>
      <vt:lpstr>Calibri</vt:lpstr>
      <vt:lpstr>Calibri Light</vt:lpstr>
      <vt:lpstr>Consolas</vt:lpstr>
      <vt:lpstr>Thème Office</vt:lpstr>
      <vt:lpstr>CRyptographie</vt:lpstr>
      <vt:lpstr>cryptographie, Chiffrement, Hachage</vt:lpstr>
      <vt:lpstr>cryptographie, Chiffrement, Hachage</vt:lpstr>
      <vt:lpstr>cryptographie, Chiffrement, Hachage</vt:lpstr>
      <vt:lpstr>cryptographie, Chiffrement, Hachage</vt:lpstr>
      <vt:lpstr>cryptographie, Chiffrement, Hachage</vt:lpstr>
      <vt:lpstr>cryptographie, Chiffrement, Hachage</vt:lpstr>
      <vt:lpstr>cryptographie, Chiffrement, Hachage</vt:lpstr>
      <vt:lpstr>cryptographie, Chiffrement, Hachage</vt:lpstr>
      <vt:lpstr>cryptographie, Chiffrement, Hachage</vt:lpstr>
      <vt:lpstr>cryptographie, Chiffrement, Hachage</vt:lpstr>
      <vt:lpstr>Présentation PowerPoint</vt:lpstr>
      <vt:lpstr>SIGNATURE électronique</vt:lpstr>
      <vt:lpstr>Signature électronique</vt:lpstr>
      <vt:lpstr>Signature électronique</vt:lpstr>
      <vt:lpstr>Signature électronique</vt:lpstr>
      <vt:lpstr>Signature électronique</vt:lpstr>
      <vt:lpstr>Signature électronique</vt:lpstr>
      <vt:lpstr>Signature électronique</vt:lpstr>
      <vt:lpstr>Certificats numériques</vt:lpstr>
      <vt:lpstr>Certificats numériques</vt:lpstr>
      <vt:lpstr>Certificats numériques</vt:lpstr>
      <vt:lpstr>Certificats numériques</vt:lpstr>
      <vt:lpstr>Certificats numériques</vt:lpstr>
      <vt:lpstr>Certificats numériques</vt:lpstr>
      <vt:lpstr>Certificats numériques</vt:lpstr>
      <vt:lpstr>Certificats numériques</vt:lpstr>
      <vt:lpstr>Certificats numériques</vt:lpstr>
      <vt:lpstr>Certificats</vt:lpstr>
      <vt:lpstr>Certificats numériques</vt:lpstr>
      <vt:lpstr>Certificats numériques</vt:lpstr>
      <vt:lpstr>Certificats numériques</vt:lpstr>
      <vt:lpstr>Certificats numériques</vt:lpstr>
      <vt:lpstr>Certificats numériques</vt:lpstr>
      <vt:lpstr>Certificats numériques</vt:lpstr>
      <vt:lpstr>Certificats numériques</vt:lpstr>
      <vt:lpstr>Certificats numériques</vt:lpstr>
      <vt:lpstr>PKI - Public Key Infrastructure</vt:lpstr>
      <vt:lpstr>PKI – Public Key Infrastructure</vt:lpstr>
      <vt:lpstr>PKI – Public Key Infrastructure</vt:lpstr>
      <vt:lpstr>PKI – Public Key Infrastructure</vt:lpstr>
      <vt:lpstr>PKI – Public Key Infrastructure</vt:lpstr>
      <vt:lpstr>PKI – Public Key Infrastructure</vt:lpstr>
      <vt:lpstr>PKI</vt:lpstr>
      <vt:lpstr>PKI – Public Key Infrastructure</vt:lpstr>
      <vt:lpstr>PKI – Public Key Infrastructure</vt:lpstr>
      <vt:lpstr>PKI – Public Key Infrastructure</vt:lpstr>
      <vt:lpstr>PKI – Public Key Infrastructure</vt:lpstr>
      <vt:lpstr>PKI – Public Key Infrastructure</vt:lpstr>
      <vt:lpstr>PKI</vt:lpstr>
      <vt:lpstr>PKI – Public Key Infrastructure</vt:lpstr>
      <vt:lpstr>PKI – Public Key Infrastructure</vt:lpstr>
      <vt:lpstr>PKI – Public Key Infrastructure</vt:lpstr>
      <vt:lpstr>PKI</vt:lpstr>
      <vt:lpstr>PKI – Public Key Infrastructure</vt:lpstr>
      <vt:lpstr>PKI – Public Key Infrastructure</vt:lpstr>
      <vt:lpstr>PKI – Public Key Infrastructure</vt:lpstr>
      <vt:lpstr>PKI – Public Key Infrastructure</vt:lpstr>
      <vt:lpstr>PKI – Public Key Infrastructure</vt:lpstr>
      <vt:lpstr>PKI – Public Key Infrastructure</vt:lpstr>
      <vt:lpstr>PKI – Public Key Infrastructure</vt:lpstr>
      <vt:lpstr>PKI – Public Key Infrastructure</vt:lpstr>
      <vt:lpstr>PKI – Public Key Infrastructure</vt:lpstr>
      <vt:lpstr>PKI</vt:lpstr>
      <vt:lpstr>PKI – Public Key Infrastructure</vt:lpstr>
      <vt:lpstr>PKI – Public Key Infrastructure</vt:lpstr>
      <vt:lpstr>PKI – Public Key Infrastructure</vt:lpstr>
      <vt:lpstr>PKI – Public Key Infrastructure</vt:lpstr>
      <vt:lpstr>PKI – Public Key Infrastructure</vt:lpstr>
      <vt:lpstr>PKI – Public Key Infrastructure</vt:lpstr>
      <vt:lpstr>Questions ?</vt:lpstr>
      <vt:lpstr>Vidéos</vt:lpstr>
      <vt:lpstr>Vidéos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Titre</dc:title>
  <dc:creator>Yanis AFENDOU</dc:creator>
  <cp:lastModifiedBy>Yanis AFENDOU</cp:lastModifiedBy>
  <cp:revision>1</cp:revision>
  <dcterms:created xsi:type="dcterms:W3CDTF">2022-10-10T11:19:13Z</dcterms:created>
  <dcterms:modified xsi:type="dcterms:W3CDTF">2026-03-03T10:49:38Z</dcterms:modified>
</cp:coreProperties>
</file>